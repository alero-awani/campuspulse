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authentication, we use Amazon Cognito. Cognito manages the user accounts and passwords, so our backend never handles passwords directly. We deliberately turned off public sign-up: since this is an internal university tool, accounts should belong to real students and staff, and only admins can create them and assign their roles. Every login token also expires after one hour. We created three user roles as Cognito groups: student, staff and admin. These roles control what each user is allowed to access. When a user clicks Sign in, they are redirected to Cognito. Cognito checks the email and password and sends the user back with a one-time code. Our dashboard exchanges that code for a token, which identifies the user and their role and is then used for secure API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400" b="1" dirty="0">
                <a:solidFill>
                  <a:srgbClr val="020618"/>
                </a:solidFill>
                <a:latin typeface="Space Grotesk" pitchFamily="34" charset="0"/>
                <a:ea typeface="Space Grotesk" pitchFamily="34" charset="-122"/>
                <a:cs typeface="Space Grotesk" pitchFamily="34" charset="-120"/>
              </a:rPr>
              <a:t>Secure sign-in with Cognito</a:t>
            </a:r>
            <a:endParaRPr lang="en-US" sz="34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2748E"/>
                </a:solidFill>
                <a:latin typeface="DM Sans" pitchFamily="34" charset="0"/>
                <a:ea typeface="DM Sans" pitchFamily="34" charset="-122"/>
                <a:cs typeface="DM Sans" pitchFamily="34" charset="-120"/>
              </a:rPr>
              <a:t>Amazon Cognito manages accounts and passwords, so our backend never handles a password.</a:t>
            </a:r>
            <a:endParaRPr lang="en-US" sz="1400" dirty="0"/>
          </a:p>
        </p:txBody>
      </p:sp>
      <p:sp>
        <p:nvSpPr>
          <p:cNvPr id="4" name="Text 2"/>
          <p:cNvSpPr txBox="1"/>
          <p:nvPr/>
        </p:nvSpPr>
        <p:spPr>
          <a:xfrm>
            <a:off x="548640" y="1572768"/>
            <a:ext cx="5486400" cy="274320"/>
          </a:xfrm>
          <a:prstGeom prst="rect">
            <a:avLst/>
          </a:prstGeom>
          <a:noFill/>
          <a:ln/>
        </p:spPr>
        <p:txBody>
          <a:bodyPr wrap="square" lIns="0" tIns="0" rIns="0" bIns="0" rtlCol="0" anchor="ctr"/>
          <a:lstStyle/>
          <a:p>
            <a:pPr indent="0" marL="0">
              <a:buNone/>
            </a:pPr>
            <a:r>
              <a:rPr lang="en-US" sz="1100" b="1" spc="300" kern="0" dirty="0">
                <a:solidFill>
                  <a:srgbClr val="62748E"/>
                </a:solidFill>
                <a:latin typeface="DM Sans" pitchFamily="34" charset="0"/>
                <a:ea typeface="DM Sans" pitchFamily="34" charset="-122"/>
                <a:cs typeface="DM Sans" pitchFamily="34" charset="-120"/>
              </a:rPr>
              <a:t>HOW A USER SIGNS IN</a:t>
            </a:r>
            <a:endParaRPr lang="en-US" sz="1100" dirty="0"/>
          </a:p>
        </p:txBody>
      </p:sp>
      <p:sp>
        <p:nvSpPr>
          <p:cNvPr id="5" name="Shape 3"/>
          <p:cNvSpPr/>
          <p:nvPr/>
        </p:nvSpPr>
        <p:spPr>
          <a:xfrm>
            <a:off x="548640" y="1920240"/>
            <a:ext cx="2011680" cy="1874520"/>
          </a:xfrm>
          <a:prstGeom prst="roundRect">
            <a:avLst>
              <a:gd name="adj" fmla="val 7805"/>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6" name="Shape 4"/>
          <p:cNvSpPr/>
          <p:nvPr/>
        </p:nvSpPr>
        <p:spPr>
          <a:xfrm>
            <a:off x="749808" y="2121408"/>
            <a:ext cx="512064" cy="512064"/>
          </a:xfrm>
          <a:prstGeom prst="ellipse">
            <a:avLst/>
          </a:prstGeom>
          <a:solidFill>
            <a:srgbClr val="0F172B"/>
          </a:solidFill>
          <a:ln w="12700">
            <a:solidFill>
              <a:srgbClr val="0F172B"/>
            </a:solidFill>
            <a:prstDash val="solid"/>
          </a:ln>
        </p:spPr>
      </p:sp>
      <p:pic>
        <p:nvPicPr>
          <p:cNvPr id="7" name="Image 0" descr="preencoded.png">    </p:cNvPr>
          <p:cNvPicPr>
            <a:picLocks noChangeAspect="1"/>
          </p:cNvPicPr>
          <p:nvPr/>
        </p:nvPicPr>
        <p:blipFill>
          <a:blip r:embed="rId1"/>
          <a:stretch>
            <a:fillRect/>
          </a:stretch>
        </p:blipFill>
        <p:spPr>
          <a:xfrm>
            <a:off x="877824" y="2249424"/>
            <a:ext cx="256032" cy="256032"/>
          </a:xfrm>
          <a:prstGeom prst="rect">
            <a:avLst/>
          </a:prstGeom>
        </p:spPr>
      </p:pic>
      <p:sp>
        <p:nvSpPr>
          <p:cNvPr id="8" name="Text 5"/>
          <p:cNvSpPr txBox="1"/>
          <p:nvPr/>
        </p:nvSpPr>
        <p:spPr>
          <a:xfrm>
            <a:off x="2057400" y="2121408"/>
            <a:ext cx="320040" cy="320040"/>
          </a:xfrm>
          <a:prstGeom prst="rect">
            <a:avLst/>
          </a:prstGeom>
          <a:noFill/>
          <a:ln/>
        </p:spPr>
        <p:txBody>
          <a:bodyPr wrap="square" lIns="0" tIns="0" rIns="0" bIns="0" rtlCol="0" anchor="ctr"/>
          <a:lstStyle/>
          <a:p>
            <a:pPr algn="r" indent="0" marL="0">
              <a:buNone/>
            </a:pPr>
            <a:r>
              <a:rPr lang="en-US" sz="1400" b="1" dirty="0">
                <a:solidFill>
                  <a:srgbClr val="E2E8F0"/>
                </a:solidFill>
                <a:latin typeface="Space Grotesk" pitchFamily="34" charset="0"/>
                <a:ea typeface="Space Grotesk" pitchFamily="34" charset="-122"/>
                <a:cs typeface="Space Grotesk" pitchFamily="34" charset="-120"/>
              </a:rPr>
              <a:t>1</a:t>
            </a:r>
            <a:endParaRPr lang="en-US" sz="1400" dirty="0"/>
          </a:p>
        </p:txBody>
      </p:sp>
      <p:sp>
        <p:nvSpPr>
          <p:cNvPr id="9" name="Text 6"/>
          <p:cNvSpPr txBox="1"/>
          <p:nvPr/>
        </p:nvSpPr>
        <p:spPr>
          <a:xfrm>
            <a:off x="749808" y="2743200"/>
            <a:ext cx="1645920" cy="329184"/>
          </a:xfrm>
          <a:prstGeom prst="rect">
            <a:avLst/>
          </a:prstGeom>
          <a:noFill/>
          <a:ln/>
        </p:spPr>
        <p:txBody>
          <a:bodyPr wrap="square" lIns="0" tIns="0" rIns="0" bIns="0" rtlCol="0" anchor="ctr"/>
          <a:lstStyle/>
          <a:p>
            <a:pPr indent="0" marL="0">
              <a:buNone/>
            </a:pPr>
            <a:r>
              <a:rPr lang="en-US" sz="1500" b="1" dirty="0">
                <a:solidFill>
                  <a:srgbClr val="020618"/>
                </a:solidFill>
                <a:latin typeface="Space Grotesk" pitchFamily="34" charset="0"/>
                <a:ea typeface="Space Grotesk" pitchFamily="34" charset="-122"/>
                <a:cs typeface="Space Grotesk" pitchFamily="34" charset="-120"/>
              </a:rPr>
              <a:t>Click Sign in</a:t>
            </a:r>
            <a:endParaRPr lang="en-US" sz="1500" dirty="0"/>
          </a:p>
        </p:txBody>
      </p:sp>
      <p:sp>
        <p:nvSpPr>
          <p:cNvPr id="10" name="Text 7"/>
          <p:cNvSpPr txBox="1"/>
          <p:nvPr/>
        </p:nvSpPr>
        <p:spPr>
          <a:xfrm>
            <a:off x="749808" y="3090672"/>
            <a:ext cx="1645920" cy="640080"/>
          </a:xfrm>
          <a:prstGeom prst="rect">
            <a:avLst/>
          </a:prstGeom>
          <a:noFill/>
          <a:ln/>
        </p:spPr>
        <p:txBody>
          <a:bodyPr wrap="square" lIns="0" tIns="0" rIns="0" bIns="0" rtlCol="0" anchor="t"/>
          <a:lstStyle/>
          <a:p>
            <a:pPr indent="0" marL="0">
              <a:buNone/>
            </a:pPr>
            <a:r>
              <a:rPr lang="en-US" sz="1150" dirty="0">
                <a:solidFill>
                  <a:srgbClr val="62748E"/>
                </a:solidFill>
                <a:latin typeface="DM Sans" pitchFamily="34" charset="0"/>
                <a:ea typeface="DM Sans" pitchFamily="34" charset="-122"/>
                <a:cs typeface="DM Sans" pitchFamily="34" charset="-120"/>
              </a:rPr>
              <a:t>On the CampusPulse dashboard</a:t>
            </a:r>
            <a:endParaRPr lang="en-US" sz="1150" dirty="0"/>
          </a:p>
        </p:txBody>
      </p:sp>
      <p:sp>
        <p:nvSpPr>
          <p:cNvPr id="11" name="Shape 8"/>
          <p:cNvSpPr/>
          <p:nvPr/>
        </p:nvSpPr>
        <p:spPr>
          <a:xfrm>
            <a:off x="2615184" y="2857500"/>
            <a:ext cx="148590" cy="0"/>
          </a:xfrm>
          <a:prstGeom prst="line">
            <a:avLst/>
          </a:prstGeom>
          <a:noFill/>
          <a:ln w="22225">
            <a:solidFill>
              <a:srgbClr val="62748E"/>
            </a:solidFill>
            <a:prstDash val="solid"/>
            <a:tailEnd type="triangle"/>
          </a:ln>
        </p:spPr>
      </p:sp>
      <p:sp>
        <p:nvSpPr>
          <p:cNvPr id="12" name="Shape 9"/>
          <p:cNvSpPr/>
          <p:nvPr/>
        </p:nvSpPr>
        <p:spPr>
          <a:xfrm>
            <a:off x="2818638" y="1920240"/>
            <a:ext cx="2011680" cy="1874520"/>
          </a:xfrm>
          <a:prstGeom prst="roundRect">
            <a:avLst>
              <a:gd name="adj" fmla="val 7805"/>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13" name="Shape 10"/>
          <p:cNvSpPr/>
          <p:nvPr/>
        </p:nvSpPr>
        <p:spPr>
          <a:xfrm>
            <a:off x="3019806" y="2121408"/>
            <a:ext cx="512064" cy="512064"/>
          </a:xfrm>
          <a:prstGeom prst="ellipse">
            <a:avLst/>
          </a:prstGeom>
          <a:solidFill>
            <a:srgbClr val="F54900"/>
          </a:solidFill>
          <a:ln w="12700">
            <a:solidFill>
              <a:srgbClr val="F54900"/>
            </a:solidFill>
            <a:prstDash val="solid"/>
          </a:ln>
        </p:spPr>
      </p:sp>
      <p:pic>
        <p:nvPicPr>
          <p:cNvPr id="14" name="Image 1" descr="preencoded.png">    </p:cNvPr>
          <p:cNvPicPr>
            <a:picLocks noChangeAspect="1"/>
          </p:cNvPicPr>
          <p:nvPr/>
        </p:nvPicPr>
        <p:blipFill>
          <a:blip r:embed="rId2"/>
          <a:stretch>
            <a:fillRect/>
          </a:stretch>
        </p:blipFill>
        <p:spPr>
          <a:xfrm>
            <a:off x="3147822" y="2249424"/>
            <a:ext cx="256032" cy="256032"/>
          </a:xfrm>
          <a:prstGeom prst="rect">
            <a:avLst/>
          </a:prstGeom>
        </p:spPr>
      </p:pic>
      <p:sp>
        <p:nvSpPr>
          <p:cNvPr id="15" name="Text 11"/>
          <p:cNvSpPr txBox="1"/>
          <p:nvPr/>
        </p:nvSpPr>
        <p:spPr>
          <a:xfrm>
            <a:off x="4327398" y="2121408"/>
            <a:ext cx="320040" cy="320040"/>
          </a:xfrm>
          <a:prstGeom prst="rect">
            <a:avLst/>
          </a:prstGeom>
          <a:noFill/>
          <a:ln/>
        </p:spPr>
        <p:txBody>
          <a:bodyPr wrap="square" lIns="0" tIns="0" rIns="0" bIns="0" rtlCol="0" anchor="ctr"/>
          <a:lstStyle/>
          <a:p>
            <a:pPr algn="r" indent="0" marL="0">
              <a:buNone/>
            </a:pPr>
            <a:r>
              <a:rPr lang="en-US" sz="1400" b="1" dirty="0">
                <a:solidFill>
                  <a:srgbClr val="E2E8F0"/>
                </a:solidFill>
                <a:latin typeface="Space Grotesk" pitchFamily="34" charset="0"/>
                <a:ea typeface="Space Grotesk" pitchFamily="34" charset="-122"/>
                <a:cs typeface="Space Grotesk" pitchFamily="34" charset="-120"/>
              </a:rPr>
              <a:t>2</a:t>
            </a:r>
            <a:endParaRPr lang="en-US" sz="1400" dirty="0"/>
          </a:p>
        </p:txBody>
      </p:sp>
      <p:sp>
        <p:nvSpPr>
          <p:cNvPr id="16" name="Text 12"/>
          <p:cNvSpPr txBox="1"/>
          <p:nvPr/>
        </p:nvSpPr>
        <p:spPr>
          <a:xfrm>
            <a:off x="3019806" y="2743200"/>
            <a:ext cx="1645920" cy="329184"/>
          </a:xfrm>
          <a:prstGeom prst="rect">
            <a:avLst/>
          </a:prstGeom>
          <a:noFill/>
          <a:ln/>
        </p:spPr>
        <p:txBody>
          <a:bodyPr wrap="square" lIns="0" tIns="0" rIns="0" bIns="0" rtlCol="0" anchor="ctr"/>
          <a:lstStyle/>
          <a:p>
            <a:pPr indent="0" marL="0">
              <a:buNone/>
            </a:pPr>
            <a:r>
              <a:rPr lang="en-US" sz="1500" b="1" dirty="0">
                <a:solidFill>
                  <a:srgbClr val="020618"/>
                </a:solidFill>
                <a:latin typeface="Space Grotesk" pitchFamily="34" charset="0"/>
                <a:ea typeface="Space Grotesk" pitchFamily="34" charset="-122"/>
                <a:cs typeface="Space Grotesk" pitchFamily="34" charset="-120"/>
              </a:rPr>
              <a:t>Go to Cognito</a:t>
            </a:r>
            <a:endParaRPr lang="en-US" sz="1500" dirty="0"/>
          </a:p>
        </p:txBody>
      </p:sp>
      <p:sp>
        <p:nvSpPr>
          <p:cNvPr id="17" name="Text 13"/>
          <p:cNvSpPr txBox="1"/>
          <p:nvPr/>
        </p:nvSpPr>
        <p:spPr>
          <a:xfrm>
            <a:off x="3019806" y="3090672"/>
            <a:ext cx="1645920" cy="640080"/>
          </a:xfrm>
          <a:prstGeom prst="rect">
            <a:avLst/>
          </a:prstGeom>
          <a:noFill/>
          <a:ln/>
        </p:spPr>
        <p:txBody>
          <a:bodyPr wrap="square" lIns="0" tIns="0" rIns="0" bIns="0" rtlCol="0" anchor="t"/>
          <a:lstStyle/>
          <a:p>
            <a:pPr indent="0" marL="0">
              <a:buNone/>
            </a:pPr>
            <a:r>
              <a:rPr lang="en-US" sz="1150" dirty="0">
                <a:solidFill>
                  <a:srgbClr val="62748E"/>
                </a:solidFill>
                <a:latin typeface="DM Sans" pitchFamily="34" charset="0"/>
                <a:ea typeface="DM Sans" pitchFamily="34" charset="-122"/>
                <a:cs typeface="DM Sans" pitchFamily="34" charset="-120"/>
              </a:rPr>
              <a:t>The browser goes to Cognito's sign-in page</a:t>
            </a:r>
            <a:endParaRPr lang="en-US" sz="1150" dirty="0"/>
          </a:p>
        </p:txBody>
      </p:sp>
      <p:sp>
        <p:nvSpPr>
          <p:cNvPr id="18" name="Shape 14"/>
          <p:cNvSpPr/>
          <p:nvPr/>
        </p:nvSpPr>
        <p:spPr>
          <a:xfrm>
            <a:off x="4885182" y="2857500"/>
            <a:ext cx="148590" cy="0"/>
          </a:xfrm>
          <a:prstGeom prst="line">
            <a:avLst/>
          </a:prstGeom>
          <a:noFill/>
          <a:ln w="22225">
            <a:solidFill>
              <a:srgbClr val="62748E"/>
            </a:solidFill>
            <a:prstDash val="solid"/>
            <a:tailEnd type="triangle"/>
          </a:ln>
        </p:spPr>
      </p:sp>
      <p:sp>
        <p:nvSpPr>
          <p:cNvPr id="19" name="Shape 15"/>
          <p:cNvSpPr/>
          <p:nvPr/>
        </p:nvSpPr>
        <p:spPr>
          <a:xfrm>
            <a:off x="5088636" y="1920240"/>
            <a:ext cx="2011680" cy="1874520"/>
          </a:xfrm>
          <a:prstGeom prst="roundRect">
            <a:avLst>
              <a:gd name="adj" fmla="val 7805"/>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20" name="Shape 16"/>
          <p:cNvSpPr/>
          <p:nvPr/>
        </p:nvSpPr>
        <p:spPr>
          <a:xfrm>
            <a:off x="5289804" y="2121408"/>
            <a:ext cx="512064" cy="512064"/>
          </a:xfrm>
          <a:prstGeom prst="ellipse">
            <a:avLst/>
          </a:prstGeom>
          <a:solidFill>
            <a:srgbClr val="F9B73F"/>
          </a:solidFill>
          <a:ln w="12700">
            <a:solidFill>
              <a:srgbClr val="F9B73F"/>
            </a:solidFill>
            <a:prstDash val="solid"/>
          </a:ln>
        </p:spPr>
      </p:sp>
      <p:pic>
        <p:nvPicPr>
          <p:cNvPr id="21" name="Image 2" descr="preencoded.png">    </p:cNvPr>
          <p:cNvPicPr>
            <a:picLocks noChangeAspect="1"/>
          </p:cNvPicPr>
          <p:nvPr/>
        </p:nvPicPr>
        <p:blipFill>
          <a:blip r:embed="rId3"/>
          <a:stretch>
            <a:fillRect/>
          </a:stretch>
        </p:blipFill>
        <p:spPr>
          <a:xfrm>
            <a:off x="5417820" y="2249424"/>
            <a:ext cx="256032" cy="256032"/>
          </a:xfrm>
          <a:prstGeom prst="rect">
            <a:avLst/>
          </a:prstGeom>
        </p:spPr>
      </p:pic>
      <p:sp>
        <p:nvSpPr>
          <p:cNvPr id="22" name="Text 17"/>
          <p:cNvSpPr txBox="1"/>
          <p:nvPr/>
        </p:nvSpPr>
        <p:spPr>
          <a:xfrm>
            <a:off x="6597396" y="2121408"/>
            <a:ext cx="320040" cy="320040"/>
          </a:xfrm>
          <a:prstGeom prst="rect">
            <a:avLst/>
          </a:prstGeom>
          <a:noFill/>
          <a:ln/>
        </p:spPr>
        <p:txBody>
          <a:bodyPr wrap="square" lIns="0" tIns="0" rIns="0" bIns="0" rtlCol="0" anchor="ctr"/>
          <a:lstStyle/>
          <a:p>
            <a:pPr algn="r" indent="0" marL="0">
              <a:buNone/>
            </a:pPr>
            <a:r>
              <a:rPr lang="en-US" sz="1400" b="1" dirty="0">
                <a:solidFill>
                  <a:srgbClr val="E2E8F0"/>
                </a:solidFill>
                <a:latin typeface="Space Grotesk" pitchFamily="34" charset="0"/>
                <a:ea typeface="Space Grotesk" pitchFamily="34" charset="-122"/>
                <a:cs typeface="Space Grotesk" pitchFamily="34" charset="-120"/>
              </a:rPr>
              <a:t>3</a:t>
            </a:r>
            <a:endParaRPr lang="en-US" sz="1400" dirty="0"/>
          </a:p>
        </p:txBody>
      </p:sp>
      <p:sp>
        <p:nvSpPr>
          <p:cNvPr id="23" name="Text 18"/>
          <p:cNvSpPr txBox="1"/>
          <p:nvPr/>
        </p:nvSpPr>
        <p:spPr>
          <a:xfrm>
            <a:off x="5289804" y="2743200"/>
            <a:ext cx="1645920" cy="329184"/>
          </a:xfrm>
          <a:prstGeom prst="rect">
            <a:avLst/>
          </a:prstGeom>
          <a:noFill/>
          <a:ln/>
        </p:spPr>
        <p:txBody>
          <a:bodyPr wrap="square" lIns="0" tIns="0" rIns="0" bIns="0" rtlCol="0" anchor="ctr"/>
          <a:lstStyle/>
          <a:p>
            <a:pPr indent="0" marL="0">
              <a:buNone/>
            </a:pPr>
            <a:r>
              <a:rPr lang="en-US" sz="1500" b="1" dirty="0">
                <a:solidFill>
                  <a:srgbClr val="020618"/>
                </a:solidFill>
                <a:latin typeface="Space Grotesk" pitchFamily="34" charset="0"/>
                <a:ea typeface="Space Grotesk" pitchFamily="34" charset="-122"/>
                <a:cs typeface="Space Grotesk" pitchFamily="34" charset="-120"/>
              </a:rPr>
              <a:t>Check password</a:t>
            </a:r>
            <a:endParaRPr lang="en-US" sz="1500" dirty="0"/>
          </a:p>
        </p:txBody>
      </p:sp>
      <p:sp>
        <p:nvSpPr>
          <p:cNvPr id="24" name="Text 19"/>
          <p:cNvSpPr txBox="1"/>
          <p:nvPr/>
        </p:nvSpPr>
        <p:spPr>
          <a:xfrm>
            <a:off x="5289804" y="3090672"/>
            <a:ext cx="1645920" cy="640080"/>
          </a:xfrm>
          <a:prstGeom prst="rect">
            <a:avLst/>
          </a:prstGeom>
          <a:noFill/>
          <a:ln/>
        </p:spPr>
        <p:txBody>
          <a:bodyPr wrap="square" lIns="0" tIns="0" rIns="0" bIns="0" rtlCol="0" anchor="t"/>
          <a:lstStyle/>
          <a:p>
            <a:pPr indent="0" marL="0">
              <a:buNone/>
            </a:pPr>
            <a:r>
              <a:rPr lang="en-US" sz="1150" dirty="0">
                <a:solidFill>
                  <a:srgbClr val="62748E"/>
                </a:solidFill>
                <a:latin typeface="DM Sans" pitchFamily="34" charset="0"/>
                <a:ea typeface="DM Sans" pitchFamily="34" charset="-122"/>
                <a:cs typeface="DM Sans" pitchFamily="34" charset="-120"/>
              </a:rPr>
              <a:t>Cognito checks the email and password</a:t>
            </a:r>
            <a:endParaRPr lang="en-US" sz="1150" dirty="0"/>
          </a:p>
        </p:txBody>
      </p:sp>
      <p:sp>
        <p:nvSpPr>
          <p:cNvPr id="25" name="Shape 20"/>
          <p:cNvSpPr/>
          <p:nvPr/>
        </p:nvSpPr>
        <p:spPr>
          <a:xfrm>
            <a:off x="7155180" y="2857500"/>
            <a:ext cx="148590" cy="0"/>
          </a:xfrm>
          <a:prstGeom prst="line">
            <a:avLst/>
          </a:prstGeom>
          <a:noFill/>
          <a:ln w="22225">
            <a:solidFill>
              <a:srgbClr val="62748E"/>
            </a:solidFill>
            <a:prstDash val="solid"/>
            <a:tailEnd type="triangle"/>
          </a:ln>
        </p:spPr>
      </p:sp>
      <p:sp>
        <p:nvSpPr>
          <p:cNvPr id="26" name="Shape 21"/>
          <p:cNvSpPr/>
          <p:nvPr/>
        </p:nvSpPr>
        <p:spPr>
          <a:xfrm>
            <a:off x="7358634" y="1920240"/>
            <a:ext cx="2011680" cy="1874520"/>
          </a:xfrm>
          <a:prstGeom prst="roundRect">
            <a:avLst>
              <a:gd name="adj" fmla="val 7805"/>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27" name="Shape 22"/>
          <p:cNvSpPr/>
          <p:nvPr/>
        </p:nvSpPr>
        <p:spPr>
          <a:xfrm>
            <a:off x="7559802" y="2121408"/>
            <a:ext cx="512064" cy="512064"/>
          </a:xfrm>
          <a:prstGeom prst="ellipse">
            <a:avLst/>
          </a:prstGeom>
          <a:solidFill>
            <a:srgbClr val="009689"/>
          </a:solidFill>
          <a:ln w="12700">
            <a:solidFill>
              <a:srgbClr val="009689"/>
            </a:solidFill>
            <a:prstDash val="solid"/>
          </a:ln>
        </p:spPr>
      </p:sp>
      <p:pic>
        <p:nvPicPr>
          <p:cNvPr id="28" name="Image 3" descr="preencoded.png">    </p:cNvPr>
          <p:cNvPicPr>
            <a:picLocks noChangeAspect="1"/>
          </p:cNvPicPr>
          <p:nvPr/>
        </p:nvPicPr>
        <p:blipFill>
          <a:blip r:embed="rId4"/>
          <a:stretch>
            <a:fillRect/>
          </a:stretch>
        </p:blipFill>
        <p:spPr>
          <a:xfrm>
            <a:off x="7687818" y="2249424"/>
            <a:ext cx="256032" cy="256032"/>
          </a:xfrm>
          <a:prstGeom prst="rect">
            <a:avLst/>
          </a:prstGeom>
        </p:spPr>
      </p:pic>
      <p:sp>
        <p:nvSpPr>
          <p:cNvPr id="29" name="Text 23"/>
          <p:cNvSpPr txBox="1"/>
          <p:nvPr/>
        </p:nvSpPr>
        <p:spPr>
          <a:xfrm>
            <a:off x="8867394" y="2121408"/>
            <a:ext cx="320040" cy="320040"/>
          </a:xfrm>
          <a:prstGeom prst="rect">
            <a:avLst/>
          </a:prstGeom>
          <a:noFill/>
          <a:ln/>
        </p:spPr>
        <p:txBody>
          <a:bodyPr wrap="square" lIns="0" tIns="0" rIns="0" bIns="0" rtlCol="0" anchor="ctr"/>
          <a:lstStyle/>
          <a:p>
            <a:pPr algn="r" indent="0" marL="0">
              <a:buNone/>
            </a:pPr>
            <a:r>
              <a:rPr lang="en-US" sz="1400" b="1" dirty="0">
                <a:solidFill>
                  <a:srgbClr val="E2E8F0"/>
                </a:solidFill>
                <a:latin typeface="Space Grotesk" pitchFamily="34" charset="0"/>
                <a:ea typeface="Space Grotesk" pitchFamily="34" charset="-122"/>
                <a:cs typeface="Space Grotesk" pitchFamily="34" charset="-120"/>
              </a:rPr>
              <a:t>4</a:t>
            </a:r>
            <a:endParaRPr lang="en-US" sz="1400" dirty="0"/>
          </a:p>
        </p:txBody>
      </p:sp>
      <p:sp>
        <p:nvSpPr>
          <p:cNvPr id="30" name="Text 24"/>
          <p:cNvSpPr txBox="1"/>
          <p:nvPr/>
        </p:nvSpPr>
        <p:spPr>
          <a:xfrm>
            <a:off x="7559802" y="2743200"/>
            <a:ext cx="1645920" cy="329184"/>
          </a:xfrm>
          <a:prstGeom prst="rect">
            <a:avLst/>
          </a:prstGeom>
          <a:noFill/>
          <a:ln/>
        </p:spPr>
        <p:txBody>
          <a:bodyPr wrap="square" lIns="0" tIns="0" rIns="0" bIns="0" rtlCol="0" anchor="ctr"/>
          <a:lstStyle/>
          <a:p>
            <a:pPr indent="0" marL="0">
              <a:buNone/>
            </a:pPr>
            <a:r>
              <a:rPr lang="en-US" sz="1500" b="1" dirty="0">
                <a:solidFill>
                  <a:srgbClr val="020618"/>
                </a:solidFill>
                <a:latin typeface="Space Grotesk" pitchFamily="34" charset="0"/>
                <a:ea typeface="Space Grotesk" pitchFamily="34" charset="-122"/>
                <a:cs typeface="Space Grotesk" pitchFamily="34" charset="-120"/>
              </a:rPr>
              <a:t>One-time code</a:t>
            </a:r>
            <a:endParaRPr lang="en-US" sz="1500" dirty="0"/>
          </a:p>
        </p:txBody>
      </p:sp>
      <p:sp>
        <p:nvSpPr>
          <p:cNvPr id="31" name="Text 25"/>
          <p:cNvSpPr txBox="1"/>
          <p:nvPr/>
        </p:nvSpPr>
        <p:spPr>
          <a:xfrm>
            <a:off x="7559802" y="3090672"/>
            <a:ext cx="1645920" cy="640080"/>
          </a:xfrm>
          <a:prstGeom prst="rect">
            <a:avLst/>
          </a:prstGeom>
          <a:noFill/>
          <a:ln/>
        </p:spPr>
        <p:txBody>
          <a:bodyPr wrap="square" lIns="0" tIns="0" rIns="0" bIns="0" rtlCol="0" anchor="t"/>
          <a:lstStyle/>
          <a:p>
            <a:pPr indent="0" marL="0">
              <a:buNone/>
            </a:pPr>
            <a:r>
              <a:rPr lang="en-US" sz="1150" dirty="0">
                <a:solidFill>
                  <a:srgbClr val="62748E"/>
                </a:solidFill>
                <a:latin typeface="DM Sans" pitchFamily="34" charset="0"/>
                <a:ea typeface="DM Sans" pitchFamily="34" charset="-122"/>
                <a:cs typeface="DM Sans" pitchFamily="34" charset="-120"/>
              </a:rPr>
              <a:t>Cognito sends the user back with a code</a:t>
            </a:r>
            <a:endParaRPr lang="en-US" sz="1150" dirty="0"/>
          </a:p>
        </p:txBody>
      </p:sp>
      <p:sp>
        <p:nvSpPr>
          <p:cNvPr id="32" name="Shape 26"/>
          <p:cNvSpPr/>
          <p:nvPr/>
        </p:nvSpPr>
        <p:spPr>
          <a:xfrm>
            <a:off x="9425178" y="2857500"/>
            <a:ext cx="148590" cy="0"/>
          </a:xfrm>
          <a:prstGeom prst="line">
            <a:avLst/>
          </a:prstGeom>
          <a:noFill/>
          <a:ln w="22225">
            <a:solidFill>
              <a:srgbClr val="62748E"/>
            </a:solidFill>
            <a:prstDash val="solid"/>
            <a:tailEnd type="triangle"/>
          </a:ln>
        </p:spPr>
      </p:sp>
      <p:sp>
        <p:nvSpPr>
          <p:cNvPr id="33" name="Shape 27"/>
          <p:cNvSpPr/>
          <p:nvPr/>
        </p:nvSpPr>
        <p:spPr>
          <a:xfrm>
            <a:off x="9628632" y="1920240"/>
            <a:ext cx="2011680" cy="1874520"/>
          </a:xfrm>
          <a:prstGeom prst="roundRect">
            <a:avLst>
              <a:gd name="adj" fmla="val 7805"/>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34" name="Shape 28"/>
          <p:cNvSpPr/>
          <p:nvPr/>
        </p:nvSpPr>
        <p:spPr>
          <a:xfrm>
            <a:off x="9829800" y="2121408"/>
            <a:ext cx="512064" cy="512064"/>
          </a:xfrm>
          <a:prstGeom prst="ellipse">
            <a:avLst/>
          </a:prstGeom>
          <a:solidFill>
            <a:srgbClr val="43C07A"/>
          </a:solidFill>
          <a:ln w="12700">
            <a:solidFill>
              <a:srgbClr val="43C07A"/>
            </a:solidFill>
            <a:prstDash val="solid"/>
          </a:ln>
        </p:spPr>
      </p:sp>
      <p:pic>
        <p:nvPicPr>
          <p:cNvPr id="35" name="Image 4" descr="preencoded.png">    </p:cNvPr>
          <p:cNvPicPr>
            <a:picLocks noChangeAspect="1"/>
          </p:cNvPicPr>
          <p:nvPr/>
        </p:nvPicPr>
        <p:blipFill>
          <a:blip r:embed="rId5"/>
          <a:stretch>
            <a:fillRect/>
          </a:stretch>
        </p:blipFill>
        <p:spPr>
          <a:xfrm>
            <a:off x="9957816" y="2249424"/>
            <a:ext cx="256032" cy="256032"/>
          </a:xfrm>
          <a:prstGeom prst="rect">
            <a:avLst/>
          </a:prstGeom>
        </p:spPr>
      </p:pic>
      <p:sp>
        <p:nvSpPr>
          <p:cNvPr id="36" name="Text 29"/>
          <p:cNvSpPr txBox="1"/>
          <p:nvPr/>
        </p:nvSpPr>
        <p:spPr>
          <a:xfrm>
            <a:off x="11137392" y="2121408"/>
            <a:ext cx="320040" cy="320040"/>
          </a:xfrm>
          <a:prstGeom prst="rect">
            <a:avLst/>
          </a:prstGeom>
          <a:noFill/>
          <a:ln/>
        </p:spPr>
        <p:txBody>
          <a:bodyPr wrap="square" lIns="0" tIns="0" rIns="0" bIns="0" rtlCol="0" anchor="ctr"/>
          <a:lstStyle/>
          <a:p>
            <a:pPr algn="r" indent="0" marL="0">
              <a:buNone/>
            </a:pPr>
            <a:r>
              <a:rPr lang="en-US" sz="1400" b="1" dirty="0">
                <a:solidFill>
                  <a:srgbClr val="E2E8F0"/>
                </a:solidFill>
                <a:latin typeface="Space Grotesk" pitchFamily="34" charset="0"/>
                <a:ea typeface="Space Grotesk" pitchFamily="34" charset="-122"/>
                <a:cs typeface="Space Grotesk" pitchFamily="34" charset="-120"/>
              </a:rPr>
              <a:t>5</a:t>
            </a:r>
            <a:endParaRPr lang="en-US" sz="1400" dirty="0"/>
          </a:p>
        </p:txBody>
      </p:sp>
      <p:sp>
        <p:nvSpPr>
          <p:cNvPr id="37" name="Text 30"/>
          <p:cNvSpPr txBox="1"/>
          <p:nvPr/>
        </p:nvSpPr>
        <p:spPr>
          <a:xfrm>
            <a:off x="9829800" y="2743200"/>
            <a:ext cx="1645920" cy="329184"/>
          </a:xfrm>
          <a:prstGeom prst="rect">
            <a:avLst/>
          </a:prstGeom>
          <a:noFill/>
          <a:ln/>
        </p:spPr>
        <p:txBody>
          <a:bodyPr wrap="square" lIns="0" tIns="0" rIns="0" bIns="0" rtlCol="0" anchor="ctr"/>
          <a:lstStyle/>
          <a:p>
            <a:pPr indent="0" marL="0">
              <a:buNone/>
            </a:pPr>
            <a:r>
              <a:rPr lang="en-US" sz="1500" b="1" dirty="0">
                <a:solidFill>
                  <a:srgbClr val="020618"/>
                </a:solidFill>
                <a:latin typeface="Space Grotesk" pitchFamily="34" charset="0"/>
                <a:ea typeface="Space Grotesk" pitchFamily="34" charset="-122"/>
                <a:cs typeface="Space Grotesk" pitchFamily="34" charset="-120"/>
              </a:rPr>
              <a:t>Token</a:t>
            </a:r>
            <a:endParaRPr lang="en-US" sz="1500" dirty="0"/>
          </a:p>
        </p:txBody>
      </p:sp>
      <p:sp>
        <p:nvSpPr>
          <p:cNvPr id="38" name="Text 31"/>
          <p:cNvSpPr txBox="1"/>
          <p:nvPr/>
        </p:nvSpPr>
        <p:spPr>
          <a:xfrm>
            <a:off x="9829800" y="3090672"/>
            <a:ext cx="1645920" cy="640080"/>
          </a:xfrm>
          <a:prstGeom prst="rect">
            <a:avLst/>
          </a:prstGeom>
          <a:noFill/>
          <a:ln/>
        </p:spPr>
        <p:txBody>
          <a:bodyPr wrap="square" lIns="0" tIns="0" rIns="0" bIns="0" rtlCol="0" anchor="t"/>
          <a:lstStyle/>
          <a:p>
            <a:pPr indent="0" marL="0">
              <a:buNone/>
            </a:pPr>
            <a:r>
              <a:rPr lang="en-US" sz="1150" dirty="0">
                <a:solidFill>
                  <a:srgbClr val="62748E"/>
                </a:solidFill>
                <a:latin typeface="DM Sans" pitchFamily="34" charset="0"/>
                <a:ea typeface="DM Sans" pitchFamily="34" charset="-122"/>
                <a:cs typeface="DM Sans" pitchFamily="34" charset="-120"/>
              </a:rPr>
              <a:t>The dashboard swaps the code for a token with the user and role</a:t>
            </a:r>
            <a:endParaRPr lang="en-US" sz="1150" dirty="0"/>
          </a:p>
        </p:txBody>
      </p:sp>
      <p:sp>
        <p:nvSpPr>
          <p:cNvPr id="39" name="Shape 32"/>
          <p:cNvSpPr/>
          <p:nvPr/>
        </p:nvSpPr>
        <p:spPr>
          <a:xfrm>
            <a:off x="548640" y="4251960"/>
            <a:ext cx="3514344" cy="2103120"/>
          </a:xfrm>
          <a:prstGeom prst="roundRect">
            <a:avLst>
              <a:gd name="adj" fmla="val 6957"/>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40" name="Shape 33"/>
          <p:cNvSpPr/>
          <p:nvPr/>
        </p:nvSpPr>
        <p:spPr>
          <a:xfrm>
            <a:off x="777240" y="4480560"/>
            <a:ext cx="512064" cy="512064"/>
          </a:xfrm>
          <a:prstGeom prst="ellipse">
            <a:avLst/>
          </a:prstGeom>
          <a:solidFill>
            <a:srgbClr val="E6293F"/>
          </a:solidFill>
          <a:ln w="12700">
            <a:solidFill>
              <a:srgbClr val="E6293F"/>
            </a:solidFill>
            <a:prstDash val="solid"/>
          </a:ln>
        </p:spPr>
      </p:sp>
      <p:pic>
        <p:nvPicPr>
          <p:cNvPr id="41" name="Image 5" descr="preencoded.png">    </p:cNvPr>
          <p:cNvPicPr>
            <a:picLocks noChangeAspect="1"/>
          </p:cNvPicPr>
          <p:nvPr/>
        </p:nvPicPr>
        <p:blipFill>
          <a:blip r:embed="rId6"/>
          <a:stretch>
            <a:fillRect/>
          </a:stretch>
        </p:blipFill>
        <p:spPr>
          <a:xfrm>
            <a:off x="905256" y="4608576"/>
            <a:ext cx="256032" cy="256032"/>
          </a:xfrm>
          <a:prstGeom prst="rect">
            <a:avLst/>
          </a:prstGeom>
        </p:spPr>
      </p:pic>
      <p:sp>
        <p:nvSpPr>
          <p:cNvPr id="42" name="Text 34"/>
          <p:cNvSpPr txBox="1"/>
          <p:nvPr/>
        </p:nvSpPr>
        <p:spPr>
          <a:xfrm>
            <a:off x="1417320" y="4480560"/>
            <a:ext cx="2462784" cy="512064"/>
          </a:xfrm>
          <a:prstGeom prst="rect">
            <a:avLst/>
          </a:prstGeom>
          <a:noFill/>
          <a:ln/>
        </p:spPr>
        <p:txBody>
          <a:bodyPr wrap="square" lIns="0" tIns="0" rIns="0" bIns="0" rtlCol="0" anchor="ctr"/>
          <a:lstStyle/>
          <a:p>
            <a:pPr indent="0" marL="0">
              <a:buNone/>
            </a:pPr>
            <a:r>
              <a:rPr lang="en-US" sz="1600" b="1" dirty="0">
                <a:solidFill>
                  <a:srgbClr val="020618"/>
                </a:solidFill>
                <a:latin typeface="Space Grotesk" pitchFamily="34" charset="0"/>
                <a:ea typeface="Space Grotesk" pitchFamily="34" charset="-122"/>
                <a:cs typeface="Space Grotesk" pitchFamily="34" charset="-120"/>
              </a:rPr>
              <a:t>No public sign-up</a:t>
            </a:r>
            <a:endParaRPr lang="en-US" sz="1600" dirty="0"/>
          </a:p>
        </p:txBody>
      </p:sp>
      <p:sp>
        <p:nvSpPr>
          <p:cNvPr id="43" name="Text 35"/>
          <p:cNvSpPr txBox="1"/>
          <p:nvPr/>
        </p:nvSpPr>
        <p:spPr>
          <a:xfrm>
            <a:off x="777240" y="5148072"/>
            <a:ext cx="3057144" cy="640080"/>
          </a:xfrm>
          <a:prstGeom prst="rect">
            <a:avLst/>
          </a:prstGeom>
          <a:noFill/>
          <a:ln/>
        </p:spPr>
        <p:txBody>
          <a:bodyPr wrap="square" lIns="0" tIns="0" rIns="0" bIns="0" rtlCol="0" anchor="t"/>
          <a:lstStyle/>
          <a:p>
            <a:pPr indent="0" marL="0">
              <a:buNone/>
            </a:pPr>
            <a:r>
              <a:rPr lang="en-US" sz="1200" dirty="0">
                <a:solidFill>
                  <a:srgbClr val="020618"/>
                </a:solidFill>
                <a:latin typeface="DM Sans" pitchFamily="34" charset="0"/>
                <a:ea typeface="DM Sans" pitchFamily="34" charset="-122"/>
                <a:cs typeface="DM Sans" pitchFamily="34" charset="-120"/>
              </a:rPr>
              <a:t>An internal university tool: only admins create accounts and assign roles.</a:t>
            </a:r>
            <a:endParaRPr lang="en-US" sz="1200" dirty="0"/>
          </a:p>
        </p:txBody>
      </p:sp>
      <p:sp>
        <p:nvSpPr>
          <p:cNvPr id="44" name="Shape 36"/>
          <p:cNvSpPr/>
          <p:nvPr/>
        </p:nvSpPr>
        <p:spPr>
          <a:xfrm>
            <a:off x="4337304" y="4251960"/>
            <a:ext cx="3514344" cy="2103120"/>
          </a:xfrm>
          <a:prstGeom prst="roundRect">
            <a:avLst>
              <a:gd name="adj" fmla="val 6957"/>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45" name="Shape 37"/>
          <p:cNvSpPr/>
          <p:nvPr/>
        </p:nvSpPr>
        <p:spPr>
          <a:xfrm>
            <a:off x="4565904" y="4480560"/>
            <a:ext cx="512064" cy="512064"/>
          </a:xfrm>
          <a:prstGeom prst="ellipse">
            <a:avLst/>
          </a:prstGeom>
          <a:solidFill>
            <a:srgbClr val="0F172B"/>
          </a:solidFill>
          <a:ln w="12700">
            <a:solidFill>
              <a:srgbClr val="0F172B"/>
            </a:solidFill>
            <a:prstDash val="solid"/>
          </a:ln>
        </p:spPr>
      </p:sp>
      <p:pic>
        <p:nvPicPr>
          <p:cNvPr id="46" name="Image 6" descr="preencoded.png">    </p:cNvPr>
          <p:cNvPicPr>
            <a:picLocks noChangeAspect="1"/>
          </p:cNvPicPr>
          <p:nvPr/>
        </p:nvPicPr>
        <p:blipFill>
          <a:blip r:embed="rId7"/>
          <a:stretch>
            <a:fillRect/>
          </a:stretch>
        </p:blipFill>
        <p:spPr>
          <a:xfrm>
            <a:off x="4693920" y="4608576"/>
            <a:ext cx="256032" cy="256032"/>
          </a:xfrm>
          <a:prstGeom prst="rect">
            <a:avLst/>
          </a:prstGeom>
        </p:spPr>
      </p:pic>
      <p:sp>
        <p:nvSpPr>
          <p:cNvPr id="47" name="Text 38"/>
          <p:cNvSpPr txBox="1"/>
          <p:nvPr/>
        </p:nvSpPr>
        <p:spPr>
          <a:xfrm>
            <a:off x="5205984" y="4480560"/>
            <a:ext cx="2462784" cy="512064"/>
          </a:xfrm>
          <a:prstGeom prst="rect">
            <a:avLst/>
          </a:prstGeom>
          <a:noFill/>
          <a:ln/>
        </p:spPr>
        <p:txBody>
          <a:bodyPr wrap="square" lIns="0" tIns="0" rIns="0" bIns="0" rtlCol="0" anchor="ctr"/>
          <a:lstStyle/>
          <a:p>
            <a:pPr indent="0" marL="0">
              <a:buNone/>
            </a:pPr>
            <a:r>
              <a:rPr lang="en-US" sz="1600" b="1" dirty="0">
                <a:solidFill>
                  <a:srgbClr val="020618"/>
                </a:solidFill>
                <a:latin typeface="Space Grotesk" pitchFamily="34" charset="0"/>
                <a:ea typeface="Space Grotesk" pitchFamily="34" charset="-122"/>
                <a:cs typeface="Space Grotesk" pitchFamily="34" charset="-120"/>
              </a:rPr>
              <a:t>1-hour tokens</a:t>
            </a:r>
            <a:endParaRPr lang="en-US" sz="1600" dirty="0"/>
          </a:p>
        </p:txBody>
      </p:sp>
      <p:sp>
        <p:nvSpPr>
          <p:cNvPr id="48" name="Text 39"/>
          <p:cNvSpPr txBox="1"/>
          <p:nvPr/>
        </p:nvSpPr>
        <p:spPr>
          <a:xfrm>
            <a:off x="4565904" y="5148072"/>
            <a:ext cx="3057144" cy="640080"/>
          </a:xfrm>
          <a:prstGeom prst="rect">
            <a:avLst/>
          </a:prstGeom>
          <a:noFill/>
          <a:ln/>
        </p:spPr>
        <p:txBody>
          <a:bodyPr wrap="square" lIns="0" tIns="0" rIns="0" bIns="0" rtlCol="0" anchor="t"/>
          <a:lstStyle/>
          <a:p>
            <a:pPr indent="0" marL="0">
              <a:buNone/>
            </a:pPr>
            <a:r>
              <a:rPr lang="en-US" sz="1200" dirty="0">
                <a:solidFill>
                  <a:srgbClr val="020618"/>
                </a:solidFill>
                <a:latin typeface="DM Sans" pitchFamily="34" charset="0"/>
                <a:ea typeface="DM Sans" pitchFamily="34" charset="-122"/>
                <a:cs typeface="DM Sans" pitchFamily="34" charset="-120"/>
              </a:rPr>
              <a:t>Every login token expires after one hour and is used for secure API requests.</a:t>
            </a:r>
            <a:endParaRPr lang="en-US" sz="1200" dirty="0"/>
          </a:p>
        </p:txBody>
      </p:sp>
      <p:sp>
        <p:nvSpPr>
          <p:cNvPr id="49" name="Shape 40"/>
          <p:cNvSpPr/>
          <p:nvPr/>
        </p:nvSpPr>
        <p:spPr>
          <a:xfrm>
            <a:off x="8125968" y="4251960"/>
            <a:ext cx="3514344" cy="2103120"/>
          </a:xfrm>
          <a:prstGeom prst="roundRect">
            <a:avLst>
              <a:gd name="adj" fmla="val 6957"/>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50" name="Shape 41"/>
          <p:cNvSpPr/>
          <p:nvPr/>
        </p:nvSpPr>
        <p:spPr>
          <a:xfrm>
            <a:off x="8354568" y="4480560"/>
            <a:ext cx="512064" cy="512064"/>
          </a:xfrm>
          <a:prstGeom prst="ellipse">
            <a:avLst/>
          </a:prstGeom>
          <a:solidFill>
            <a:srgbClr val="009689"/>
          </a:solidFill>
          <a:ln w="12700">
            <a:solidFill>
              <a:srgbClr val="009689"/>
            </a:solidFill>
            <a:prstDash val="solid"/>
          </a:ln>
        </p:spPr>
      </p:sp>
      <p:pic>
        <p:nvPicPr>
          <p:cNvPr id="51" name="Image 7" descr="preencoded.png">    </p:cNvPr>
          <p:cNvPicPr>
            <a:picLocks noChangeAspect="1"/>
          </p:cNvPicPr>
          <p:nvPr/>
        </p:nvPicPr>
        <p:blipFill>
          <a:blip r:embed="rId8"/>
          <a:stretch>
            <a:fillRect/>
          </a:stretch>
        </p:blipFill>
        <p:spPr>
          <a:xfrm>
            <a:off x="8482584" y="4608576"/>
            <a:ext cx="256032" cy="256032"/>
          </a:xfrm>
          <a:prstGeom prst="rect">
            <a:avLst/>
          </a:prstGeom>
        </p:spPr>
      </p:pic>
      <p:sp>
        <p:nvSpPr>
          <p:cNvPr id="52" name="Text 42"/>
          <p:cNvSpPr txBox="1"/>
          <p:nvPr/>
        </p:nvSpPr>
        <p:spPr>
          <a:xfrm>
            <a:off x="8994648" y="4480560"/>
            <a:ext cx="2462784" cy="512064"/>
          </a:xfrm>
          <a:prstGeom prst="rect">
            <a:avLst/>
          </a:prstGeom>
          <a:noFill/>
          <a:ln/>
        </p:spPr>
        <p:txBody>
          <a:bodyPr wrap="square" lIns="0" tIns="0" rIns="0" bIns="0" rtlCol="0" anchor="ctr"/>
          <a:lstStyle/>
          <a:p>
            <a:pPr indent="0" marL="0">
              <a:buNone/>
            </a:pPr>
            <a:r>
              <a:rPr lang="en-US" sz="1600" b="1" dirty="0">
                <a:solidFill>
                  <a:srgbClr val="020618"/>
                </a:solidFill>
                <a:latin typeface="Space Grotesk" pitchFamily="34" charset="0"/>
                <a:ea typeface="Space Grotesk" pitchFamily="34" charset="-122"/>
                <a:cs typeface="Space Grotesk" pitchFamily="34" charset="-120"/>
              </a:rPr>
              <a:t>Three roles</a:t>
            </a:r>
            <a:endParaRPr lang="en-US" sz="1600" dirty="0"/>
          </a:p>
        </p:txBody>
      </p:sp>
      <p:sp>
        <p:nvSpPr>
          <p:cNvPr id="53" name="Text 43"/>
          <p:cNvSpPr txBox="1"/>
          <p:nvPr/>
        </p:nvSpPr>
        <p:spPr>
          <a:xfrm>
            <a:off x="8354568" y="5148072"/>
            <a:ext cx="3057144" cy="640080"/>
          </a:xfrm>
          <a:prstGeom prst="rect">
            <a:avLst/>
          </a:prstGeom>
          <a:noFill/>
          <a:ln/>
        </p:spPr>
        <p:txBody>
          <a:bodyPr wrap="square" lIns="0" tIns="0" rIns="0" bIns="0" rtlCol="0" anchor="t"/>
          <a:lstStyle/>
          <a:p>
            <a:pPr indent="0" marL="0">
              <a:buNone/>
            </a:pPr>
            <a:r>
              <a:rPr lang="en-US" sz="1200" dirty="0">
                <a:solidFill>
                  <a:srgbClr val="020618"/>
                </a:solidFill>
                <a:latin typeface="DM Sans" pitchFamily="34" charset="0"/>
                <a:ea typeface="DM Sans" pitchFamily="34" charset="-122"/>
                <a:cs typeface="DM Sans" pitchFamily="34" charset="-120"/>
              </a:rPr>
              <a:t>Cognito groups that control what each user is allowed to access.</a:t>
            </a:r>
            <a:endParaRPr lang="en-US" sz="1200" dirty="0"/>
          </a:p>
        </p:txBody>
      </p:sp>
      <p:sp>
        <p:nvSpPr>
          <p:cNvPr id="54" name="Shape 44"/>
          <p:cNvSpPr/>
          <p:nvPr/>
        </p:nvSpPr>
        <p:spPr>
          <a:xfrm>
            <a:off x="8354568" y="5824728"/>
            <a:ext cx="914400" cy="292608"/>
          </a:xfrm>
          <a:prstGeom prst="roundRect">
            <a:avLst>
              <a:gd name="adj" fmla="val 50000"/>
            </a:avLst>
          </a:prstGeom>
          <a:solidFill>
            <a:srgbClr val="F1F5F9"/>
          </a:solidFill>
          <a:ln w="12700">
            <a:solidFill>
              <a:srgbClr val="F1F5F9"/>
            </a:solidFill>
            <a:prstDash val="solid"/>
          </a:ln>
        </p:spPr>
      </p:sp>
      <p:sp>
        <p:nvSpPr>
          <p:cNvPr id="55" name="Text 45"/>
          <p:cNvSpPr txBox="1"/>
          <p:nvPr/>
        </p:nvSpPr>
        <p:spPr>
          <a:xfrm>
            <a:off x="8354568" y="5824728"/>
            <a:ext cx="914400" cy="292608"/>
          </a:xfrm>
          <a:prstGeom prst="rect">
            <a:avLst/>
          </a:prstGeom>
          <a:noFill/>
          <a:ln/>
        </p:spPr>
        <p:txBody>
          <a:bodyPr wrap="square" lIns="0" tIns="0" rIns="0" bIns="0" rtlCol="0" anchor="ctr"/>
          <a:lstStyle/>
          <a:p>
            <a:pPr algn="ctr" indent="0" marL="0">
              <a:buNone/>
            </a:pPr>
            <a:r>
              <a:rPr lang="en-US" sz="1100" b="1" dirty="0">
                <a:solidFill>
                  <a:srgbClr val="0F172B"/>
                </a:solidFill>
                <a:latin typeface="DM Sans" pitchFamily="34" charset="0"/>
                <a:ea typeface="DM Sans" pitchFamily="34" charset="-122"/>
                <a:cs typeface="DM Sans" pitchFamily="34" charset="-120"/>
              </a:rPr>
              <a:t>student</a:t>
            </a:r>
            <a:endParaRPr lang="en-US" sz="1100" dirty="0"/>
          </a:p>
        </p:txBody>
      </p:sp>
      <p:sp>
        <p:nvSpPr>
          <p:cNvPr id="56" name="Shape 46"/>
          <p:cNvSpPr/>
          <p:nvPr/>
        </p:nvSpPr>
        <p:spPr>
          <a:xfrm>
            <a:off x="9360408" y="5824728"/>
            <a:ext cx="777240" cy="292608"/>
          </a:xfrm>
          <a:prstGeom prst="roundRect">
            <a:avLst>
              <a:gd name="adj" fmla="val 50000"/>
            </a:avLst>
          </a:prstGeom>
          <a:solidFill>
            <a:srgbClr val="43C07A"/>
          </a:solidFill>
          <a:ln w="12700">
            <a:solidFill>
              <a:srgbClr val="43C07A"/>
            </a:solidFill>
            <a:prstDash val="solid"/>
          </a:ln>
        </p:spPr>
      </p:sp>
      <p:sp>
        <p:nvSpPr>
          <p:cNvPr id="57" name="Text 47"/>
          <p:cNvSpPr txBox="1"/>
          <p:nvPr/>
        </p:nvSpPr>
        <p:spPr>
          <a:xfrm>
            <a:off x="9360408" y="5824728"/>
            <a:ext cx="777240" cy="292608"/>
          </a:xfrm>
          <a:prstGeom prst="rect">
            <a:avLst/>
          </a:prstGeom>
          <a:noFill/>
          <a:ln/>
        </p:spPr>
        <p:txBody>
          <a:bodyPr wrap="square" lIns="0" tIns="0" rIns="0" bIns="0" rtlCol="0" anchor="ctr"/>
          <a:lstStyle/>
          <a:p>
            <a:pPr algn="ctr" indent="0" marL="0">
              <a:buNone/>
            </a:pPr>
            <a:r>
              <a:rPr lang="en-US" sz="1100" b="1" dirty="0">
                <a:solidFill>
                  <a:srgbClr val="00220D"/>
                </a:solidFill>
                <a:latin typeface="DM Sans" pitchFamily="34" charset="0"/>
                <a:ea typeface="DM Sans" pitchFamily="34" charset="-122"/>
                <a:cs typeface="DM Sans" pitchFamily="34" charset="-120"/>
              </a:rPr>
              <a:t>staff</a:t>
            </a:r>
            <a:endParaRPr lang="en-US" sz="1100" dirty="0"/>
          </a:p>
        </p:txBody>
      </p:sp>
      <p:sp>
        <p:nvSpPr>
          <p:cNvPr id="58" name="Shape 48"/>
          <p:cNvSpPr/>
          <p:nvPr/>
        </p:nvSpPr>
        <p:spPr>
          <a:xfrm>
            <a:off x="10229088" y="5824728"/>
            <a:ext cx="822960" cy="292608"/>
          </a:xfrm>
          <a:prstGeom prst="roundRect">
            <a:avLst>
              <a:gd name="adj" fmla="val 50000"/>
            </a:avLst>
          </a:prstGeom>
          <a:solidFill>
            <a:srgbClr val="0F172B"/>
          </a:solidFill>
          <a:ln w="12700">
            <a:solidFill>
              <a:srgbClr val="0F172B"/>
            </a:solidFill>
            <a:prstDash val="solid"/>
          </a:ln>
        </p:spPr>
      </p:sp>
      <p:sp>
        <p:nvSpPr>
          <p:cNvPr id="59" name="Text 49"/>
          <p:cNvSpPr txBox="1"/>
          <p:nvPr/>
        </p:nvSpPr>
        <p:spPr>
          <a:xfrm>
            <a:off x="10229088" y="5824728"/>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DM Sans" pitchFamily="34" charset="0"/>
                <a:ea typeface="DM Sans" pitchFamily="34" charset="-122"/>
                <a:cs typeface="DM Sans" pitchFamily="34" charset="-120"/>
              </a:rPr>
              <a:t>admin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CampusPulse sign-in</dc:title>
  <dc:subject>PptxGenJS Presentation</dc:subject>
  <dc:creator>PptxGenJS</dc:creator>
  <cp:lastModifiedBy>PptxGenJS</cp:lastModifiedBy>
  <cp:revision>1</cp:revision>
  <dcterms:created xsi:type="dcterms:W3CDTF">2026-09-19T09:33:40Z</dcterms:created>
  <dcterms:modified xsi:type="dcterms:W3CDTF">2026-09-19T09:33:40Z</dcterms:modified>
</cp:coreProperties>
</file>