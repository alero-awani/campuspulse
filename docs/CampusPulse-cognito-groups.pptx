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created three user roles as Cognito groups: student, staff and admin. These roles control what each user is allowed to access. Students see rooms and submit service requests, and only see their own. Staff also see statistics, energy, events and alerts, and manage all requests. Admins can also change the alert thresholds. The groups are created in Terraform, and only admins add users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Three Cognito groups</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Each user belongs to one group. The group travels inside their token, and the API uses it to decide what they can see and do.</a:t>
            </a:r>
            <a:endParaRPr lang="en-US" sz="1400" dirty="0"/>
          </a:p>
        </p:txBody>
      </p:sp>
      <p:sp>
        <p:nvSpPr>
          <p:cNvPr id="4" name="Shape 2"/>
          <p:cNvSpPr/>
          <p:nvPr/>
        </p:nvSpPr>
        <p:spPr>
          <a:xfrm>
            <a:off x="548640" y="1737360"/>
            <a:ext cx="3514344" cy="4114800"/>
          </a:xfrm>
          <a:prstGeom prst="roundRect">
            <a:avLst>
              <a:gd name="adj" fmla="val 4163"/>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 name="Shape 3"/>
          <p:cNvSpPr/>
          <p:nvPr/>
        </p:nvSpPr>
        <p:spPr>
          <a:xfrm>
            <a:off x="822960" y="2011680"/>
            <a:ext cx="685800" cy="685800"/>
          </a:xfrm>
          <a:prstGeom prst="ellipse">
            <a:avLst/>
          </a:prstGeom>
          <a:solidFill>
            <a:srgbClr val="009689"/>
          </a:solidFill>
          <a:ln w="12700">
            <a:solidFill>
              <a:srgbClr val="009689"/>
            </a:solidFill>
            <a:prstDash val="solid"/>
          </a:ln>
        </p:spPr>
      </p:sp>
      <p:pic>
        <p:nvPicPr>
          <p:cNvPr id="6" name="Image 0" descr="preencoded.png">    </p:cNvPr>
          <p:cNvPicPr>
            <a:picLocks noChangeAspect="1"/>
          </p:cNvPicPr>
          <p:nvPr/>
        </p:nvPicPr>
        <p:blipFill>
          <a:blip r:embed="rId1"/>
          <a:stretch>
            <a:fillRect/>
          </a:stretch>
        </p:blipFill>
        <p:spPr>
          <a:xfrm>
            <a:off x="994410" y="2183130"/>
            <a:ext cx="342900" cy="342900"/>
          </a:xfrm>
          <a:prstGeom prst="rect">
            <a:avLst/>
          </a:prstGeom>
        </p:spPr>
      </p:pic>
      <p:sp>
        <p:nvSpPr>
          <p:cNvPr id="7" name="Text 4"/>
          <p:cNvSpPr txBox="1"/>
          <p:nvPr/>
        </p:nvSpPr>
        <p:spPr>
          <a:xfrm>
            <a:off x="1691640" y="2011680"/>
            <a:ext cx="2142744" cy="274320"/>
          </a:xfrm>
          <a:prstGeom prst="rect">
            <a:avLst/>
          </a:prstGeom>
          <a:noFill/>
          <a:ln/>
        </p:spPr>
        <p:txBody>
          <a:bodyPr wrap="square" lIns="0" tIns="0" rIns="0" bIns="0" rtlCol="0" anchor="ctr"/>
          <a:lstStyle/>
          <a:p>
            <a:pPr indent="0" marL="0">
              <a:buNone/>
            </a:pPr>
            <a:r>
              <a:rPr lang="en-US" sz="1000" b="1" spc="200" kern="0" dirty="0">
                <a:solidFill>
                  <a:srgbClr val="62748E"/>
                </a:solidFill>
                <a:latin typeface="DM Sans" pitchFamily="34" charset="0"/>
                <a:ea typeface="DM Sans" pitchFamily="34" charset="-122"/>
                <a:cs typeface="DM Sans" pitchFamily="34" charset="-120"/>
              </a:rPr>
              <a:t>COGNITO GROUP</a:t>
            </a:r>
            <a:endParaRPr lang="en-US" sz="1000" dirty="0"/>
          </a:p>
        </p:txBody>
      </p:sp>
      <p:sp>
        <p:nvSpPr>
          <p:cNvPr id="8" name="Shape 5"/>
          <p:cNvSpPr/>
          <p:nvPr/>
        </p:nvSpPr>
        <p:spPr>
          <a:xfrm>
            <a:off x="1691640" y="2340864"/>
            <a:ext cx="1005840" cy="292608"/>
          </a:xfrm>
          <a:prstGeom prst="roundRect">
            <a:avLst>
              <a:gd name="adj" fmla="val 50000"/>
            </a:avLst>
          </a:prstGeom>
          <a:solidFill>
            <a:srgbClr val="F1F5F9"/>
          </a:solidFill>
          <a:ln w="12700">
            <a:solidFill>
              <a:srgbClr val="F1F5F9"/>
            </a:solidFill>
            <a:prstDash val="solid"/>
          </a:ln>
        </p:spPr>
      </p:sp>
      <p:sp>
        <p:nvSpPr>
          <p:cNvPr id="9" name="Text 6"/>
          <p:cNvSpPr txBox="1"/>
          <p:nvPr/>
        </p:nvSpPr>
        <p:spPr>
          <a:xfrm>
            <a:off x="1691640" y="2340864"/>
            <a:ext cx="1005840" cy="292608"/>
          </a:xfrm>
          <a:prstGeom prst="rect">
            <a:avLst/>
          </a:prstGeom>
          <a:noFill/>
          <a:ln/>
        </p:spPr>
        <p:txBody>
          <a:bodyPr wrap="square" lIns="0" tIns="0" rIns="0" bIns="0" rtlCol="0" anchor="ctr"/>
          <a:lstStyle/>
          <a:p>
            <a:pPr algn="ctr" indent="0" marL="0">
              <a:buNone/>
            </a:pPr>
            <a:r>
              <a:rPr lang="en-US" sz="1100" b="1" dirty="0">
                <a:solidFill>
                  <a:srgbClr val="0F172B"/>
                </a:solidFill>
                <a:latin typeface="DM Sans" pitchFamily="34" charset="0"/>
                <a:ea typeface="DM Sans" pitchFamily="34" charset="-122"/>
                <a:cs typeface="DM Sans" pitchFamily="34" charset="-120"/>
              </a:rPr>
              <a:t>student</a:t>
            </a:r>
            <a:endParaRPr lang="en-US" sz="1100" dirty="0"/>
          </a:p>
        </p:txBody>
      </p:sp>
      <p:sp>
        <p:nvSpPr>
          <p:cNvPr id="10" name="Text 7"/>
          <p:cNvSpPr txBox="1"/>
          <p:nvPr/>
        </p:nvSpPr>
        <p:spPr>
          <a:xfrm>
            <a:off x="822960" y="2971800"/>
            <a:ext cx="2965704" cy="320040"/>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Can</a:t>
            </a:r>
            <a:endParaRPr lang="en-US" sz="1400" dirty="0"/>
          </a:p>
        </p:txBody>
      </p:sp>
      <p:sp>
        <p:nvSpPr>
          <p:cNvPr id="11" name="Text 8"/>
          <p:cNvSpPr txBox="1"/>
          <p:nvPr/>
        </p:nvSpPr>
        <p:spPr>
          <a:xfrm>
            <a:off x="822960" y="3383280"/>
            <a:ext cx="2965704" cy="22860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020618"/>
                </a:solidFill>
                <a:latin typeface="DM Sans" pitchFamily="34" charset="0"/>
                <a:ea typeface="DM Sans" pitchFamily="34" charset="-122"/>
                <a:cs typeface="DM Sans" pitchFamily="34" charset="-120"/>
              </a:rPr>
              <a:t>See the rooms and their live readings</a:t>
            </a:r>
            <a:endParaRPr lang="en-US" sz="1300" dirty="0"/>
          </a:p>
          <a:p>
            <a:pPr marL="177800" indent="-177800">
              <a:spcAft>
                <a:spcPts val="800"/>
              </a:spcAft>
              <a:buSzPct val="100000"/>
              <a:buChar char="•"/>
            </a:pPr>
            <a:r>
              <a:rPr lang="en-US" sz="1300" dirty="0">
                <a:solidFill>
                  <a:srgbClr val="020618"/>
                </a:solidFill>
                <a:latin typeface="DM Sans" pitchFamily="34" charset="0"/>
                <a:ea typeface="DM Sans" pitchFamily="34" charset="-122"/>
                <a:cs typeface="DM Sans" pitchFamily="34" charset="-120"/>
              </a:rPr>
              <a:t>Submit service requests</a:t>
            </a:r>
            <a:endParaRPr lang="en-US" sz="1300" dirty="0"/>
          </a:p>
          <a:p>
            <a:pPr marL="177800" indent="-177800">
              <a:spcAft>
                <a:spcPts val="800"/>
              </a:spcAft>
              <a:buSzPct val="100000"/>
              <a:buChar char="•"/>
            </a:pPr>
            <a:r>
              <a:rPr lang="en-US" sz="1300" dirty="0">
                <a:solidFill>
                  <a:srgbClr val="020618"/>
                </a:solidFill>
                <a:latin typeface="DM Sans" pitchFamily="34" charset="0"/>
                <a:ea typeface="DM Sans" pitchFamily="34" charset="-122"/>
                <a:cs typeface="DM Sans" pitchFamily="34" charset="-120"/>
              </a:rPr>
              <a:t>See only their own requests</a:t>
            </a:r>
            <a:endParaRPr lang="en-US" sz="1300" dirty="0"/>
          </a:p>
        </p:txBody>
      </p:sp>
      <p:sp>
        <p:nvSpPr>
          <p:cNvPr id="12" name="Shape 9"/>
          <p:cNvSpPr/>
          <p:nvPr/>
        </p:nvSpPr>
        <p:spPr>
          <a:xfrm>
            <a:off x="822960" y="5166360"/>
            <a:ext cx="2965704" cy="411480"/>
          </a:xfrm>
          <a:prstGeom prst="roundRect">
            <a:avLst>
              <a:gd name="adj" fmla="val 26667"/>
            </a:avLst>
          </a:prstGeom>
          <a:solidFill>
            <a:srgbClr val="F1F5F9"/>
          </a:solidFill>
          <a:ln w="12700">
            <a:solidFill>
              <a:srgbClr val="F1F5F9"/>
            </a:solidFill>
            <a:prstDash val="solid"/>
          </a:ln>
        </p:spPr>
      </p:sp>
      <p:sp>
        <p:nvSpPr>
          <p:cNvPr id="13" name="Text 10"/>
          <p:cNvSpPr txBox="1"/>
          <p:nvPr/>
        </p:nvSpPr>
        <p:spPr>
          <a:xfrm>
            <a:off x="960120" y="5166360"/>
            <a:ext cx="2691384" cy="411480"/>
          </a:xfrm>
          <a:prstGeom prst="rect">
            <a:avLst/>
          </a:prstGeom>
          <a:noFill/>
          <a:ln/>
        </p:spPr>
        <p:txBody>
          <a:bodyPr wrap="square" lIns="0" tIns="0" rIns="0" bIns="0" rtlCol="0" anchor="ctr"/>
          <a:lstStyle/>
          <a:p>
            <a:pPr indent="0" marL="0">
              <a:buNone/>
            </a:pPr>
            <a:r>
              <a:rPr lang="en-US" sz="1150" dirty="0">
                <a:solidFill>
                  <a:srgbClr val="62748E"/>
                </a:solidFill>
                <a:latin typeface="DM Sans" pitchFamily="34" charset="0"/>
                <a:ea typeface="DM Sans" pitchFamily="34" charset="-122"/>
                <a:cs typeface="DM Sans" pitchFamily="34" charset="-120"/>
              </a:rPr>
              <a:t>2 demo students</a:t>
            </a:r>
            <a:endParaRPr lang="en-US" sz="1150" dirty="0"/>
          </a:p>
        </p:txBody>
      </p:sp>
      <p:sp>
        <p:nvSpPr>
          <p:cNvPr id="14" name="Shape 11"/>
          <p:cNvSpPr/>
          <p:nvPr/>
        </p:nvSpPr>
        <p:spPr>
          <a:xfrm>
            <a:off x="4337304" y="1737360"/>
            <a:ext cx="3514344" cy="4114800"/>
          </a:xfrm>
          <a:prstGeom prst="roundRect">
            <a:avLst>
              <a:gd name="adj" fmla="val 4163"/>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5" name="Shape 12"/>
          <p:cNvSpPr/>
          <p:nvPr/>
        </p:nvSpPr>
        <p:spPr>
          <a:xfrm>
            <a:off x="4611624" y="2011680"/>
            <a:ext cx="685800" cy="685800"/>
          </a:xfrm>
          <a:prstGeom prst="ellipse">
            <a:avLst/>
          </a:prstGeom>
          <a:solidFill>
            <a:srgbClr val="43C07A"/>
          </a:solidFill>
          <a:ln w="12700">
            <a:solidFill>
              <a:srgbClr val="43C07A"/>
            </a:solidFill>
            <a:prstDash val="solid"/>
          </a:ln>
        </p:spPr>
      </p:sp>
      <p:pic>
        <p:nvPicPr>
          <p:cNvPr id="16" name="Image 1" descr="preencoded.png">    </p:cNvPr>
          <p:cNvPicPr>
            <a:picLocks noChangeAspect="1"/>
          </p:cNvPicPr>
          <p:nvPr/>
        </p:nvPicPr>
        <p:blipFill>
          <a:blip r:embed="rId2"/>
          <a:stretch>
            <a:fillRect/>
          </a:stretch>
        </p:blipFill>
        <p:spPr>
          <a:xfrm>
            <a:off x="4783074" y="2183130"/>
            <a:ext cx="342900" cy="342900"/>
          </a:xfrm>
          <a:prstGeom prst="rect">
            <a:avLst/>
          </a:prstGeom>
        </p:spPr>
      </p:pic>
      <p:sp>
        <p:nvSpPr>
          <p:cNvPr id="17" name="Text 13"/>
          <p:cNvSpPr txBox="1"/>
          <p:nvPr/>
        </p:nvSpPr>
        <p:spPr>
          <a:xfrm>
            <a:off x="5480304" y="2011680"/>
            <a:ext cx="2142744" cy="274320"/>
          </a:xfrm>
          <a:prstGeom prst="rect">
            <a:avLst/>
          </a:prstGeom>
          <a:noFill/>
          <a:ln/>
        </p:spPr>
        <p:txBody>
          <a:bodyPr wrap="square" lIns="0" tIns="0" rIns="0" bIns="0" rtlCol="0" anchor="ctr"/>
          <a:lstStyle/>
          <a:p>
            <a:pPr indent="0" marL="0">
              <a:buNone/>
            </a:pPr>
            <a:r>
              <a:rPr lang="en-US" sz="1000" b="1" spc="200" kern="0" dirty="0">
                <a:solidFill>
                  <a:srgbClr val="62748E"/>
                </a:solidFill>
                <a:latin typeface="DM Sans" pitchFamily="34" charset="0"/>
                <a:ea typeface="DM Sans" pitchFamily="34" charset="-122"/>
                <a:cs typeface="DM Sans" pitchFamily="34" charset="-120"/>
              </a:rPr>
              <a:t>COGNITO GROUP</a:t>
            </a:r>
            <a:endParaRPr lang="en-US" sz="1000" dirty="0"/>
          </a:p>
        </p:txBody>
      </p:sp>
      <p:sp>
        <p:nvSpPr>
          <p:cNvPr id="18" name="Shape 14"/>
          <p:cNvSpPr/>
          <p:nvPr/>
        </p:nvSpPr>
        <p:spPr>
          <a:xfrm>
            <a:off x="5480304" y="2340864"/>
            <a:ext cx="1005840" cy="292608"/>
          </a:xfrm>
          <a:prstGeom prst="roundRect">
            <a:avLst>
              <a:gd name="adj" fmla="val 50000"/>
            </a:avLst>
          </a:prstGeom>
          <a:solidFill>
            <a:srgbClr val="43C07A"/>
          </a:solidFill>
          <a:ln w="12700">
            <a:solidFill>
              <a:srgbClr val="43C07A"/>
            </a:solidFill>
            <a:prstDash val="solid"/>
          </a:ln>
        </p:spPr>
      </p:sp>
      <p:sp>
        <p:nvSpPr>
          <p:cNvPr id="19" name="Text 15"/>
          <p:cNvSpPr txBox="1"/>
          <p:nvPr/>
        </p:nvSpPr>
        <p:spPr>
          <a:xfrm>
            <a:off x="5480304" y="2340864"/>
            <a:ext cx="1005840" cy="292608"/>
          </a:xfrm>
          <a:prstGeom prst="rect">
            <a:avLst/>
          </a:prstGeom>
          <a:noFill/>
          <a:ln/>
        </p:spPr>
        <p:txBody>
          <a:bodyPr wrap="square" lIns="0" tIns="0" rIns="0" bIns="0" rtlCol="0" anchor="ctr"/>
          <a:lstStyle/>
          <a:p>
            <a:pPr algn="ctr" indent="0" marL="0">
              <a:buNone/>
            </a:pPr>
            <a:r>
              <a:rPr lang="en-US" sz="1100" b="1" dirty="0">
                <a:solidFill>
                  <a:srgbClr val="00220D"/>
                </a:solidFill>
                <a:latin typeface="DM Sans" pitchFamily="34" charset="0"/>
                <a:ea typeface="DM Sans" pitchFamily="34" charset="-122"/>
                <a:cs typeface="DM Sans" pitchFamily="34" charset="-120"/>
              </a:rPr>
              <a:t>staff</a:t>
            </a:r>
            <a:endParaRPr lang="en-US" sz="1100" dirty="0"/>
          </a:p>
        </p:txBody>
      </p:sp>
      <p:sp>
        <p:nvSpPr>
          <p:cNvPr id="20" name="Text 16"/>
          <p:cNvSpPr txBox="1"/>
          <p:nvPr/>
        </p:nvSpPr>
        <p:spPr>
          <a:xfrm>
            <a:off x="4611624" y="2971800"/>
            <a:ext cx="2965704" cy="320040"/>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Can</a:t>
            </a:r>
            <a:endParaRPr lang="en-US" sz="1400" dirty="0"/>
          </a:p>
        </p:txBody>
      </p:sp>
      <p:sp>
        <p:nvSpPr>
          <p:cNvPr id="21" name="Text 17"/>
          <p:cNvSpPr txBox="1"/>
          <p:nvPr/>
        </p:nvSpPr>
        <p:spPr>
          <a:xfrm>
            <a:off x="4611624" y="3383280"/>
            <a:ext cx="2965704" cy="22860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020618"/>
                </a:solidFill>
                <a:latin typeface="DM Sans" pitchFamily="34" charset="0"/>
                <a:ea typeface="DM Sans" pitchFamily="34" charset="-122"/>
                <a:cs typeface="DM Sans" pitchFamily="34" charset="-120"/>
              </a:rPr>
              <a:t>Everything a student can see</a:t>
            </a:r>
            <a:endParaRPr lang="en-US" sz="1300" dirty="0"/>
          </a:p>
          <a:p>
            <a:pPr marL="177800" indent="-177800">
              <a:spcAft>
                <a:spcPts val="800"/>
              </a:spcAft>
              <a:buSzPct val="100000"/>
              <a:buChar char="•"/>
            </a:pPr>
            <a:r>
              <a:rPr lang="en-US" sz="1300" dirty="0">
                <a:solidFill>
                  <a:srgbClr val="020618"/>
                </a:solidFill>
                <a:latin typeface="DM Sans" pitchFamily="34" charset="0"/>
                <a:ea typeface="DM Sans" pitchFamily="34" charset="-122"/>
                <a:cs typeface="DM Sans" pitchFamily="34" charset="-120"/>
              </a:rPr>
              <a:t>Campus statistics, energy and sensor events</a:t>
            </a:r>
            <a:endParaRPr lang="en-US" sz="1300" dirty="0"/>
          </a:p>
          <a:p>
            <a:pPr marL="177800" indent="-177800">
              <a:spcAft>
                <a:spcPts val="800"/>
              </a:spcAft>
              <a:buSzPct val="100000"/>
              <a:buChar char="•"/>
            </a:pPr>
            <a:r>
              <a:rPr lang="en-US" sz="1300" dirty="0">
                <a:solidFill>
                  <a:srgbClr val="020618"/>
                </a:solidFill>
                <a:latin typeface="DM Sans" pitchFamily="34" charset="0"/>
                <a:ea typeface="DM Sans" pitchFamily="34" charset="-122"/>
                <a:cs typeface="DM Sans" pitchFamily="34" charset="-120"/>
              </a:rPr>
              <a:t>View and acknowledge alerts</a:t>
            </a:r>
            <a:endParaRPr lang="en-US" sz="1300" dirty="0"/>
          </a:p>
          <a:p>
            <a:pPr marL="177800" indent="-177800">
              <a:spcAft>
                <a:spcPts val="800"/>
              </a:spcAft>
              <a:buSzPct val="100000"/>
              <a:buChar char="•"/>
            </a:pPr>
            <a:r>
              <a:rPr lang="en-US" sz="1300" dirty="0">
                <a:solidFill>
                  <a:srgbClr val="020618"/>
                </a:solidFill>
                <a:latin typeface="DM Sans" pitchFamily="34" charset="0"/>
                <a:ea typeface="DM Sans" pitchFamily="34" charset="-122"/>
                <a:cs typeface="DM Sans" pitchFamily="34" charset="-120"/>
              </a:rPr>
              <a:t>Manage all service requests</a:t>
            </a:r>
            <a:endParaRPr lang="en-US" sz="1300" dirty="0"/>
          </a:p>
        </p:txBody>
      </p:sp>
      <p:sp>
        <p:nvSpPr>
          <p:cNvPr id="22" name="Shape 18"/>
          <p:cNvSpPr/>
          <p:nvPr/>
        </p:nvSpPr>
        <p:spPr>
          <a:xfrm>
            <a:off x="4611624" y="5166360"/>
            <a:ext cx="2965704" cy="411480"/>
          </a:xfrm>
          <a:prstGeom prst="roundRect">
            <a:avLst>
              <a:gd name="adj" fmla="val 26667"/>
            </a:avLst>
          </a:prstGeom>
          <a:solidFill>
            <a:srgbClr val="F1F5F9"/>
          </a:solidFill>
          <a:ln w="12700">
            <a:solidFill>
              <a:srgbClr val="F1F5F9"/>
            </a:solidFill>
            <a:prstDash val="solid"/>
          </a:ln>
        </p:spPr>
      </p:sp>
      <p:sp>
        <p:nvSpPr>
          <p:cNvPr id="23" name="Text 19"/>
          <p:cNvSpPr txBox="1"/>
          <p:nvPr/>
        </p:nvSpPr>
        <p:spPr>
          <a:xfrm>
            <a:off x="4748784" y="5166360"/>
            <a:ext cx="2691384" cy="411480"/>
          </a:xfrm>
          <a:prstGeom prst="rect">
            <a:avLst/>
          </a:prstGeom>
          <a:noFill/>
          <a:ln/>
        </p:spPr>
        <p:txBody>
          <a:bodyPr wrap="square" lIns="0" tIns="0" rIns="0" bIns="0" rtlCol="0" anchor="ctr"/>
          <a:lstStyle/>
          <a:p>
            <a:pPr indent="0" marL="0">
              <a:buNone/>
            </a:pPr>
            <a:r>
              <a:rPr lang="en-US" sz="1150" dirty="0">
                <a:solidFill>
                  <a:srgbClr val="62748E"/>
                </a:solidFill>
                <a:latin typeface="DM Sans" pitchFamily="34" charset="0"/>
                <a:ea typeface="DM Sans" pitchFamily="34" charset="-122"/>
                <a:cs typeface="DM Sans" pitchFamily="34" charset="-120"/>
              </a:rPr>
              <a:t>Demo user: Jordan Lee</a:t>
            </a:r>
            <a:endParaRPr lang="en-US" sz="1150" dirty="0"/>
          </a:p>
        </p:txBody>
      </p:sp>
      <p:sp>
        <p:nvSpPr>
          <p:cNvPr id="24" name="Shape 20"/>
          <p:cNvSpPr/>
          <p:nvPr/>
        </p:nvSpPr>
        <p:spPr>
          <a:xfrm>
            <a:off x="8125968" y="1737360"/>
            <a:ext cx="3514344" cy="4114800"/>
          </a:xfrm>
          <a:prstGeom prst="roundRect">
            <a:avLst>
              <a:gd name="adj" fmla="val 4163"/>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5" name="Shape 21"/>
          <p:cNvSpPr/>
          <p:nvPr/>
        </p:nvSpPr>
        <p:spPr>
          <a:xfrm>
            <a:off x="8400288" y="2011680"/>
            <a:ext cx="685800" cy="685800"/>
          </a:xfrm>
          <a:prstGeom prst="ellipse">
            <a:avLst/>
          </a:prstGeom>
          <a:solidFill>
            <a:srgbClr val="0F172B"/>
          </a:solidFill>
          <a:ln w="12700">
            <a:solidFill>
              <a:srgbClr val="0F172B"/>
            </a:solidFill>
            <a:prstDash val="solid"/>
          </a:ln>
        </p:spPr>
      </p:sp>
      <p:pic>
        <p:nvPicPr>
          <p:cNvPr id="26" name="Image 2" descr="preencoded.png">    </p:cNvPr>
          <p:cNvPicPr>
            <a:picLocks noChangeAspect="1"/>
          </p:cNvPicPr>
          <p:nvPr/>
        </p:nvPicPr>
        <p:blipFill>
          <a:blip r:embed="rId3"/>
          <a:stretch>
            <a:fillRect/>
          </a:stretch>
        </p:blipFill>
        <p:spPr>
          <a:xfrm>
            <a:off x="8571738" y="2183130"/>
            <a:ext cx="342900" cy="342900"/>
          </a:xfrm>
          <a:prstGeom prst="rect">
            <a:avLst/>
          </a:prstGeom>
        </p:spPr>
      </p:pic>
      <p:sp>
        <p:nvSpPr>
          <p:cNvPr id="27" name="Text 22"/>
          <p:cNvSpPr txBox="1"/>
          <p:nvPr/>
        </p:nvSpPr>
        <p:spPr>
          <a:xfrm>
            <a:off x="9268968" y="2011680"/>
            <a:ext cx="2142744" cy="274320"/>
          </a:xfrm>
          <a:prstGeom prst="rect">
            <a:avLst/>
          </a:prstGeom>
          <a:noFill/>
          <a:ln/>
        </p:spPr>
        <p:txBody>
          <a:bodyPr wrap="square" lIns="0" tIns="0" rIns="0" bIns="0" rtlCol="0" anchor="ctr"/>
          <a:lstStyle/>
          <a:p>
            <a:pPr indent="0" marL="0">
              <a:buNone/>
            </a:pPr>
            <a:r>
              <a:rPr lang="en-US" sz="1000" b="1" spc="200" kern="0" dirty="0">
                <a:solidFill>
                  <a:srgbClr val="62748E"/>
                </a:solidFill>
                <a:latin typeface="DM Sans" pitchFamily="34" charset="0"/>
                <a:ea typeface="DM Sans" pitchFamily="34" charset="-122"/>
                <a:cs typeface="DM Sans" pitchFamily="34" charset="-120"/>
              </a:rPr>
              <a:t>COGNITO GROUP</a:t>
            </a:r>
            <a:endParaRPr lang="en-US" sz="1000" dirty="0"/>
          </a:p>
        </p:txBody>
      </p:sp>
      <p:sp>
        <p:nvSpPr>
          <p:cNvPr id="28" name="Shape 23"/>
          <p:cNvSpPr/>
          <p:nvPr/>
        </p:nvSpPr>
        <p:spPr>
          <a:xfrm>
            <a:off x="9268968" y="2340864"/>
            <a:ext cx="1005840" cy="292608"/>
          </a:xfrm>
          <a:prstGeom prst="roundRect">
            <a:avLst>
              <a:gd name="adj" fmla="val 50000"/>
            </a:avLst>
          </a:prstGeom>
          <a:solidFill>
            <a:srgbClr val="0F172B"/>
          </a:solidFill>
          <a:ln w="12700">
            <a:solidFill>
              <a:srgbClr val="0F172B"/>
            </a:solidFill>
            <a:prstDash val="solid"/>
          </a:ln>
        </p:spPr>
      </p:sp>
      <p:sp>
        <p:nvSpPr>
          <p:cNvPr id="29" name="Text 24"/>
          <p:cNvSpPr txBox="1"/>
          <p:nvPr/>
        </p:nvSpPr>
        <p:spPr>
          <a:xfrm>
            <a:off x="9268968" y="2340864"/>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DM Sans" pitchFamily="34" charset="0"/>
                <a:ea typeface="DM Sans" pitchFamily="34" charset="-122"/>
                <a:cs typeface="DM Sans" pitchFamily="34" charset="-120"/>
              </a:rPr>
              <a:t>admin</a:t>
            </a:r>
            <a:endParaRPr lang="en-US" sz="1100" dirty="0"/>
          </a:p>
        </p:txBody>
      </p:sp>
      <p:sp>
        <p:nvSpPr>
          <p:cNvPr id="30" name="Text 25"/>
          <p:cNvSpPr txBox="1"/>
          <p:nvPr/>
        </p:nvSpPr>
        <p:spPr>
          <a:xfrm>
            <a:off x="8400288" y="2971800"/>
            <a:ext cx="2965704" cy="320040"/>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Can</a:t>
            </a:r>
            <a:endParaRPr lang="en-US" sz="1400" dirty="0"/>
          </a:p>
        </p:txBody>
      </p:sp>
      <p:sp>
        <p:nvSpPr>
          <p:cNvPr id="31" name="Text 26"/>
          <p:cNvSpPr txBox="1"/>
          <p:nvPr/>
        </p:nvSpPr>
        <p:spPr>
          <a:xfrm>
            <a:off x="8400288" y="3383280"/>
            <a:ext cx="2965704" cy="22860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020618"/>
                </a:solidFill>
                <a:latin typeface="DM Sans" pitchFamily="34" charset="0"/>
                <a:ea typeface="DM Sans" pitchFamily="34" charset="-122"/>
                <a:cs typeface="DM Sans" pitchFamily="34" charset="-120"/>
              </a:rPr>
              <a:t>Everything staff can do</a:t>
            </a:r>
            <a:endParaRPr lang="en-US" sz="1300" dirty="0"/>
          </a:p>
          <a:p>
            <a:pPr marL="177800" indent="-177800">
              <a:spcAft>
                <a:spcPts val="800"/>
              </a:spcAft>
              <a:buSzPct val="100000"/>
              <a:buChar char="•"/>
            </a:pPr>
            <a:r>
              <a:rPr lang="en-US" sz="1300" dirty="0">
                <a:solidFill>
                  <a:srgbClr val="020618"/>
                </a:solidFill>
                <a:latin typeface="DM Sans" pitchFamily="34" charset="0"/>
                <a:ea typeface="DM Sans" pitchFamily="34" charset="-122"/>
                <a:cs typeface="DM Sans" pitchFamily="34" charset="-120"/>
              </a:rPr>
              <a:t>Change the alert thresholds</a:t>
            </a:r>
            <a:endParaRPr lang="en-US" sz="1300" dirty="0"/>
          </a:p>
        </p:txBody>
      </p:sp>
      <p:sp>
        <p:nvSpPr>
          <p:cNvPr id="32" name="Shape 27"/>
          <p:cNvSpPr/>
          <p:nvPr/>
        </p:nvSpPr>
        <p:spPr>
          <a:xfrm>
            <a:off x="8400288" y="5166360"/>
            <a:ext cx="2965704" cy="411480"/>
          </a:xfrm>
          <a:prstGeom prst="roundRect">
            <a:avLst>
              <a:gd name="adj" fmla="val 26667"/>
            </a:avLst>
          </a:prstGeom>
          <a:solidFill>
            <a:srgbClr val="F1F5F9"/>
          </a:solidFill>
          <a:ln w="12700">
            <a:solidFill>
              <a:srgbClr val="F1F5F9"/>
            </a:solidFill>
            <a:prstDash val="solid"/>
          </a:ln>
        </p:spPr>
      </p:sp>
      <p:sp>
        <p:nvSpPr>
          <p:cNvPr id="33" name="Text 28"/>
          <p:cNvSpPr txBox="1"/>
          <p:nvPr/>
        </p:nvSpPr>
        <p:spPr>
          <a:xfrm>
            <a:off x="8537448" y="5166360"/>
            <a:ext cx="2691384" cy="411480"/>
          </a:xfrm>
          <a:prstGeom prst="rect">
            <a:avLst/>
          </a:prstGeom>
          <a:noFill/>
          <a:ln/>
        </p:spPr>
        <p:txBody>
          <a:bodyPr wrap="square" lIns="0" tIns="0" rIns="0" bIns="0" rtlCol="0" anchor="ctr"/>
          <a:lstStyle/>
          <a:p>
            <a:pPr indent="0" marL="0">
              <a:buNone/>
            </a:pPr>
            <a:r>
              <a:rPr lang="en-US" sz="1150" dirty="0">
                <a:solidFill>
                  <a:srgbClr val="62748E"/>
                </a:solidFill>
                <a:latin typeface="DM Sans" pitchFamily="34" charset="0"/>
                <a:ea typeface="DM Sans" pitchFamily="34" charset="-122"/>
                <a:cs typeface="DM Sans" pitchFamily="34" charset="-120"/>
              </a:rPr>
              <a:t>Demo user: Alex Morgan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groups</dc:title>
  <dc:subject>PptxGenJS Presentation</dc:subject>
  <dc:creator>PptxGenJS</dc:creator>
  <cp:lastModifiedBy>PptxGenJS</cp:lastModifiedBy>
  <cp:revision>1</cp:revision>
  <dcterms:created xsi:type="dcterms:W3CDTF">2026-09-19T09:35:07Z</dcterms:created>
  <dcterms:modified xsi:type="dcterms:W3CDTF">2026-09-19T09:35:07Z</dcterms:modified>
</cp:coreProperties>
</file>