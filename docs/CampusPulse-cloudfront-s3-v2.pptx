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CloudFront, a content delivery network, so we get edge locations that sit between users and our S3 bucket. CloudFront caches the files, which makes responses faster. For HTTPS we use the CloudFront default certificate. We set up origin failover with two origins: the dashboard bucket in Virginia (us-east-1) and its replicated copy in Paris (eu-west-3). You can see them here in the console, with the origin group dashboard-failover that switches on 500, 502, 503 and 504 errors. And the bucket policies allow only CloudFront to read the files: both origins use the same Origin Access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5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640080"/>
          </a:xfrm>
          <a:prstGeom prst="rect">
            <a:avLst/>
          </a:prstGeom>
          <a:noFill/>
          <a:ln/>
        </p:spPr>
        <p:txBody>
          <a:bodyPr wrap="square" lIns="0" tIns="0" rIns="0" bIns="0" rtlCol="0" anchor="ctr"/>
          <a:lstStyle/>
          <a:p>
            <a:pPr indent="0" marL="0">
              <a:buNone/>
            </a:pPr>
            <a:r>
              <a:rPr lang="en-US" sz="3400" b="1" dirty="0">
                <a:solidFill>
                  <a:srgbClr val="020618"/>
                </a:solidFill>
                <a:latin typeface="Space Grotesk" pitchFamily="34" charset="0"/>
                <a:ea typeface="Space Grotesk" pitchFamily="34" charset="-122"/>
                <a:cs typeface="Space Grotesk" pitchFamily="34" charset="-120"/>
              </a:rPr>
              <a:t>CloudFront + S3</a:t>
            </a:r>
            <a:endParaRPr lang="en-US" sz="34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indent="0" marL="0">
              <a:buNone/>
            </a:pPr>
            <a:r>
              <a:rPr lang="en-US" sz="1400" dirty="0">
                <a:solidFill>
                  <a:srgbClr val="62748E"/>
                </a:solidFill>
                <a:latin typeface="DM Sans" pitchFamily="34" charset="0"/>
                <a:ea typeface="DM Sans" pitchFamily="34" charset="-122"/>
                <a:cs typeface="DM Sans" pitchFamily="34" charset="-120"/>
              </a:rPr>
              <a:t>How the dashboard reaches users: fast, over HTTPS, with a backup copy, and a bucket nobody else can read.</a:t>
            </a:r>
            <a:endParaRPr lang="en-US" sz="1400" dirty="0"/>
          </a:p>
        </p:txBody>
      </p:sp>
      <p:sp>
        <p:nvSpPr>
          <p:cNvPr id="4" name="Shape 2"/>
          <p:cNvSpPr/>
          <p:nvPr/>
        </p:nvSpPr>
        <p:spPr>
          <a:xfrm>
            <a:off x="548640" y="1920240"/>
            <a:ext cx="2011680" cy="914400"/>
          </a:xfrm>
          <a:prstGeom prst="roundRect">
            <a:avLst>
              <a:gd name="adj" fmla="val 16000"/>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5" name="Shape 3"/>
          <p:cNvSpPr/>
          <p:nvPr/>
        </p:nvSpPr>
        <p:spPr>
          <a:xfrm>
            <a:off x="731520" y="2103120"/>
            <a:ext cx="512064" cy="512064"/>
          </a:xfrm>
          <a:prstGeom prst="ellipse">
            <a:avLst/>
          </a:prstGeom>
          <a:solidFill>
            <a:srgbClr val="0F172B"/>
          </a:solidFill>
          <a:ln w="12700">
            <a:solidFill>
              <a:srgbClr val="0F172B"/>
            </a:solidFill>
            <a:prstDash val="solid"/>
          </a:ln>
        </p:spPr>
      </p:sp>
      <p:pic>
        <p:nvPicPr>
          <p:cNvPr id="6" name="Image 0" descr="preencoded.png">    </p:cNvPr>
          <p:cNvPicPr>
            <a:picLocks noChangeAspect="1"/>
          </p:cNvPicPr>
          <p:nvPr/>
        </p:nvPicPr>
        <p:blipFill>
          <a:blip r:embed="rId1"/>
          <a:stretch>
            <a:fillRect/>
          </a:stretch>
        </p:blipFill>
        <p:spPr>
          <a:xfrm>
            <a:off x="859536" y="2231136"/>
            <a:ext cx="256032" cy="256032"/>
          </a:xfrm>
          <a:prstGeom prst="rect">
            <a:avLst/>
          </a:prstGeom>
        </p:spPr>
      </p:pic>
      <p:sp>
        <p:nvSpPr>
          <p:cNvPr id="7" name="Text 4"/>
          <p:cNvSpPr txBox="1"/>
          <p:nvPr/>
        </p:nvSpPr>
        <p:spPr>
          <a:xfrm>
            <a:off x="1371600" y="2103120"/>
            <a:ext cx="1097280" cy="512064"/>
          </a:xfrm>
          <a:prstGeom prst="rect">
            <a:avLst/>
          </a:prstGeom>
          <a:noFill/>
          <a:ln/>
        </p:spPr>
        <p:txBody>
          <a:bodyPr wrap="square" lIns="0" tIns="0" rIns="0" bIns="0" rtlCol="0" anchor="ctr"/>
          <a:lstStyle/>
          <a:p>
            <a:pPr indent="0" marL="0">
              <a:buNone/>
            </a:pPr>
            <a:r>
              <a:rPr lang="en-US" sz="1600" b="1" dirty="0">
                <a:solidFill>
                  <a:srgbClr val="020618"/>
                </a:solidFill>
                <a:latin typeface="Space Grotesk" pitchFamily="34" charset="0"/>
                <a:ea typeface="Space Grotesk" pitchFamily="34" charset="-122"/>
                <a:cs typeface="Space Grotesk" pitchFamily="34" charset="-120"/>
              </a:rPr>
              <a:t>Users</a:t>
            </a:r>
            <a:endParaRPr lang="en-US" sz="1600" dirty="0"/>
          </a:p>
        </p:txBody>
      </p:sp>
      <p:sp>
        <p:nvSpPr>
          <p:cNvPr id="8" name="Shape 5"/>
          <p:cNvSpPr/>
          <p:nvPr/>
        </p:nvSpPr>
        <p:spPr>
          <a:xfrm>
            <a:off x="2633472" y="2377440"/>
            <a:ext cx="768096" cy="0"/>
          </a:xfrm>
          <a:prstGeom prst="line">
            <a:avLst/>
          </a:prstGeom>
          <a:noFill/>
          <a:ln w="22225">
            <a:solidFill>
              <a:srgbClr val="62748E"/>
            </a:solidFill>
            <a:prstDash val="solid"/>
            <a:tailEnd type="triangle"/>
          </a:ln>
        </p:spPr>
      </p:sp>
      <p:sp>
        <p:nvSpPr>
          <p:cNvPr id="9" name="Text 6"/>
          <p:cNvSpPr txBox="1"/>
          <p:nvPr/>
        </p:nvSpPr>
        <p:spPr>
          <a:xfrm>
            <a:off x="2560320" y="2084832"/>
            <a:ext cx="914400" cy="256032"/>
          </a:xfrm>
          <a:prstGeom prst="rect">
            <a:avLst/>
          </a:prstGeom>
          <a:noFill/>
          <a:ln/>
        </p:spPr>
        <p:txBody>
          <a:bodyPr wrap="square" lIns="0" tIns="0" rIns="0" bIns="0" rtlCol="0" anchor="b"/>
          <a:lstStyle/>
          <a:p>
            <a:pPr algn="ctr" indent="0" marL="0">
              <a:buNone/>
            </a:pPr>
            <a:r>
              <a:rPr lang="en-US" sz="1000" b="1" dirty="0">
                <a:solidFill>
                  <a:srgbClr val="62748E"/>
                </a:solidFill>
                <a:latin typeface="DM Sans" pitchFamily="34" charset="0"/>
                <a:ea typeface="DM Sans" pitchFamily="34" charset="-122"/>
                <a:cs typeface="DM Sans" pitchFamily="34" charset="-120"/>
              </a:rPr>
              <a:t>HTTPS</a:t>
            </a:r>
            <a:endParaRPr lang="en-US" sz="1000" dirty="0"/>
          </a:p>
        </p:txBody>
      </p:sp>
      <p:sp>
        <p:nvSpPr>
          <p:cNvPr id="10" name="Shape 7"/>
          <p:cNvSpPr/>
          <p:nvPr/>
        </p:nvSpPr>
        <p:spPr>
          <a:xfrm>
            <a:off x="3474720" y="1554480"/>
            <a:ext cx="3566160" cy="1691640"/>
          </a:xfrm>
          <a:prstGeom prst="roundRect">
            <a:avLst>
              <a:gd name="adj" fmla="val 8649"/>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11" name="Shape 8"/>
          <p:cNvSpPr/>
          <p:nvPr/>
        </p:nvSpPr>
        <p:spPr>
          <a:xfrm>
            <a:off x="3675888" y="1737360"/>
            <a:ext cx="475488" cy="475488"/>
          </a:xfrm>
          <a:prstGeom prst="ellipse">
            <a:avLst/>
          </a:prstGeom>
          <a:solidFill>
            <a:srgbClr val="F54900"/>
          </a:solidFill>
          <a:ln w="12700">
            <a:solidFill>
              <a:srgbClr val="F54900"/>
            </a:solidFill>
            <a:prstDash val="solid"/>
          </a:ln>
        </p:spPr>
      </p:sp>
      <p:pic>
        <p:nvPicPr>
          <p:cNvPr id="12" name="Image 1" descr="preencoded.png">    </p:cNvPr>
          <p:cNvPicPr>
            <a:picLocks noChangeAspect="1"/>
          </p:cNvPicPr>
          <p:nvPr/>
        </p:nvPicPr>
        <p:blipFill>
          <a:blip r:embed="rId2"/>
          <a:stretch>
            <a:fillRect/>
          </a:stretch>
        </p:blipFill>
        <p:spPr>
          <a:xfrm>
            <a:off x="3794760" y="1856232"/>
            <a:ext cx="237744" cy="237744"/>
          </a:xfrm>
          <a:prstGeom prst="rect">
            <a:avLst/>
          </a:prstGeom>
        </p:spPr>
      </p:pic>
      <p:sp>
        <p:nvSpPr>
          <p:cNvPr id="13" name="Text 9"/>
          <p:cNvSpPr txBox="1"/>
          <p:nvPr/>
        </p:nvSpPr>
        <p:spPr>
          <a:xfrm>
            <a:off x="4251960" y="1737360"/>
            <a:ext cx="2560320" cy="475488"/>
          </a:xfrm>
          <a:prstGeom prst="rect">
            <a:avLst/>
          </a:prstGeom>
          <a:noFill/>
          <a:ln/>
        </p:spPr>
        <p:txBody>
          <a:bodyPr wrap="square" lIns="0" tIns="0" rIns="0" bIns="0" rtlCol="0" anchor="ctr"/>
          <a:lstStyle/>
          <a:p>
            <a:pPr indent="0" marL="0">
              <a:buNone/>
            </a:pPr>
            <a:r>
              <a:rPr lang="en-US" sz="1700" b="1" dirty="0">
                <a:solidFill>
                  <a:srgbClr val="020618"/>
                </a:solidFill>
                <a:latin typeface="Space Grotesk" pitchFamily="34" charset="0"/>
                <a:ea typeface="Space Grotesk" pitchFamily="34" charset="-122"/>
                <a:cs typeface="Space Grotesk" pitchFamily="34" charset="-120"/>
              </a:rPr>
              <a:t>CloudFront</a:t>
            </a:r>
            <a:endParaRPr lang="en-US" sz="1700" dirty="0"/>
          </a:p>
        </p:txBody>
      </p:sp>
      <p:sp>
        <p:nvSpPr>
          <p:cNvPr id="14" name="Text 10"/>
          <p:cNvSpPr txBox="1"/>
          <p:nvPr/>
        </p:nvSpPr>
        <p:spPr>
          <a:xfrm>
            <a:off x="3675888" y="2331720"/>
            <a:ext cx="3200400" cy="822960"/>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020618"/>
                </a:solidFill>
                <a:latin typeface="DM Sans" pitchFamily="34" charset="0"/>
                <a:ea typeface="DM Sans" pitchFamily="34" charset="-122"/>
                <a:cs typeface="DM Sans" pitchFamily="34" charset="-120"/>
              </a:rPr>
              <a:t>CDN: edge locations cache the files</a:t>
            </a:r>
            <a:endParaRPr lang="en-US" sz="1150" dirty="0"/>
          </a:p>
          <a:p>
            <a:pPr marL="152400" indent="-152400">
              <a:spcAft>
                <a:spcPts val="300"/>
              </a:spcAft>
              <a:buSzPct val="100000"/>
              <a:buChar char="•"/>
            </a:pPr>
            <a:r>
              <a:rPr lang="en-US" sz="1150" dirty="0">
                <a:solidFill>
                  <a:srgbClr val="020618"/>
                </a:solidFill>
                <a:latin typeface="DM Sans" pitchFamily="34" charset="0"/>
                <a:ea typeface="DM Sans" pitchFamily="34" charset="-122"/>
                <a:cs typeface="DM Sans" pitchFamily="34" charset="-120"/>
              </a:rPr>
              <a:t>HTTPS with the default certificate</a:t>
            </a:r>
            <a:endParaRPr lang="en-US" sz="1150" dirty="0"/>
          </a:p>
          <a:p>
            <a:pPr marL="152400" indent="-152400">
              <a:spcAft>
                <a:spcPts val="300"/>
              </a:spcAft>
              <a:buSzPct val="100000"/>
              <a:buChar char="•"/>
            </a:pPr>
            <a:r>
              <a:rPr lang="en-US" sz="1150" dirty="0">
                <a:solidFill>
                  <a:srgbClr val="020618"/>
                </a:solidFill>
                <a:latin typeface="DM Sans" pitchFamily="34" charset="0"/>
                <a:ea typeface="DM Sans" pitchFamily="34" charset="-122"/>
                <a:cs typeface="DM Sans" pitchFamily="34" charset="-120"/>
              </a:rPr>
              <a:t>Fails over to Paris on 5xx errors</a:t>
            </a:r>
            <a:endParaRPr lang="en-US" sz="1150" dirty="0"/>
          </a:p>
        </p:txBody>
      </p:sp>
      <p:sp>
        <p:nvSpPr>
          <p:cNvPr id="15" name="Shape 11"/>
          <p:cNvSpPr/>
          <p:nvPr/>
        </p:nvSpPr>
        <p:spPr>
          <a:xfrm>
            <a:off x="8092440" y="1554480"/>
            <a:ext cx="3547872" cy="777240"/>
          </a:xfrm>
          <a:prstGeom prst="roundRect">
            <a:avLst>
              <a:gd name="adj" fmla="val 18824"/>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16" name="Shape 12"/>
          <p:cNvSpPr/>
          <p:nvPr/>
        </p:nvSpPr>
        <p:spPr>
          <a:xfrm>
            <a:off x="8257032" y="1709928"/>
            <a:ext cx="457200" cy="457200"/>
          </a:xfrm>
          <a:prstGeom prst="ellipse">
            <a:avLst/>
          </a:prstGeom>
          <a:solidFill>
            <a:srgbClr val="009689"/>
          </a:solidFill>
          <a:ln w="12700">
            <a:solidFill>
              <a:srgbClr val="009689"/>
            </a:solidFill>
            <a:prstDash val="solid"/>
          </a:ln>
        </p:spPr>
      </p:sp>
      <p:pic>
        <p:nvPicPr>
          <p:cNvPr id="17" name="Image 2" descr="preencoded.png">    </p:cNvPr>
          <p:cNvPicPr>
            <a:picLocks noChangeAspect="1"/>
          </p:cNvPicPr>
          <p:nvPr/>
        </p:nvPicPr>
        <p:blipFill>
          <a:blip r:embed="rId3"/>
          <a:stretch>
            <a:fillRect/>
          </a:stretch>
        </p:blipFill>
        <p:spPr>
          <a:xfrm>
            <a:off x="8371332" y="1824228"/>
            <a:ext cx="228600" cy="228600"/>
          </a:xfrm>
          <a:prstGeom prst="rect">
            <a:avLst/>
          </a:prstGeom>
        </p:spPr>
      </p:pic>
      <p:sp>
        <p:nvSpPr>
          <p:cNvPr id="18" name="Text 13"/>
          <p:cNvSpPr txBox="1"/>
          <p:nvPr/>
        </p:nvSpPr>
        <p:spPr>
          <a:xfrm>
            <a:off x="8842248" y="1664208"/>
            <a:ext cx="2359152" cy="301752"/>
          </a:xfrm>
          <a:prstGeom prst="rect">
            <a:avLst/>
          </a:prstGeom>
          <a:noFill/>
          <a:ln/>
        </p:spPr>
        <p:txBody>
          <a:bodyPr wrap="square" lIns="0" tIns="0" rIns="0" bIns="0" rtlCol="0" anchor="ctr"/>
          <a:lstStyle/>
          <a:p>
            <a:pPr indent="0" marL="0">
              <a:buNone/>
            </a:pPr>
            <a:r>
              <a:rPr lang="en-US" sz="1350" b="1" dirty="0">
                <a:solidFill>
                  <a:srgbClr val="020618"/>
                </a:solidFill>
                <a:latin typeface="Space Grotesk" pitchFamily="34" charset="0"/>
                <a:ea typeface="Space Grotesk" pitchFamily="34" charset="-122"/>
                <a:cs typeface="Space Grotesk" pitchFamily="34" charset="-120"/>
              </a:rPr>
              <a:t>S3 · Virginia (primary)</a:t>
            </a:r>
            <a:endParaRPr lang="en-US" sz="1350" dirty="0"/>
          </a:p>
        </p:txBody>
      </p:sp>
      <p:sp>
        <p:nvSpPr>
          <p:cNvPr id="19" name="Text 14"/>
          <p:cNvSpPr txBox="1"/>
          <p:nvPr/>
        </p:nvSpPr>
        <p:spPr>
          <a:xfrm>
            <a:off x="8842248" y="1965960"/>
            <a:ext cx="2359152" cy="256032"/>
          </a:xfrm>
          <a:prstGeom prst="rect">
            <a:avLst/>
          </a:prstGeom>
          <a:noFill/>
          <a:ln/>
        </p:spPr>
        <p:txBody>
          <a:bodyPr wrap="square" lIns="0" tIns="0" rIns="0" bIns="0" rtlCol="0" anchor="ctr"/>
          <a:lstStyle/>
          <a:p>
            <a:pPr indent="0" marL="0">
              <a:buNone/>
            </a:pPr>
            <a:r>
              <a:rPr lang="en-US" sz="1050" dirty="0">
                <a:solidFill>
                  <a:srgbClr val="62748E"/>
                </a:solidFill>
                <a:latin typeface="DM Sans" pitchFamily="34" charset="0"/>
                <a:ea typeface="DM Sans" pitchFamily="34" charset="-122"/>
                <a:cs typeface="DM Sans" pitchFamily="34" charset="-120"/>
              </a:rPr>
              <a:t>Private · only CloudFront can read</a:t>
            </a:r>
            <a:endParaRPr lang="en-US" sz="1050" dirty="0"/>
          </a:p>
        </p:txBody>
      </p:sp>
      <p:pic>
        <p:nvPicPr>
          <p:cNvPr id="20" name="Image 3" descr="preencoded.png">    </p:cNvPr>
          <p:cNvPicPr>
            <a:picLocks noChangeAspect="1"/>
          </p:cNvPicPr>
          <p:nvPr/>
        </p:nvPicPr>
        <p:blipFill>
          <a:blip r:embed="rId4"/>
          <a:stretch>
            <a:fillRect/>
          </a:stretch>
        </p:blipFill>
        <p:spPr>
          <a:xfrm>
            <a:off x="11228832" y="1810512"/>
            <a:ext cx="237744" cy="237744"/>
          </a:xfrm>
          <a:prstGeom prst="rect">
            <a:avLst/>
          </a:prstGeom>
        </p:spPr>
      </p:pic>
      <p:sp>
        <p:nvSpPr>
          <p:cNvPr id="21" name="Shape 15"/>
          <p:cNvSpPr/>
          <p:nvPr/>
        </p:nvSpPr>
        <p:spPr>
          <a:xfrm>
            <a:off x="8092440" y="2468880"/>
            <a:ext cx="3547872" cy="777240"/>
          </a:xfrm>
          <a:prstGeom prst="roundRect">
            <a:avLst>
              <a:gd name="adj" fmla="val 18824"/>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22" name="Shape 16"/>
          <p:cNvSpPr/>
          <p:nvPr/>
        </p:nvSpPr>
        <p:spPr>
          <a:xfrm>
            <a:off x="8257032" y="2624328"/>
            <a:ext cx="457200" cy="457200"/>
          </a:xfrm>
          <a:prstGeom prst="ellipse">
            <a:avLst/>
          </a:prstGeom>
          <a:solidFill>
            <a:srgbClr val="0F172B"/>
          </a:solidFill>
          <a:ln w="12700">
            <a:solidFill>
              <a:srgbClr val="0F172B"/>
            </a:solidFill>
            <a:prstDash val="solid"/>
          </a:ln>
        </p:spPr>
      </p:sp>
      <p:pic>
        <p:nvPicPr>
          <p:cNvPr id="23" name="Image 4" descr="preencoded.png">    </p:cNvPr>
          <p:cNvPicPr>
            <a:picLocks noChangeAspect="1"/>
          </p:cNvPicPr>
          <p:nvPr/>
        </p:nvPicPr>
        <p:blipFill>
          <a:blip r:embed="rId5"/>
          <a:stretch>
            <a:fillRect/>
          </a:stretch>
        </p:blipFill>
        <p:spPr>
          <a:xfrm>
            <a:off x="8371332" y="2738628"/>
            <a:ext cx="228600" cy="228600"/>
          </a:xfrm>
          <a:prstGeom prst="rect">
            <a:avLst/>
          </a:prstGeom>
        </p:spPr>
      </p:pic>
      <p:sp>
        <p:nvSpPr>
          <p:cNvPr id="24" name="Text 17"/>
          <p:cNvSpPr txBox="1"/>
          <p:nvPr/>
        </p:nvSpPr>
        <p:spPr>
          <a:xfrm>
            <a:off x="8842248" y="2578608"/>
            <a:ext cx="2359152" cy="301752"/>
          </a:xfrm>
          <a:prstGeom prst="rect">
            <a:avLst/>
          </a:prstGeom>
          <a:noFill/>
          <a:ln/>
        </p:spPr>
        <p:txBody>
          <a:bodyPr wrap="square" lIns="0" tIns="0" rIns="0" bIns="0" rtlCol="0" anchor="ctr"/>
          <a:lstStyle/>
          <a:p>
            <a:pPr indent="0" marL="0">
              <a:buNone/>
            </a:pPr>
            <a:r>
              <a:rPr lang="en-US" sz="1350" b="1" dirty="0">
                <a:solidFill>
                  <a:srgbClr val="020618"/>
                </a:solidFill>
                <a:latin typeface="Space Grotesk" pitchFamily="34" charset="0"/>
                <a:ea typeface="Space Grotesk" pitchFamily="34" charset="-122"/>
                <a:cs typeface="Space Grotesk" pitchFamily="34" charset="-120"/>
              </a:rPr>
              <a:t>S3 · Paris (copy)</a:t>
            </a:r>
            <a:endParaRPr lang="en-US" sz="1350" dirty="0"/>
          </a:p>
        </p:txBody>
      </p:sp>
      <p:sp>
        <p:nvSpPr>
          <p:cNvPr id="25" name="Text 18"/>
          <p:cNvSpPr txBox="1"/>
          <p:nvPr/>
        </p:nvSpPr>
        <p:spPr>
          <a:xfrm>
            <a:off x="8842248" y="2880360"/>
            <a:ext cx="2359152" cy="256032"/>
          </a:xfrm>
          <a:prstGeom prst="rect">
            <a:avLst/>
          </a:prstGeom>
          <a:noFill/>
          <a:ln/>
        </p:spPr>
        <p:txBody>
          <a:bodyPr wrap="square" lIns="0" tIns="0" rIns="0" bIns="0" rtlCol="0" anchor="ctr"/>
          <a:lstStyle/>
          <a:p>
            <a:pPr indent="0" marL="0">
              <a:buNone/>
            </a:pPr>
            <a:r>
              <a:rPr lang="en-US" sz="1050" dirty="0">
                <a:solidFill>
                  <a:srgbClr val="62748E"/>
                </a:solidFill>
                <a:latin typeface="DM Sans" pitchFamily="34" charset="0"/>
                <a:ea typeface="DM Sans" pitchFamily="34" charset="-122"/>
                <a:cs typeface="DM Sans" pitchFamily="34" charset="-120"/>
              </a:rPr>
              <a:t>Private · only CloudFront can read</a:t>
            </a:r>
            <a:endParaRPr lang="en-US" sz="1050" dirty="0"/>
          </a:p>
        </p:txBody>
      </p:sp>
      <p:pic>
        <p:nvPicPr>
          <p:cNvPr id="26" name="Image 5" descr="preencoded.png">    </p:cNvPr>
          <p:cNvPicPr>
            <a:picLocks noChangeAspect="1"/>
          </p:cNvPicPr>
          <p:nvPr/>
        </p:nvPicPr>
        <p:blipFill>
          <a:blip r:embed="rId6"/>
          <a:stretch>
            <a:fillRect/>
          </a:stretch>
        </p:blipFill>
        <p:spPr>
          <a:xfrm>
            <a:off x="11228832" y="2724912"/>
            <a:ext cx="237744" cy="237744"/>
          </a:xfrm>
          <a:prstGeom prst="rect">
            <a:avLst/>
          </a:prstGeom>
        </p:spPr>
      </p:pic>
      <p:sp>
        <p:nvSpPr>
          <p:cNvPr id="27" name="Shape 19"/>
          <p:cNvSpPr/>
          <p:nvPr/>
        </p:nvSpPr>
        <p:spPr>
          <a:xfrm>
            <a:off x="7114032" y="1938528"/>
            <a:ext cx="905256" cy="0"/>
          </a:xfrm>
          <a:prstGeom prst="line">
            <a:avLst/>
          </a:prstGeom>
          <a:noFill/>
          <a:ln w="22225">
            <a:solidFill>
              <a:srgbClr val="62748E"/>
            </a:solidFill>
            <a:prstDash val="solid"/>
            <a:tailEnd type="triangle"/>
          </a:ln>
        </p:spPr>
      </p:sp>
      <p:sp>
        <p:nvSpPr>
          <p:cNvPr id="28" name="Text 20"/>
          <p:cNvSpPr txBox="1"/>
          <p:nvPr/>
        </p:nvSpPr>
        <p:spPr>
          <a:xfrm>
            <a:off x="7040880" y="1664208"/>
            <a:ext cx="1051560" cy="256032"/>
          </a:xfrm>
          <a:prstGeom prst="rect">
            <a:avLst/>
          </a:prstGeom>
          <a:noFill/>
          <a:ln/>
        </p:spPr>
        <p:txBody>
          <a:bodyPr wrap="square" lIns="0" tIns="0" rIns="0" bIns="0" rtlCol="0" anchor="b"/>
          <a:lstStyle/>
          <a:p>
            <a:pPr algn="ctr" indent="0" marL="0">
              <a:buNone/>
            </a:pPr>
            <a:r>
              <a:rPr lang="en-US" sz="1000" b="1" dirty="0">
                <a:solidFill>
                  <a:srgbClr val="62748E"/>
                </a:solidFill>
                <a:latin typeface="DM Sans" pitchFamily="34" charset="0"/>
                <a:ea typeface="DM Sans" pitchFamily="34" charset="-122"/>
                <a:cs typeface="DM Sans" pitchFamily="34" charset="-120"/>
              </a:rPr>
              <a:t>primary</a:t>
            </a:r>
            <a:endParaRPr lang="en-US" sz="1000" dirty="0"/>
          </a:p>
        </p:txBody>
      </p:sp>
      <p:sp>
        <p:nvSpPr>
          <p:cNvPr id="29" name="Shape 21"/>
          <p:cNvSpPr/>
          <p:nvPr/>
        </p:nvSpPr>
        <p:spPr>
          <a:xfrm>
            <a:off x="7114032" y="2852928"/>
            <a:ext cx="905256" cy="0"/>
          </a:xfrm>
          <a:prstGeom prst="line">
            <a:avLst/>
          </a:prstGeom>
          <a:noFill/>
          <a:ln w="22225">
            <a:solidFill>
              <a:srgbClr val="62748E"/>
            </a:solidFill>
            <a:prstDash val="dash"/>
            <a:tailEnd type="triangle"/>
          </a:ln>
        </p:spPr>
      </p:sp>
      <p:sp>
        <p:nvSpPr>
          <p:cNvPr id="30" name="Text 22"/>
          <p:cNvSpPr txBox="1"/>
          <p:nvPr/>
        </p:nvSpPr>
        <p:spPr>
          <a:xfrm>
            <a:off x="7040880" y="2578608"/>
            <a:ext cx="1051560" cy="256032"/>
          </a:xfrm>
          <a:prstGeom prst="rect">
            <a:avLst/>
          </a:prstGeom>
          <a:noFill/>
          <a:ln/>
        </p:spPr>
        <p:txBody>
          <a:bodyPr wrap="square" lIns="0" tIns="0" rIns="0" bIns="0" rtlCol="0" anchor="b"/>
          <a:lstStyle/>
          <a:p>
            <a:pPr algn="ctr" indent="0" marL="0">
              <a:buNone/>
            </a:pPr>
            <a:r>
              <a:rPr lang="en-US" sz="1000" b="1" dirty="0">
                <a:solidFill>
                  <a:srgbClr val="62748E"/>
                </a:solidFill>
                <a:latin typeface="DM Sans" pitchFamily="34" charset="0"/>
                <a:ea typeface="DM Sans" pitchFamily="34" charset="-122"/>
                <a:cs typeface="DM Sans" pitchFamily="34" charset="-120"/>
              </a:rPr>
              <a:t>if 5xx errors</a:t>
            </a:r>
            <a:endParaRPr lang="en-US" sz="1000" dirty="0"/>
          </a:p>
        </p:txBody>
      </p:sp>
      <p:sp>
        <p:nvSpPr>
          <p:cNvPr id="31" name="Shape 23"/>
          <p:cNvSpPr/>
          <p:nvPr/>
        </p:nvSpPr>
        <p:spPr>
          <a:xfrm>
            <a:off x="548640" y="3520440"/>
            <a:ext cx="11091672" cy="2971800"/>
          </a:xfrm>
          <a:prstGeom prst="roundRect">
            <a:avLst>
              <a:gd name="adj" fmla="val 4923"/>
            </a:avLst>
          </a:prstGeom>
          <a:solidFill>
            <a:srgbClr val="FFFFFF"/>
          </a:solidFill>
          <a:ln w="9525">
            <a:solidFill>
              <a:srgbClr val="E2E8F0"/>
            </a:solidFill>
            <a:prstDash val="solid"/>
          </a:ln>
          <a:effectLst>
            <a:outerShdw sx="100000" sy="100000" kx="0" ky="0" algn="bl" rotWithShape="0" blurRad="101600" dist="25400" dir="5400000">
              <a:srgbClr val="0F172B">
                <a:alpha val="8000"/>
              </a:srgbClr>
            </a:outerShdw>
          </a:effectLst>
        </p:spPr>
      </p:sp>
      <p:sp>
        <p:nvSpPr>
          <p:cNvPr id="32" name="Text 24"/>
          <p:cNvSpPr txBox="1"/>
          <p:nvPr/>
        </p:nvSpPr>
        <p:spPr>
          <a:xfrm>
            <a:off x="777240" y="3630168"/>
            <a:ext cx="10607040" cy="274320"/>
          </a:xfrm>
          <a:prstGeom prst="rect">
            <a:avLst/>
          </a:prstGeom>
          <a:noFill/>
          <a:ln/>
        </p:spPr>
        <p:txBody>
          <a:bodyPr wrap="square" lIns="0" tIns="0" rIns="0" bIns="0" rtlCol="0" anchor="ctr"/>
          <a:lstStyle/>
          <a:p>
            <a:pPr indent="0" marL="0">
              <a:buNone/>
            </a:pPr>
            <a:r>
              <a:rPr lang="en-US" sz="1050" b="1" dirty="0">
                <a:solidFill>
                  <a:srgbClr val="62748E"/>
                </a:solidFill>
                <a:latin typeface="DM Sans" pitchFamily="34" charset="0"/>
                <a:ea typeface="DM Sans" pitchFamily="34" charset="-122"/>
                <a:cs typeface="DM Sans" pitchFamily="34" charset="-120"/>
              </a:rPr>
              <a:t>Origins and origin group in the AWS console: both buckets use our Origin Access Control, and dashboard-failover switches on 500, 502, 503 and 504</a:t>
            </a:r>
            <a:endParaRPr lang="en-US" sz="1050" dirty="0"/>
          </a:p>
        </p:txBody>
      </p:sp>
      <p:pic>
        <p:nvPicPr>
          <p:cNvPr id="33" name="Image 6" descr="origins.png">    </p:cNvPr>
          <p:cNvPicPr>
            <a:picLocks noChangeAspect="1"/>
          </p:cNvPicPr>
          <p:nvPr/>
        </p:nvPicPr>
        <p:blipFill>
          <a:blip r:embed="rId7"/>
          <a:stretch>
            <a:fillRect/>
          </a:stretch>
        </p:blipFill>
        <p:spPr>
          <a:xfrm>
            <a:off x="1367854" y="3950208"/>
            <a:ext cx="9453243" cy="24231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CampusPulse CloudFront</dc:title>
  <dc:subject>PptxGenJS Presentation</dc:subject>
  <dc:creator>PptxGenJS</dc:creator>
  <cp:lastModifiedBy>PptxGenJS</cp:lastModifiedBy>
  <cp:revision>1</cp:revision>
  <dcterms:created xsi:type="dcterms:W3CDTF">2026-09-19T09:59:34Z</dcterms:created>
  <dcterms:modified xsi:type="dcterms:W3CDTF">2026-09-19T09:59:34Z</dcterms:modified>
</cp:coreProperties>
</file>