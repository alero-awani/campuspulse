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simulator plays the part of the sensors in 24 rooms. Readings go in batches of 25 to a public API Gateway route with a device key; API Gateway throttles and invokes the Lambda. The Lambda checks the key, validates each reading, stores it once, updates room values or hourly energy totals, and raises alerts. It reaches DynamoDB through the gateway endpoint, never the internet, and 5 tables are copied to Paris. The dashboard reads the results through token-protected routes.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1.xml"/><Relationship Id="rId8"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1F5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640080"/>
          </a:xfrm>
          <a:prstGeom prst="rect">
            <a:avLst/>
          </a:prstGeom>
          <a:noFill/>
          <a:ln/>
        </p:spPr>
        <p:txBody>
          <a:bodyPr wrap="square" lIns="0" tIns="0" rIns="0" bIns="0" rtlCol="0" anchor="ctr"/>
          <a:lstStyle/>
          <a:p>
            <a:pPr indent="0" marL="0">
              <a:buNone/>
            </a:pPr>
            <a:r>
              <a:rPr lang="en-US" sz="3400" b="1" dirty="0">
                <a:solidFill>
                  <a:srgbClr val="020618"/>
                </a:solidFill>
                <a:latin typeface="Space Grotesk" pitchFamily="34" charset="0"/>
                <a:ea typeface="Space Grotesk" pitchFamily="34" charset="-122"/>
                <a:cs typeface="Space Grotesk" pitchFamily="34" charset="-120"/>
              </a:rPr>
              <a:t>How a sensor reading flows</a:t>
            </a:r>
            <a:endParaRPr lang="en-US" sz="3400" dirty="0"/>
          </a:p>
        </p:txBody>
      </p:sp>
      <p:sp>
        <p:nvSpPr>
          <p:cNvPr id="3" name="Text 1"/>
          <p:cNvSpPr txBox="1"/>
          <p:nvPr/>
        </p:nvSpPr>
        <p:spPr>
          <a:xfrm>
            <a:off x="548640" y="987552"/>
            <a:ext cx="11064240" cy="365760"/>
          </a:xfrm>
          <a:prstGeom prst="rect">
            <a:avLst/>
          </a:prstGeom>
          <a:noFill/>
          <a:ln/>
        </p:spPr>
        <p:txBody>
          <a:bodyPr wrap="square" lIns="0" tIns="0" rIns="0" bIns="0" rtlCol="0" anchor="ctr"/>
          <a:lstStyle/>
          <a:p>
            <a:pPr indent="0" marL="0">
              <a:buNone/>
            </a:pPr>
            <a:r>
              <a:rPr lang="en-US" sz="1400" dirty="0">
                <a:solidFill>
                  <a:srgbClr val="62748E"/>
                </a:solidFill>
                <a:latin typeface="DM Sans" pitchFamily="34" charset="0"/>
                <a:ea typeface="DM Sans" pitchFamily="34" charset="-122"/>
                <a:cs typeface="DM Sans" pitchFamily="34" charset="-120"/>
              </a:rPr>
              <a:t>From the simulator to the database, and back out to the dashboard.</a:t>
            </a:r>
            <a:endParaRPr lang="en-US" sz="1400" dirty="0"/>
          </a:p>
        </p:txBody>
      </p:sp>
      <p:sp>
        <p:nvSpPr>
          <p:cNvPr id="4" name="Shape 2"/>
          <p:cNvSpPr/>
          <p:nvPr/>
        </p:nvSpPr>
        <p:spPr>
          <a:xfrm>
            <a:off x="548640" y="1600200"/>
            <a:ext cx="2286000" cy="1737360"/>
          </a:xfrm>
          <a:prstGeom prst="roundRect">
            <a:avLst>
              <a:gd name="adj" fmla="val 8421"/>
            </a:avLst>
          </a:prstGeom>
          <a:solidFill>
            <a:srgbClr val="FFFFFF"/>
          </a:solidFill>
          <a:ln w="9525">
            <a:solidFill>
              <a:srgbClr val="E2E8F0"/>
            </a:solidFill>
            <a:prstDash val="solid"/>
          </a:ln>
          <a:effectLst>
            <a:outerShdw sx="100000" sy="100000" kx="0" ky="0" algn="bl" rotWithShape="0" blurRad="101600" dist="25400" dir="5400000">
              <a:srgbClr val="0F172B">
                <a:alpha val="8000"/>
              </a:srgbClr>
            </a:outerShdw>
          </a:effectLst>
        </p:spPr>
      </p:sp>
      <p:sp>
        <p:nvSpPr>
          <p:cNvPr id="5" name="Shape 3"/>
          <p:cNvSpPr/>
          <p:nvPr/>
        </p:nvSpPr>
        <p:spPr>
          <a:xfrm>
            <a:off x="749808" y="1801368"/>
            <a:ext cx="548640" cy="548640"/>
          </a:xfrm>
          <a:prstGeom prst="ellipse">
            <a:avLst/>
          </a:prstGeom>
          <a:solidFill>
            <a:srgbClr val="F54900"/>
          </a:solidFill>
          <a:ln w="12700">
            <a:solidFill>
              <a:srgbClr val="F54900"/>
            </a:solidFill>
            <a:prstDash val="solid"/>
          </a:ln>
        </p:spPr>
      </p:sp>
      <p:pic>
        <p:nvPicPr>
          <p:cNvPr id="6" name="Image 0" descr="preencoded.png">    </p:cNvPr>
          <p:cNvPicPr>
            <a:picLocks noChangeAspect="1"/>
          </p:cNvPicPr>
          <p:nvPr/>
        </p:nvPicPr>
        <p:blipFill>
          <a:blip r:embed="rId1"/>
          <a:stretch>
            <a:fillRect/>
          </a:stretch>
        </p:blipFill>
        <p:spPr>
          <a:xfrm>
            <a:off x="886968" y="1938528"/>
            <a:ext cx="274320" cy="274320"/>
          </a:xfrm>
          <a:prstGeom prst="rect">
            <a:avLst/>
          </a:prstGeom>
        </p:spPr>
      </p:pic>
      <p:sp>
        <p:nvSpPr>
          <p:cNvPr id="7" name="Text 4"/>
          <p:cNvSpPr txBox="1"/>
          <p:nvPr/>
        </p:nvSpPr>
        <p:spPr>
          <a:xfrm>
            <a:off x="1417320" y="1783080"/>
            <a:ext cx="1280160" cy="329184"/>
          </a:xfrm>
          <a:prstGeom prst="rect">
            <a:avLst/>
          </a:prstGeom>
          <a:noFill/>
          <a:ln/>
        </p:spPr>
        <p:txBody>
          <a:bodyPr wrap="square" lIns="0" tIns="0" rIns="0" bIns="0" rtlCol="0" anchor="ctr"/>
          <a:lstStyle/>
          <a:p>
            <a:pPr indent="0" marL="0">
              <a:buNone/>
            </a:pPr>
            <a:r>
              <a:rPr lang="en-US" sz="1600" b="1" dirty="0">
                <a:solidFill>
                  <a:srgbClr val="020618"/>
                </a:solidFill>
                <a:latin typeface="Space Grotesk" pitchFamily="34" charset="0"/>
                <a:ea typeface="Space Grotesk" pitchFamily="34" charset="-122"/>
                <a:cs typeface="Space Grotesk" pitchFamily="34" charset="-120"/>
              </a:rPr>
              <a:t>Simulator</a:t>
            </a:r>
            <a:endParaRPr lang="en-US" sz="1600" dirty="0"/>
          </a:p>
        </p:txBody>
      </p:sp>
      <p:sp>
        <p:nvSpPr>
          <p:cNvPr id="8" name="Text 5"/>
          <p:cNvSpPr txBox="1"/>
          <p:nvPr/>
        </p:nvSpPr>
        <p:spPr>
          <a:xfrm>
            <a:off x="1417320" y="2093976"/>
            <a:ext cx="1280160" cy="274320"/>
          </a:xfrm>
          <a:prstGeom prst="rect">
            <a:avLst/>
          </a:prstGeom>
          <a:noFill/>
          <a:ln/>
        </p:spPr>
        <p:txBody>
          <a:bodyPr wrap="square" lIns="0" tIns="0" rIns="0" bIns="0" rtlCol="0" anchor="ctr"/>
          <a:lstStyle/>
          <a:p>
            <a:pPr indent="0" marL="0">
              <a:buNone/>
            </a:pPr>
            <a:r>
              <a:rPr lang="en-US" sz="1000" dirty="0">
                <a:solidFill>
                  <a:srgbClr val="62748E"/>
                </a:solidFill>
                <a:latin typeface="DM Sans" pitchFamily="34" charset="0"/>
                <a:ea typeface="DM Sans" pitchFamily="34" charset="-122"/>
                <a:cs typeface="DM Sans" pitchFamily="34" charset="-120"/>
              </a:rPr>
              <a:t>24 rooms, every 30 s</a:t>
            </a:r>
            <a:endParaRPr lang="en-US" sz="1000" dirty="0"/>
          </a:p>
        </p:txBody>
      </p:sp>
      <p:sp>
        <p:nvSpPr>
          <p:cNvPr id="9" name="Text 6"/>
          <p:cNvSpPr txBox="1"/>
          <p:nvPr/>
        </p:nvSpPr>
        <p:spPr>
          <a:xfrm>
            <a:off x="749808" y="2496312"/>
            <a:ext cx="1920240" cy="731520"/>
          </a:xfrm>
          <a:prstGeom prst="rect">
            <a:avLst/>
          </a:prstGeom>
          <a:noFill/>
          <a:ln/>
        </p:spPr>
        <p:txBody>
          <a:bodyPr wrap="square" lIns="0" tIns="0" rIns="0" bIns="0" rtlCol="0" anchor="t"/>
          <a:lstStyle/>
          <a:p>
            <a:pPr indent="0" marL="0">
              <a:buNone/>
            </a:pPr>
            <a:r>
              <a:rPr lang="en-US" sz="1150" dirty="0">
                <a:solidFill>
                  <a:srgbClr val="020618"/>
                </a:solidFill>
                <a:latin typeface="DM Sans" pitchFamily="34" charset="0"/>
                <a:ea typeface="DM Sans" pitchFamily="34" charset="-122"/>
                <a:cs typeface="DM Sans" pitchFamily="34" charset="-120"/>
              </a:rPr>
              <a:t>Batches of 25 readings with unique IDs; retries if throttled</a:t>
            </a:r>
            <a:endParaRPr lang="en-US" sz="1150" dirty="0"/>
          </a:p>
        </p:txBody>
      </p:sp>
      <p:sp>
        <p:nvSpPr>
          <p:cNvPr id="10" name="Shape 7"/>
          <p:cNvSpPr/>
          <p:nvPr/>
        </p:nvSpPr>
        <p:spPr>
          <a:xfrm>
            <a:off x="2907792" y="2468880"/>
            <a:ext cx="502920" cy="0"/>
          </a:xfrm>
          <a:prstGeom prst="line">
            <a:avLst/>
          </a:prstGeom>
          <a:noFill/>
          <a:ln w="22225">
            <a:solidFill>
              <a:srgbClr val="62748E"/>
            </a:solidFill>
            <a:prstDash val="solid"/>
            <a:tailEnd type="triangle"/>
          </a:ln>
        </p:spPr>
      </p:sp>
      <p:sp>
        <p:nvSpPr>
          <p:cNvPr id="11" name="Text 8"/>
          <p:cNvSpPr txBox="1"/>
          <p:nvPr/>
        </p:nvSpPr>
        <p:spPr>
          <a:xfrm>
            <a:off x="2834640" y="2011680"/>
            <a:ext cx="649224" cy="384048"/>
          </a:xfrm>
          <a:prstGeom prst="rect">
            <a:avLst/>
          </a:prstGeom>
          <a:noFill/>
          <a:ln/>
        </p:spPr>
        <p:txBody>
          <a:bodyPr wrap="square" lIns="0" tIns="0" rIns="0" bIns="0" rtlCol="0" anchor="b"/>
          <a:lstStyle/>
          <a:p>
            <a:pPr algn="ctr" indent="0" marL="0">
              <a:buNone/>
            </a:pPr>
            <a:r>
              <a:rPr lang="en-US" sz="900" b="1" dirty="0">
                <a:solidFill>
                  <a:srgbClr val="62748E"/>
                </a:solidFill>
                <a:latin typeface="DM Sans" pitchFamily="34" charset="0"/>
                <a:ea typeface="DM Sans" pitchFamily="34" charset="-122"/>
                <a:cs typeface="DM Sans" pitchFamily="34" charset="-120"/>
              </a:rPr>
              <a:t>HTTPS</a:t>
            </a:r>
            <a:endParaRPr lang="en-US" sz="900" dirty="0"/>
          </a:p>
        </p:txBody>
      </p:sp>
      <p:sp>
        <p:nvSpPr>
          <p:cNvPr id="12" name="Shape 9"/>
          <p:cNvSpPr/>
          <p:nvPr/>
        </p:nvSpPr>
        <p:spPr>
          <a:xfrm>
            <a:off x="3483864" y="1600200"/>
            <a:ext cx="2286000" cy="1737360"/>
          </a:xfrm>
          <a:prstGeom prst="roundRect">
            <a:avLst>
              <a:gd name="adj" fmla="val 8421"/>
            </a:avLst>
          </a:prstGeom>
          <a:solidFill>
            <a:srgbClr val="FFFFFF"/>
          </a:solidFill>
          <a:ln w="9525">
            <a:solidFill>
              <a:srgbClr val="E2E8F0"/>
            </a:solidFill>
            <a:prstDash val="solid"/>
          </a:ln>
          <a:effectLst>
            <a:outerShdw sx="100000" sy="100000" kx="0" ky="0" algn="bl" rotWithShape="0" blurRad="101600" dist="25400" dir="5400000">
              <a:srgbClr val="0F172B">
                <a:alpha val="8000"/>
              </a:srgbClr>
            </a:outerShdw>
          </a:effectLst>
        </p:spPr>
      </p:sp>
      <p:sp>
        <p:nvSpPr>
          <p:cNvPr id="13" name="Shape 10"/>
          <p:cNvSpPr/>
          <p:nvPr/>
        </p:nvSpPr>
        <p:spPr>
          <a:xfrm>
            <a:off x="3685032" y="1801368"/>
            <a:ext cx="548640" cy="548640"/>
          </a:xfrm>
          <a:prstGeom prst="ellipse">
            <a:avLst/>
          </a:prstGeom>
          <a:solidFill>
            <a:srgbClr val="0F172B"/>
          </a:solidFill>
          <a:ln w="12700">
            <a:solidFill>
              <a:srgbClr val="0F172B"/>
            </a:solidFill>
            <a:prstDash val="solid"/>
          </a:ln>
        </p:spPr>
      </p:sp>
      <p:pic>
        <p:nvPicPr>
          <p:cNvPr id="14" name="Image 1" descr="preencoded.png">    </p:cNvPr>
          <p:cNvPicPr>
            <a:picLocks noChangeAspect="1"/>
          </p:cNvPicPr>
          <p:nvPr/>
        </p:nvPicPr>
        <p:blipFill>
          <a:blip r:embed="rId2"/>
          <a:stretch>
            <a:fillRect/>
          </a:stretch>
        </p:blipFill>
        <p:spPr>
          <a:xfrm>
            <a:off x="3822192" y="1938528"/>
            <a:ext cx="274320" cy="274320"/>
          </a:xfrm>
          <a:prstGeom prst="rect">
            <a:avLst/>
          </a:prstGeom>
        </p:spPr>
      </p:pic>
      <p:sp>
        <p:nvSpPr>
          <p:cNvPr id="15" name="Text 11"/>
          <p:cNvSpPr txBox="1"/>
          <p:nvPr/>
        </p:nvSpPr>
        <p:spPr>
          <a:xfrm>
            <a:off x="4352544" y="1783080"/>
            <a:ext cx="1280160" cy="329184"/>
          </a:xfrm>
          <a:prstGeom prst="rect">
            <a:avLst/>
          </a:prstGeom>
          <a:noFill/>
          <a:ln/>
        </p:spPr>
        <p:txBody>
          <a:bodyPr wrap="square" lIns="0" tIns="0" rIns="0" bIns="0" rtlCol="0" anchor="ctr"/>
          <a:lstStyle/>
          <a:p>
            <a:pPr indent="0" marL="0">
              <a:buNone/>
            </a:pPr>
            <a:r>
              <a:rPr lang="en-US" sz="1600" b="1" dirty="0">
                <a:solidFill>
                  <a:srgbClr val="020618"/>
                </a:solidFill>
                <a:latin typeface="Space Grotesk" pitchFamily="34" charset="0"/>
                <a:ea typeface="Space Grotesk" pitchFamily="34" charset="-122"/>
                <a:cs typeface="Space Grotesk" pitchFamily="34" charset="-120"/>
              </a:rPr>
              <a:t>API Gateway</a:t>
            </a:r>
            <a:endParaRPr lang="en-US" sz="1600" dirty="0"/>
          </a:p>
        </p:txBody>
      </p:sp>
      <p:sp>
        <p:nvSpPr>
          <p:cNvPr id="16" name="Text 12"/>
          <p:cNvSpPr txBox="1"/>
          <p:nvPr/>
        </p:nvSpPr>
        <p:spPr>
          <a:xfrm>
            <a:off x="4352544" y="2093976"/>
            <a:ext cx="1280160" cy="274320"/>
          </a:xfrm>
          <a:prstGeom prst="rect">
            <a:avLst/>
          </a:prstGeom>
          <a:noFill/>
          <a:ln/>
        </p:spPr>
        <p:txBody>
          <a:bodyPr wrap="square" lIns="0" tIns="0" rIns="0" bIns="0" rtlCol="0" anchor="ctr"/>
          <a:lstStyle/>
          <a:p>
            <a:pPr indent="0" marL="0">
              <a:buNone/>
            </a:pPr>
            <a:r>
              <a:rPr lang="en-US" sz="1000" dirty="0">
                <a:solidFill>
                  <a:srgbClr val="62748E"/>
                </a:solidFill>
                <a:latin typeface="DM Sans" pitchFamily="34" charset="0"/>
                <a:ea typeface="DM Sans" pitchFamily="34" charset="-122"/>
                <a:cs typeface="DM Sans" pitchFamily="34" charset="-120"/>
              </a:rPr>
              <a:t>POST /events/batch</a:t>
            </a:r>
            <a:endParaRPr lang="en-US" sz="1000" dirty="0"/>
          </a:p>
        </p:txBody>
      </p:sp>
      <p:sp>
        <p:nvSpPr>
          <p:cNvPr id="17" name="Text 13"/>
          <p:cNvSpPr txBox="1"/>
          <p:nvPr/>
        </p:nvSpPr>
        <p:spPr>
          <a:xfrm>
            <a:off x="3685032" y="2496312"/>
            <a:ext cx="1920240" cy="731520"/>
          </a:xfrm>
          <a:prstGeom prst="rect">
            <a:avLst/>
          </a:prstGeom>
          <a:noFill/>
          <a:ln/>
        </p:spPr>
        <p:txBody>
          <a:bodyPr wrap="square" lIns="0" tIns="0" rIns="0" bIns="0" rtlCol="0" anchor="t"/>
          <a:lstStyle/>
          <a:p>
            <a:pPr indent="0" marL="0">
              <a:buNone/>
            </a:pPr>
            <a:r>
              <a:rPr lang="en-US" sz="1150" dirty="0">
                <a:solidFill>
                  <a:srgbClr val="020618"/>
                </a:solidFill>
                <a:latin typeface="DM Sans" pitchFamily="34" charset="0"/>
                <a:ea typeface="DM Sans" pitchFamily="34" charset="-122"/>
                <a:cs typeface="DM Sans" pitchFamily="34" charset="-120"/>
              </a:rPr>
              <a:t>Public route with a device key; limit 20 requests/s</a:t>
            </a:r>
            <a:endParaRPr lang="en-US" sz="1150" dirty="0"/>
          </a:p>
        </p:txBody>
      </p:sp>
      <p:sp>
        <p:nvSpPr>
          <p:cNvPr id="18" name="Shape 14"/>
          <p:cNvSpPr/>
          <p:nvPr/>
        </p:nvSpPr>
        <p:spPr>
          <a:xfrm>
            <a:off x="5843016" y="2468880"/>
            <a:ext cx="502920" cy="0"/>
          </a:xfrm>
          <a:prstGeom prst="line">
            <a:avLst/>
          </a:prstGeom>
          <a:noFill/>
          <a:ln w="22225">
            <a:solidFill>
              <a:srgbClr val="62748E"/>
            </a:solidFill>
            <a:prstDash val="solid"/>
            <a:tailEnd type="triangle"/>
          </a:ln>
        </p:spPr>
      </p:sp>
      <p:sp>
        <p:nvSpPr>
          <p:cNvPr id="19" name="Text 15"/>
          <p:cNvSpPr txBox="1"/>
          <p:nvPr/>
        </p:nvSpPr>
        <p:spPr>
          <a:xfrm>
            <a:off x="5769864" y="2011680"/>
            <a:ext cx="649224" cy="384048"/>
          </a:xfrm>
          <a:prstGeom prst="rect">
            <a:avLst/>
          </a:prstGeom>
          <a:noFill/>
          <a:ln/>
        </p:spPr>
        <p:txBody>
          <a:bodyPr wrap="square" lIns="0" tIns="0" rIns="0" bIns="0" rtlCol="0" anchor="b"/>
          <a:lstStyle/>
          <a:p>
            <a:pPr algn="ctr" indent="0" marL="0">
              <a:buNone/>
            </a:pPr>
            <a:r>
              <a:rPr lang="en-US" sz="900" b="1" dirty="0">
                <a:solidFill>
                  <a:srgbClr val="62748E"/>
                </a:solidFill>
                <a:latin typeface="DM Sans" pitchFamily="34" charset="0"/>
                <a:ea typeface="DM Sans" pitchFamily="34" charset="-122"/>
                <a:cs typeface="DM Sans" pitchFamily="34" charset="-120"/>
              </a:rPr>
              <a:t>invoke</a:t>
            </a:r>
            <a:endParaRPr lang="en-US" sz="900" dirty="0"/>
          </a:p>
        </p:txBody>
      </p:sp>
      <p:sp>
        <p:nvSpPr>
          <p:cNvPr id="20" name="Shape 16"/>
          <p:cNvSpPr/>
          <p:nvPr/>
        </p:nvSpPr>
        <p:spPr>
          <a:xfrm>
            <a:off x="6419088" y="1600200"/>
            <a:ext cx="2286000" cy="1737360"/>
          </a:xfrm>
          <a:prstGeom prst="roundRect">
            <a:avLst>
              <a:gd name="adj" fmla="val 8421"/>
            </a:avLst>
          </a:prstGeom>
          <a:solidFill>
            <a:srgbClr val="FFFFFF"/>
          </a:solidFill>
          <a:ln w="9525">
            <a:solidFill>
              <a:srgbClr val="E2E8F0"/>
            </a:solidFill>
            <a:prstDash val="solid"/>
          </a:ln>
          <a:effectLst>
            <a:outerShdw sx="100000" sy="100000" kx="0" ky="0" algn="bl" rotWithShape="0" blurRad="101600" dist="25400" dir="5400000">
              <a:srgbClr val="0F172B">
                <a:alpha val="8000"/>
              </a:srgbClr>
            </a:outerShdw>
          </a:effectLst>
        </p:spPr>
      </p:sp>
      <p:sp>
        <p:nvSpPr>
          <p:cNvPr id="21" name="Shape 17"/>
          <p:cNvSpPr/>
          <p:nvPr/>
        </p:nvSpPr>
        <p:spPr>
          <a:xfrm>
            <a:off x="6620256" y="1801368"/>
            <a:ext cx="548640" cy="548640"/>
          </a:xfrm>
          <a:prstGeom prst="ellipse">
            <a:avLst/>
          </a:prstGeom>
          <a:solidFill>
            <a:srgbClr val="F9B73F"/>
          </a:solidFill>
          <a:ln w="12700">
            <a:solidFill>
              <a:srgbClr val="F9B73F"/>
            </a:solidFill>
            <a:prstDash val="solid"/>
          </a:ln>
        </p:spPr>
      </p:sp>
      <p:pic>
        <p:nvPicPr>
          <p:cNvPr id="22" name="Image 2" descr="preencoded.png">    </p:cNvPr>
          <p:cNvPicPr>
            <a:picLocks noChangeAspect="1"/>
          </p:cNvPicPr>
          <p:nvPr/>
        </p:nvPicPr>
        <p:blipFill>
          <a:blip r:embed="rId3"/>
          <a:stretch>
            <a:fillRect/>
          </a:stretch>
        </p:blipFill>
        <p:spPr>
          <a:xfrm>
            <a:off x="6757416" y="1938528"/>
            <a:ext cx="274320" cy="274320"/>
          </a:xfrm>
          <a:prstGeom prst="rect">
            <a:avLst/>
          </a:prstGeom>
        </p:spPr>
      </p:pic>
      <p:sp>
        <p:nvSpPr>
          <p:cNvPr id="23" name="Text 18"/>
          <p:cNvSpPr txBox="1"/>
          <p:nvPr/>
        </p:nvSpPr>
        <p:spPr>
          <a:xfrm>
            <a:off x="7287768" y="1783080"/>
            <a:ext cx="1280160" cy="329184"/>
          </a:xfrm>
          <a:prstGeom prst="rect">
            <a:avLst/>
          </a:prstGeom>
          <a:noFill/>
          <a:ln/>
        </p:spPr>
        <p:txBody>
          <a:bodyPr wrap="square" lIns="0" tIns="0" rIns="0" bIns="0" rtlCol="0" anchor="ctr"/>
          <a:lstStyle/>
          <a:p>
            <a:pPr indent="0" marL="0">
              <a:buNone/>
            </a:pPr>
            <a:r>
              <a:rPr lang="en-US" sz="1600" b="1" dirty="0">
                <a:solidFill>
                  <a:srgbClr val="020618"/>
                </a:solidFill>
                <a:latin typeface="Space Grotesk" pitchFamily="34" charset="0"/>
                <a:ea typeface="Space Grotesk" pitchFamily="34" charset="-122"/>
                <a:cs typeface="Space Grotesk" pitchFamily="34" charset="-120"/>
              </a:rPr>
              <a:t>Lambda</a:t>
            </a:r>
            <a:endParaRPr lang="en-US" sz="1600" dirty="0"/>
          </a:p>
        </p:txBody>
      </p:sp>
      <p:sp>
        <p:nvSpPr>
          <p:cNvPr id="24" name="Text 19"/>
          <p:cNvSpPr txBox="1"/>
          <p:nvPr/>
        </p:nvSpPr>
        <p:spPr>
          <a:xfrm>
            <a:off x="7287768" y="2093976"/>
            <a:ext cx="1280160" cy="274320"/>
          </a:xfrm>
          <a:prstGeom prst="rect">
            <a:avLst/>
          </a:prstGeom>
          <a:noFill/>
          <a:ln/>
        </p:spPr>
        <p:txBody>
          <a:bodyPr wrap="square" lIns="0" tIns="0" rIns="0" bIns="0" rtlCol="0" anchor="ctr"/>
          <a:lstStyle/>
          <a:p>
            <a:pPr indent="0" marL="0">
              <a:buNone/>
            </a:pPr>
            <a:r>
              <a:rPr lang="en-US" sz="1000" dirty="0">
                <a:solidFill>
                  <a:srgbClr val="62748E"/>
                </a:solidFill>
                <a:latin typeface="DM Sans" pitchFamily="34" charset="0"/>
                <a:ea typeface="DM Sans" pitchFamily="34" charset="-122"/>
                <a:cs typeface="DM Sans" pitchFamily="34" charset="-120"/>
              </a:rPr>
              <a:t>Private subnets</a:t>
            </a:r>
            <a:endParaRPr lang="en-US" sz="1000" dirty="0"/>
          </a:p>
        </p:txBody>
      </p:sp>
      <p:sp>
        <p:nvSpPr>
          <p:cNvPr id="25" name="Text 20"/>
          <p:cNvSpPr txBox="1"/>
          <p:nvPr/>
        </p:nvSpPr>
        <p:spPr>
          <a:xfrm>
            <a:off x="6620256" y="2496312"/>
            <a:ext cx="1920240" cy="731520"/>
          </a:xfrm>
          <a:prstGeom prst="rect">
            <a:avLst/>
          </a:prstGeom>
          <a:noFill/>
          <a:ln/>
        </p:spPr>
        <p:txBody>
          <a:bodyPr wrap="square" lIns="0" tIns="0" rIns="0" bIns="0" rtlCol="0" anchor="t"/>
          <a:lstStyle/>
          <a:p>
            <a:pPr indent="0" marL="0">
              <a:buNone/>
            </a:pPr>
            <a:r>
              <a:rPr lang="en-US" sz="1150" dirty="0">
                <a:solidFill>
                  <a:srgbClr val="020618"/>
                </a:solidFill>
                <a:latin typeface="DM Sans" pitchFamily="34" charset="0"/>
                <a:ea typeface="DM Sans" pitchFamily="34" charset="-122"/>
                <a:cs typeface="DM Sans" pitchFamily="34" charset="-120"/>
              </a:rPr>
              <a:t>Checks the key, validates, applies alert rules, 8 at once</a:t>
            </a:r>
            <a:endParaRPr lang="en-US" sz="1150" dirty="0"/>
          </a:p>
        </p:txBody>
      </p:sp>
      <p:sp>
        <p:nvSpPr>
          <p:cNvPr id="26" name="Shape 21"/>
          <p:cNvSpPr/>
          <p:nvPr/>
        </p:nvSpPr>
        <p:spPr>
          <a:xfrm>
            <a:off x="8778240" y="2468880"/>
            <a:ext cx="502920" cy="0"/>
          </a:xfrm>
          <a:prstGeom prst="line">
            <a:avLst/>
          </a:prstGeom>
          <a:noFill/>
          <a:ln w="22225">
            <a:solidFill>
              <a:srgbClr val="62748E"/>
            </a:solidFill>
            <a:prstDash val="solid"/>
            <a:tailEnd type="triangle"/>
          </a:ln>
        </p:spPr>
      </p:sp>
      <p:sp>
        <p:nvSpPr>
          <p:cNvPr id="27" name="Text 22"/>
          <p:cNvSpPr txBox="1"/>
          <p:nvPr/>
        </p:nvSpPr>
        <p:spPr>
          <a:xfrm>
            <a:off x="8705088" y="2011680"/>
            <a:ext cx="649224" cy="384048"/>
          </a:xfrm>
          <a:prstGeom prst="rect">
            <a:avLst/>
          </a:prstGeom>
          <a:noFill/>
          <a:ln/>
        </p:spPr>
        <p:txBody>
          <a:bodyPr wrap="square" lIns="0" tIns="0" rIns="0" bIns="0" rtlCol="0" anchor="b"/>
          <a:lstStyle/>
          <a:p>
            <a:pPr algn="ctr" indent="0" marL="0">
              <a:buNone/>
            </a:pPr>
            <a:r>
              <a:rPr lang="en-US" sz="900" b="1" dirty="0">
                <a:solidFill>
                  <a:srgbClr val="62748E"/>
                </a:solidFill>
                <a:latin typeface="DM Sans" pitchFamily="34" charset="0"/>
                <a:ea typeface="DM Sans" pitchFamily="34" charset="-122"/>
                <a:cs typeface="DM Sans" pitchFamily="34" charset="-120"/>
              </a:rPr>
              <a:t>gateway</a:t>
            </a:r>
            <a:endParaRPr lang="en-US" sz="900" dirty="0"/>
          </a:p>
          <a:p>
            <a:pPr algn="ctr" indent="0" marL="0">
              <a:buNone/>
            </a:pPr>
            <a:r>
              <a:rPr lang="en-US" sz="900" b="1" dirty="0">
                <a:solidFill>
                  <a:srgbClr val="62748E"/>
                </a:solidFill>
                <a:latin typeface="DM Sans" pitchFamily="34" charset="0"/>
                <a:ea typeface="DM Sans" pitchFamily="34" charset="-122"/>
                <a:cs typeface="DM Sans" pitchFamily="34" charset="-120"/>
              </a:rPr>
              <a:t>endpoint</a:t>
            </a:r>
            <a:endParaRPr lang="en-US" sz="900" dirty="0"/>
          </a:p>
        </p:txBody>
      </p:sp>
      <p:sp>
        <p:nvSpPr>
          <p:cNvPr id="28" name="Shape 23"/>
          <p:cNvSpPr/>
          <p:nvPr/>
        </p:nvSpPr>
        <p:spPr>
          <a:xfrm>
            <a:off x="9354312" y="1600200"/>
            <a:ext cx="2286000" cy="1737360"/>
          </a:xfrm>
          <a:prstGeom prst="roundRect">
            <a:avLst>
              <a:gd name="adj" fmla="val 8421"/>
            </a:avLst>
          </a:prstGeom>
          <a:solidFill>
            <a:srgbClr val="FFFFFF"/>
          </a:solidFill>
          <a:ln w="9525">
            <a:solidFill>
              <a:srgbClr val="E2E8F0"/>
            </a:solidFill>
            <a:prstDash val="solid"/>
          </a:ln>
          <a:effectLst>
            <a:outerShdw sx="100000" sy="100000" kx="0" ky="0" algn="bl" rotWithShape="0" blurRad="101600" dist="25400" dir="5400000">
              <a:srgbClr val="0F172B">
                <a:alpha val="8000"/>
              </a:srgbClr>
            </a:outerShdw>
          </a:effectLst>
        </p:spPr>
      </p:sp>
      <p:sp>
        <p:nvSpPr>
          <p:cNvPr id="29" name="Shape 24"/>
          <p:cNvSpPr/>
          <p:nvPr/>
        </p:nvSpPr>
        <p:spPr>
          <a:xfrm>
            <a:off x="9555480" y="1801368"/>
            <a:ext cx="548640" cy="548640"/>
          </a:xfrm>
          <a:prstGeom prst="ellipse">
            <a:avLst/>
          </a:prstGeom>
          <a:solidFill>
            <a:srgbClr val="009689"/>
          </a:solidFill>
          <a:ln w="12700">
            <a:solidFill>
              <a:srgbClr val="009689"/>
            </a:solidFill>
            <a:prstDash val="solid"/>
          </a:ln>
        </p:spPr>
      </p:sp>
      <p:pic>
        <p:nvPicPr>
          <p:cNvPr id="30" name="Image 3" descr="preencoded.png">    </p:cNvPr>
          <p:cNvPicPr>
            <a:picLocks noChangeAspect="1"/>
          </p:cNvPicPr>
          <p:nvPr/>
        </p:nvPicPr>
        <p:blipFill>
          <a:blip r:embed="rId4"/>
          <a:stretch>
            <a:fillRect/>
          </a:stretch>
        </p:blipFill>
        <p:spPr>
          <a:xfrm>
            <a:off x="9692640" y="1938528"/>
            <a:ext cx="274320" cy="274320"/>
          </a:xfrm>
          <a:prstGeom prst="rect">
            <a:avLst/>
          </a:prstGeom>
        </p:spPr>
      </p:pic>
      <p:sp>
        <p:nvSpPr>
          <p:cNvPr id="31" name="Text 25"/>
          <p:cNvSpPr txBox="1"/>
          <p:nvPr/>
        </p:nvSpPr>
        <p:spPr>
          <a:xfrm>
            <a:off x="10222992" y="1783080"/>
            <a:ext cx="1280160" cy="329184"/>
          </a:xfrm>
          <a:prstGeom prst="rect">
            <a:avLst/>
          </a:prstGeom>
          <a:noFill/>
          <a:ln/>
        </p:spPr>
        <p:txBody>
          <a:bodyPr wrap="square" lIns="0" tIns="0" rIns="0" bIns="0" rtlCol="0" anchor="ctr"/>
          <a:lstStyle/>
          <a:p>
            <a:pPr indent="0" marL="0">
              <a:buNone/>
            </a:pPr>
            <a:r>
              <a:rPr lang="en-US" sz="1600" b="1" dirty="0">
                <a:solidFill>
                  <a:srgbClr val="020618"/>
                </a:solidFill>
                <a:latin typeface="Space Grotesk" pitchFamily="34" charset="0"/>
                <a:ea typeface="Space Grotesk" pitchFamily="34" charset="-122"/>
                <a:cs typeface="Space Grotesk" pitchFamily="34" charset="-120"/>
              </a:rPr>
              <a:t>DynamoDB</a:t>
            </a:r>
            <a:endParaRPr lang="en-US" sz="1600" dirty="0"/>
          </a:p>
        </p:txBody>
      </p:sp>
      <p:sp>
        <p:nvSpPr>
          <p:cNvPr id="32" name="Text 26"/>
          <p:cNvSpPr txBox="1"/>
          <p:nvPr/>
        </p:nvSpPr>
        <p:spPr>
          <a:xfrm>
            <a:off x="10222992" y="2093976"/>
            <a:ext cx="1280160" cy="274320"/>
          </a:xfrm>
          <a:prstGeom prst="rect">
            <a:avLst/>
          </a:prstGeom>
          <a:noFill/>
          <a:ln/>
        </p:spPr>
        <p:txBody>
          <a:bodyPr wrap="square" lIns="0" tIns="0" rIns="0" bIns="0" rtlCol="0" anchor="ctr"/>
          <a:lstStyle/>
          <a:p>
            <a:pPr indent="0" marL="0">
              <a:buNone/>
            </a:pPr>
            <a:r>
              <a:rPr lang="en-US" sz="1000" dirty="0">
                <a:solidFill>
                  <a:srgbClr val="62748E"/>
                </a:solidFill>
                <a:latin typeface="DM Sans" pitchFamily="34" charset="0"/>
                <a:ea typeface="DM Sans" pitchFamily="34" charset="-122"/>
                <a:cs typeface="DM Sans" pitchFamily="34" charset="-120"/>
              </a:rPr>
              <a:t>events · rooms · aggregates · alerts</a:t>
            </a:r>
            <a:endParaRPr lang="en-US" sz="1000" dirty="0"/>
          </a:p>
        </p:txBody>
      </p:sp>
      <p:sp>
        <p:nvSpPr>
          <p:cNvPr id="33" name="Text 27"/>
          <p:cNvSpPr txBox="1"/>
          <p:nvPr/>
        </p:nvSpPr>
        <p:spPr>
          <a:xfrm>
            <a:off x="9555480" y="2496312"/>
            <a:ext cx="1920240" cy="731520"/>
          </a:xfrm>
          <a:prstGeom prst="rect">
            <a:avLst/>
          </a:prstGeom>
          <a:noFill/>
          <a:ln/>
        </p:spPr>
        <p:txBody>
          <a:bodyPr wrap="square" lIns="0" tIns="0" rIns="0" bIns="0" rtlCol="0" anchor="t"/>
          <a:lstStyle/>
          <a:p>
            <a:pPr indent="0" marL="0">
              <a:buNone/>
            </a:pPr>
            <a:r>
              <a:rPr lang="en-US" sz="1150" dirty="0">
                <a:solidFill>
                  <a:srgbClr val="020618"/>
                </a:solidFill>
                <a:latin typeface="DM Sans" pitchFamily="34" charset="0"/>
                <a:ea typeface="DM Sans" pitchFamily="34" charset="-122"/>
                <a:cs typeface="DM Sans" pitchFamily="34" charset="-120"/>
              </a:rPr>
              <a:t>5 tables copied to Paris within seconds</a:t>
            </a:r>
            <a:endParaRPr lang="en-US" sz="1150" dirty="0"/>
          </a:p>
        </p:txBody>
      </p:sp>
      <p:sp>
        <p:nvSpPr>
          <p:cNvPr id="34" name="Shape 28"/>
          <p:cNvSpPr/>
          <p:nvPr/>
        </p:nvSpPr>
        <p:spPr>
          <a:xfrm>
            <a:off x="548640" y="3749040"/>
            <a:ext cx="2788920" cy="2651760"/>
          </a:xfrm>
          <a:prstGeom prst="roundRect">
            <a:avLst>
              <a:gd name="adj" fmla="val 5517"/>
            </a:avLst>
          </a:prstGeom>
          <a:solidFill>
            <a:srgbClr val="FFFFFF"/>
          </a:solidFill>
          <a:ln w="9525">
            <a:solidFill>
              <a:srgbClr val="E2E8F0"/>
            </a:solidFill>
            <a:prstDash val="solid"/>
          </a:ln>
          <a:effectLst>
            <a:outerShdw sx="100000" sy="100000" kx="0" ky="0" algn="bl" rotWithShape="0" blurRad="101600" dist="25400" dir="5400000">
              <a:srgbClr val="0F172B">
                <a:alpha val="8000"/>
              </a:srgbClr>
            </a:outerShdw>
          </a:effectLst>
        </p:spPr>
      </p:sp>
      <p:sp>
        <p:nvSpPr>
          <p:cNvPr id="35" name="Shape 29"/>
          <p:cNvSpPr/>
          <p:nvPr/>
        </p:nvSpPr>
        <p:spPr>
          <a:xfrm>
            <a:off x="749808" y="3950208"/>
            <a:ext cx="475488" cy="475488"/>
          </a:xfrm>
          <a:prstGeom prst="ellipse">
            <a:avLst/>
          </a:prstGeom>
          <a:solidFill>
            <a:srgbClr val="0F172B"/>
          </a:solidFill>
          <a:ln w="12700">
            <a:solidFill>
              <a:srgbClr val="0F172B"/>
            </a:solidFill>
            <a:prstDash val="solid"/>
          </a:ln>
        </p:spPr>
      </p:sp>
      <p:pic>
        <p:nvPicPr>
          <p:cNvPr id="36" name="Image 4" descr="preencoded.png">    </p:cNvPr>
          <p:cNvPicPr>
            <a:picLocks noChangeAspect="1"/>
          </p:cNvPicPr>
          <p:nvPr/>
        </p:nvPicPr>
        <p:blipFill>
          <a:blip r:embed="rId5"/>
          <a:stretch>
            <a:fillRect/>
          </a:stretch>
        </p:blipFill>
        <p:spPr>
          <a:xfrm>
            <a:off x="868680" y="4069080"/>
            <a:ext cx="237744" cy="237744"/>
          </a:xfrm>
          <a:prstGeom prst="rect">
            <a:avLst/>
          </a:prstGeom>
        </p:spPr>
      </p:pic>
      <p:sp>
        <p:nvSpPr>
          <p:cNvPr id="37" name="Text 30"/>
          <p:cNvSpPr txBox="1"/>
          <p:nvPr/>
        </p:nvSpPr>
        <p:spPr>
          <a:xfrm>
            <a:off x="1344168" y="3950208"/>
            <a:ext cx="1828800" cy="475488"/>
          </a:xfrm>
          <a:prstGeom prst="rect">
            <a:avLst/>
          </a:prstGeom>
          <a:noFill/>
          <a:ln/>
        </p:spPr>
        <p:txBody>
          <a:bodyPr wrap="square" lIns="0" tIns="0" rIns="0" bIns="0" rtlCol="0" anchor="ctr"/>
          <a:lstStyle/>
          <a:p>
            <a:pPr indent="0" marL="0">
              <a:buNone/>
            </a:pPr>
            <a:r>
              <a:rPr lang="en-US" sz="1500" b="1" dirty="0">
                <a:solidFill>
                  <a:srgbClr val="020618"/>
                </a:solidFill>
                <a:latin typeface="Space Grotesk" pitchFamily="34" charset="0"/>
                <a:ea typeface="Space Grotesk" pitchFamily="34" charset="-122"/>
                <a:cs typeface="Space Grotesk" pitchFamily="34" charset="-120"/>
              </a:rPr>
              <a:t>Dashboard</a:t>
            </a:r>
            <a:endParaRPr lang="en-US" sz="1500" dirty="0"/>
          </a:p>
        </p:txBody>
      </p:sp>
      <p:sp>
        <p:nvSpPr>
          <p:cNvPr id="38" name="Text 31"/>
          <p:cNvSpPr txBox="1"/>
          <p:nvPr/>
        </p:nvSpPr>
        <p:spPr>
          <a:xfrm>
            <a:off x="749808" y="4572000"/>
            <a:ext cx="2423160" cy="1691640"/>
          </a:xfrm>
          <a:prstGeom prst="rect">
            <a:avLst/>
          </a:prstGeom>
          <a:noFill/>
          <a:ln/>
        </p:spPr>
        <p:txBody>
          <a:bodyPr wrap="square" lIns="0" tIns="0" rIns="0" bIns="0" rtlCol="0" anchor="t"/>
          <a:lstStyle/>
          <a:p>
            <a:pPr marL="152400" indent="-152400">
              <a:spcAft>
                <a:spcPts val="600"/>
              </a:spcAft>
              <a:buSzPct val="100000"/>
              <a:buChar char="•"/>
            </a:pPr>
            <a:r>
              <a:rPr lang="en-US" sz="1150" dirty="0">
                <a:solidFill>
                  <a:srgbClr val="020618"/>
                </a:solidFill>
                <a:latin typeface="DM Sans" pitchFamily="34" charset="0"/>
                <a:ea typeface="DM Sans" pitchFamily="34" charset="-122"/>
                <a:cs typeface="DM Sans" pitchFamily="34" charset="-120"/>
              </a:rPr>
              <a:t>Staff open it through CloudFront and sign in with Cognito</a:t>
            </a:r>
            <a:endParaRPr lang="en-US" sz="1150" dirty="0"/>
          </a:p>
          <a:p>
            <a:pPr marL="152400" indent="-152400">
              <a:spcAft>
                <a:spcPts val="600"/>
              </a:spcAft>
              <a:buSzPct val="100000"/>
              <a:buChar char="•"/>
            </a:pPr>
            <a:r>
              <a:rPr lang="en-US" sz="1150" dirty="0">
                <a:solidFill>
                  <a:srgbClr val="020618"/>
                </a:solidFill>
                <a:latin typeface="DM Sans" pitchFamily="34" charset="0"/>
                <a:ea typeface="DM Sans" pitchFamily="34" charset="-122"/>
                <a:cs typeface="DM Sans" pitchFamily="34" charset="-120"/>
              </a:rPr>
              <a:t>GET /rooms, /alerts, /stats/energy with the token</a:t>
            </a:r>
            <a:endParaRPr lang="en-US" sz="1150" dirty="0"/>
          </a:p>
          <a:p>
            <a:pPr marL="152400" indent="-152400">
              <a:buSzPct val="100000"/>
              <a:buChar char="•"/>
            </a:pPr>
            <a:r>
              <a:rPr lang="en-US" sz="1150" dirty="0">
                <a:solidFill>
                  <a:srgbClr val="020618"/>
                </a:solidFill>
                <a:latin typeface="DM Sans" pitchFamily="34" charset="0"/>
                <a:ea typeface="DM Sans" pitchFamily="34" charset="-122"/>
                <a:cs typeface="DM Sans" pitchFamily="34" charset="-120"/>
              </a:rPr>
              <a:t>Shows the updated rooms, alerts and energy</a:t>
            </a:r>
            <a:endParaRPr lang="en-US" sz="1150" dirty="0"/>
          </a:p>
        </p:txBody>
      </p:sp>
      <p:sp>
        <p:nvSpPr>
          <p:cNvPr id="39" name="Shape 32"/>
          <p:cNvSpPr/>
          <p:nvPr/>
        </p:nvSpPr>
        <p:spPr>
          <a:xfrm>
            <a:off x="3611880" y="3749040"/>
            <a:ext cx="5166360" cy="2651760"/>
          </a:xfrm>
          <a:prstGeom prst="roundRect">
            <a:avLst>
              <a:gd name="adj" fmla="val 5517"/>
            </a:avLst>
          </a:prstGeom>
          <a:solidFill>
            <a:srgbClr val="FFFFFF"/>
          </a:solidFill>
          <a:ln w="9525">
            <a:solidFill>
              <a:srgbClr val="E2E8F0"/>
            </a:solidFill>
            <a:prstDash val="solid"/>
          </a:ln>
          <a:effectLst>
            <a:outerShdw sx="100000" sy="100000" kx="0" ky="0" algn="bl" rotWithShape="0" blurRad="101600" dist="25400" dir="5400000">
              <a:srgbClr val="0F172B">
                <a:alpha val="8000"/>
              </a:srgbClr>
            </a:outerShdw>
          </a:effectLst>
        </p:spPr>
      </p:sp>
      <p:sp>
        <p:nvSpPr>
          <p:cNvPr id="40" name="Shape 33"/>
          <p:cNvSpPr/>
          <p:nvPr/>
        </p:nvSpPr>
        <p:spPr>
          <a:xfrm>
            <a:off x="7562088" y="3383280"/>
            <a:ext cx="0" cy="320040"/>
          </a:xfrm>
          <a:prstGeom prst="line">
            <a:avLst/>
          </a:prstGeom>
          <a:noFill/>
          <a:ln w="22225">
            <a:solidFill>
              <a:srgbClr val="62748E"/>
            </a:solidFill>
            <a:prstDash val="solid"/>
            <a:tailEnd type="triangle"/>
          </a:ln>
        </p:spPr>
      </p:sp>
      <p:sp>
        <p:nvSpPr>
          <p:cNvPr id="41" name="Text 34"/>
          <p:cNvSpPr txBox="1"/>
          <p:nvPr/>
        </p:nvSpPr>
        <p:spPr>
          <a:xfrm>
            <a:off x="3840480" y="3931920"/>
            <a:ext cx="4709160" cy="365760"/>
          </a:xfrm>
          <a:prstGeom prst="rect">
            <a:avLst/>
          </a:prstGeom>
          <a:noFill/>
          <a:ln/>
        </p:spPr>
        <p:txBody>
          <a:bodyPr wrap="square" lIns="0" tIns="0" rIns="0" bIns="0" rtlCol="0" anchor="ctr"/>
          <a:lstStyle/>
          <a:p>
            <a:pPr indent="0" marL="0">
              <a:buNone/>
            </a:pPr>
            <a:r>
              <a:rPr lang="en-US" sz="1500" b="1" dirty="0">
                <a:solidFill>
                  <a:srgbClr val="020618"/>
                </a:solidFill>
                <a:latin typeface="Space Grotesk" pitchFamily="34" charset="0"/>
                <a:ea typeface="Space Grotesk" pitchFamily="34" charset="-122"/>
                <a:cs typeface="Space Grotesk" pitchFamily="34" charset="-120"/>
              </a:rPr>
              <a:t>Inside the Lambda, for each reading</a:t>
            </a:r>
            <a:endParaRPr lang="en-US" sz="1500" dirty="0"/>
          </a:p>
        </p:txBody>
      </p:sp>
      <p:sp>
        <p:nvSpPr>
          <p:cNvPr id="42" name="Shape 35"/>
          <p:cNvSpPr/>
          <p:nvPr/>
        </p:nvSpPr>
        <p:spPr>
          <a:xfrm>
            <a:off x="3840480" y="4439412"/>
            <a:ext cx="310896" cy="310896"/>
          </a:xfrm>
          <a:prstGeom prst="ellipse">
            <a:avLst/>
          </a:prstGeom>
          <a:solidFill>
            <a:srgbClr val="F1F5F9"/>
          </a:solidFill>
          <a:ln w="9525">
            <a:solidFill>
              <a:srgbClr val="E2E8F0"/>
            </a:solidFill>
            <a:prstDash val="solid"/>
          </a:ln>
        </p:spPr>
      </p:sp>
      <p:sp>
        <p:nvSpPr>
          <p:cNvPr id="43" name="Text 36"/>
          <p:cNvSpPr txBox="1"/>
          <p:nvPr/>
        </p:nvSpPr>
        <p:spPr>
          <a:xfrm>
            <a:off x="3840480" y="4439412"/>
            <a:ext cx="310896" cy="310896"/>
          </a:xfrm>
          <a:prstGeom prst="rect">
            <a:avLst/>
          </a:prstGeom>
          <a:noFill/>
          <a:ln/>
        </p:spPr>
        <p:txBody>
          <a:bodyPr wrap="square" lIns="0" tIns="0" rIns="0" bIns="0" rtlCol="0" anchor="ctr"/>
          <a:lstStyle/>
          <a:p>
            <a:pPr algn="ctr" indent="0" marL="0">
              <a:buNone/>
            </a:pPr>
            <a:r>
              <a:rPr lang="en-US" sz="1100" b="1" dirty="0">
                <a:solidFill>
                  <a:srgbClr val="020618"/>
                </a:solidFill>
                <a:latin typeface="Space Grotesk" pitchFamily="34" charset="0"/>
                <a:ea typeface="Space Grotesk" pitchFamily="34" charset="-122"/>
                <a:cs typeface="Space Grotesk" pitchFamily="34" charset="-120"/>
              </a:rPr>
              <a:t>1</a:t>
            </a:r>
            <a:endParaRPr lang="en-US" sz="1100" dirty="0"/>
          </a:p>
        </p:txBody>
      </p:sp>
      <p:sp>
        <p:nvSpPr>
          <p:cNvPr id="44" name="Text 37"/>
          <p:cNvSpPr txBox="1"/>
          <p:nvPr/>
        </p:nvSpPr>
        <p:spPr>
          <a:xfrm>
            <a:off x="4297680" y="4407408"/>
            <a:ext cx="4251960" cy="374904"/>
          </a:xfrm>
          <a:prstGeom prst="rect">
            <a:avLst/>
          </a:prstGeom>
          <a:noFill/>
          <a:ln/>
        </p:spPr>
        <p:txBody>
          <a:bodyPr wrap="square" lIns="0" tIns="0" rIns="0" bIns="0" rtlCol="0" anchor="ctr"/>
          <a:lstStyle/>
          <a:p>
            <a:pPr indent="0" marL="0">
              <a:buNone/>
            </a:pPr>
            <a:r>
              <a:rPr lang="en-US" sz="1200" dirty="0">
                <a:solidFill>
                  <a:srgbClr val="020618"/>
                </a:solidFill>
                <a:latin typeface="DM Sans" pitchFamily="34" charset="0"/>
                <a:ea typeface="DM Sans" pitchFamily="34" charset="-122"/>
                <a:cs typeface="DM Sans" pitchFamily="34" charset="-120"/>
              </a:rPr>
              <a:t>Check the device key (wrong key → 401)</a:t>
            </a:r>
            <a:endParaRPr lang="en-US" sz="1200" dirty="0"/>
          </a:p>
        </p:txBody>
      </p:sp>
      <p:sp>
        <p:nvSpPr>
          <p:cNvPr id="45" name="Shape 38"/>
          <p:cNvSpPr/>
          <p:nvPr/>
        </p:nvSpPr>
        <p:spPr>
          <a:xfrm>
            <a:off x="3840480" y="4814316"/>
            <a:ext cx="310896" cy="310896"/>
          </a:xfrm>
          <a:prstGeom prst="ellipse">
            <a:avLst/>
          </a:prstGeom>
          <a:solidFill>
            <a:srgbClr val="F1F5F9"/>
          </a:solidFill>
          <a:ln w="9525">
            <a:solidFill>
              <a:srgbClr val="E2E8F0"/>
            </a:solidFill>
            <a:prstDash val="solid"/>
          </a:ln>
        </p:spPr>
      </p:sp>
      <p:sp>
        <p:nvSpPr>
          <p:cNvPr id="46" name="Text 39"/>
          <p:cNvSpPr txBox="1"/>
          <p:nvPr/>
        </p:nvSpPr>
        <p:spPr>
          <a:xfrm>
            <a:off x="3840480" y="4814316"/>
            <a:ext cx="310896" cy="310896"/>
          </a:xfrm>
          <a:prstGeom prst="rect">
            <a:avLst/>
          </a:prstGeom>
          <a:noFill/>
          <a:ln/>
        </p:spPr>
        <p:txBody>
          <a:bodyPr wrap="square" lIns="0" tIns="0" rIns="0" bIns="0" rtlCol="0" anchor="ctr"/>
          <a:lstStyle/>
          <a:p>
            <a:pPr algn="ctr" indent="0" marL="0">
              <a:buNone/>
            </a:pPr>
            <a:r>
              <a:rPr lang="en-US" sz="1100" b="1" dirty="0">
                <a:solidFill>
                  <a:srgbClr val="020618"/>
                </a:solidFill>
                <a:latin typeface="Space Grotesk" pitchFamily="34" charset="0"/>
                <a:ea typeface="Space Grotesk" pitchFamily="34" charset="-122"/>
                <a:cs typeface="Space Grotesk" pitchFamily="34" charset="-120"/>
              </a:rPr>
              <a:t>2</a:t>
            </a:r>
            <a:endParaRPr lang="en-US" sz="1100" dirty="0"/>
          </a:p>
        </p:txBody>
      </p:sp>
      <p:sp>
        <p:nvSpPr>
          <p:cNvPr id="47" name="Text 40"/>
          <p:cNvSpPr txBox="1"/>
          <p:nvPr/>
        </p:nvSpPr>
        <p:spPr>
          <a:xfrm>
            <a:off x="4297680" y="4782312"/>
            <a:ext cx="4251960" cy="374904"/>
          </a:xfrm>
          <a:prstGeom prst="rect">
            <a:avLst/>
          </a:prstGeom>
          <a:noFill/>
          <a:ln/>
        </p:spPr>
        <p:txBody>
          <a:bodyPr wrap="square" lIns="0" tIns="0" rIns="0" bIns="0" rtlCol="0" anchor="ctr"/>
          <a:lstStyle/>
          <a:p>
            <a:pPr indent="0" marL="0">
              <a:buNone/>
            </a:pPr>
            <a:r>
              <a:rPr lang="en-US" sz="1200" dirty="0">
                <a:solidFill>
                  <a:srgbClr val="020618"/>
                </a:solidFill>
                <a:latin typeface="DM Sans" pitchFamily="34" charset="0"/>
                <a:ea typeface="DM Sans" pitchFamily="34" charset="-122"/>
                <a:cs typeface="DM Sans" pitchFamily="34" charset="-120"/>
              </a:rPr>
              <a:t>Validate the reading and apply the alert rules</a:t>
            </a:r>
            <a:endParaRPr lang="en-US" sz="1200" dirty="0"/>
          </a:p>
        </p:txBody>
      </p:sp>
      <p:sp>
        <p:nvSpPr>
          <p:cNvPr id="48" name="Shape 41"/>
          <p:cNvSpPr/>
          <p:nvPr/>
        </p:nvSpPr>
        <p:spPr>
          <a:xfrm>
            <a:off x="3840480" y="5189220"/>
            <a:ext cx="310896" cy="310896"/>
          </a:xfrm>
          <a:prstGeom prst="ellipse">
            <a:avLst/>
          </a:prstGeom>
          <a:solidFill>
            <a:srgbClr val="F1F5F9"/>
          </a:solidFill>
          <a:ln w="9525">
            <a:solidFill>
              <a:srgbClr val="E2E8F0"/>
            </a:solidFill>
            <a:prstDash val="solid"/>
          </a:ln>
        </p:spPr>
      </p:sp>
      <p:sp>
        <p:nvSpPr>
          <p:cNvPr id="49" name="Text 42"/>
          <p:cNvSpPr txBox="1"/>
          <p:nvPr/>
        </p:nvSpPr>
        <p:spPr>
          <a:xfrm>
            <a:off x="3840480" y="5189220"/>
            <a:ext cx="310896" cy="310896"/>
          </a:xfrm>
          <a:prstGeom prst="rect">
            <a:avLst/>
          </a:prstGeom>
          <a:noFill/>
          <a:ln/>
        </p:spPr>
        <p:txBody>
          <a:bodyPr wrap="square" lIns="0" tIns="0" rIns="0" bIns="0" rtlCol="0" anchor="ctr"/>
          <a:lstStyle/>
          <a:p>
            <a:pPr algn="ctr" indent="0" marL="0">
              <a:buNone/>
            </a:pPr>
            <a:r>
              <a:rPr lang="en-US" sz="1100" b="1" dirty="0">
                <a:solidFill>
                  <a:srgbClr val="020618"/>
                </a:solidFill>
                <a:latin typeface="Space Grotesk" pitchFamily="34" charset="0"/>
                <a:ea typeface="Space Grotesk" pitchFamily="34" charset="-122"/>
                <a:cs typeface="Space Grotesk" pitchFamily="34" charset="-120"/>
              </a:rPr>
              <a:t>3</a:t>
            </a:r>
            <a:endParaRPr lang="en-US" sz="1100" dirty="0"/>
          </a:p>
        </p:txBody>
      </p:sp>
      <p:sp>
        <p:nvSpPr>
          <p:cNvPr id="50" name="Text 43"/>
          <p:cNvSpPr txBox="1"/>
          <p:nvPr/>
        </p:nvSpPr>
        <p:spPr>
          <a:xfrm>
            <a:off x="4297680" y="5157216"/>
            <a:ext cx="4251960" cy="374904"/>
          </a:xfrm>
          <a:prstGeom prst="rect">
            <a:avLst/>
          </a:prstGeom>
          <a:noFill/>
          <a:ln/>
        </p:spPr>
        <p:txBody>
          <a:bodyPr wrap="square" lIns="0" tIns="0" rIns="0" bIns="0" rtlCol="0" anchor="ctr"/>
          <a:lstStyle/>
          <a:p>
            <a:pPr indent="0" marL="0">
              <a:buNone/>
            </a:pPr>
            <a:r>
              <a:rPr lang="en-US" sz="1200" dirty="0">
                <a:solidFill>
                  <a:srgbClr val="020618"/>
                </a:solidFill>
                <a:latin typeface="DM Sans" pitchFamily="34" charset="0"/>
                <a:ea typeface="DM Sans" pitchFamily="34" charset="-122"/>
                <a:cs typeface="DM Sans" pitchFamily="34" charset="-120"/>
              </a:rPr>
              <a:t>Store the event only if its ID is new</a:t>
            </a:r>
            <a:endParaRPr lang="en-US" sz="1200" dirty="0"/>
          </a:p>
        </p:txBody>
      </p:sp>
      <p:sp>
        <p:nvSpPr>
          <p:cNvPr id="51" name="Shape 44"/>
          <p:cNvSpPr/>
          <p:nvPr/>
        </p:nvSpPr>
        <p:spPr>
          <a:xfrm>
            <a:off x="3840480" y="5564124"/>
            <a:ext cx="310896" cy="310896"/>
          </a:xfrm>
          <a:prstGeom prst="ellipse">
            <a:avLst/>
          </a:prstGeom>
          <a:solidFill>
            <a:srgbClr val="F1F5F9"/>
          </a:solidFill>
          <a:ln w="9525">
            <a:solidFill>
              <a:srgbClr val="E2E8F0"/>
            </a:solidFill>
            <a:prstDash val="solid"/>
          </a:ln>
        </p:spPr>
      </p:sp>
      <p:sp>
        <p:nvSpPr>
          <p:cNvPr id="52" name="Text 45"/>
          <p:cNvSpPr txBox="1"/>
          <p:nvPr/>
        </p:nvSpPr>
        <p:spPr>
          <a:xfrm>
            <a:off x="3840480" y="5564124"/>
            <a:ext cx="310896" cy="310896"/>
          </a:xfrm>
          <a:prstGeom prst="rect">
            <a:avLst/>
          </a:prstGeom>
          <a:noFill/>
          <a:ln/>
        </p:spPr>
        <p:txBody>
          <a:bodyPr wrap="square" lIns="0" tIns="0" rIns="0" bIns="0" rtlCol="0" anchor="ctr"/>
          <a:lstStyle/>
          <a:p>
            <a:pPr algn="ctr" indent="0" marL="0">
              <a:buNone/>
            </a:pPr>
            <a:r>
              <a:rPr lang="en-US" sz="1100" b="1" dirty="0">
                <a:solidFill>
                  <a:srgbClr val="020618"/>
                </a:solidFill>
                <a:latin typeface="Space Grotesk" pitchFamily="34" charset="0"/>
                <a:ea typeface="Space Grotesk" pitchFamily="34" charset="-122"/>
                <a:cs typeface="Space Grotesk" pitchFamily="34" charset="-120"/>
              </a:rPr>
              <a:t>4</a:t>
            </a:r>
            <a:endParaRPr lang="en-US" sz="1100" dirty="0"/>
          </a:p>
        </p:txBody>
      </p:sp>
      <p:sp>
        <p:nvSpPr>
          <p:cNvPr id="53" name="Text 46"/>
          <p:cNvSpPr txBox="1"/>
          <p:nvPr/>
        </p:nvSpPr>
        <p:spPr>
          <a:xfrm>
            <a:off x="4297680" y="5532120"/>
            <a:ext cx="4251960" cy="374904"/>
          </a:xfrm>
          <a:prstGeom prst="rect">
            <a:avLst/>
          </a:prstGeom>
          <a:noFill/>
          <a:ln/>
        </p:spPr>
        <p:txBody>
          <a:bodyPr wrap="square" lIns="0" tIns="0" rIns="0" bIns="0" rtlCol="0" anchor="ctr"/>
          <a:lstStyle/>
          <a:p>
            <a:pPr indent="0" marL="0">
              <a:buNone/>
            </a:pPr>
            <a:r>
              <a:rPr lang="en-US" sz="1200" dirty="0">
                <a:solidFill>
                  <a:srgbClr val="020618"/>
                </a:solidFill>
                <a:latin typeface="DM Sans" pitchFamily="34" charset="0"/>
                <a:ea typeface="DM Sans" pitchFamily="34" charset="-122"/>
                <a:cs typeface="DM Sans" pitchFamily="34" charset="-120"/>
              </a:rPr>
              <a:t>Update the room's values or the hourly energy total</a:t>
            </a:r>
            <a:endParaRPr lang="en-US" sz="1200" dirty="0"/>
          </a:p>
        </p:txBody>
      </p:sp>
      <p:sp>
        <p:nvSpPr>
          <p:cNvPr id="54" name="Shape 47"/>
          <p:cNvSpPr/>
          <p:nvPr/>
        </p:nvSpPr>
        <p:spPr>
          <a:xfrm>
            <a:off x="3840480" y="5939028"/>
            <a:ext cx="310896" cy="310896"/>
          </a:xfrm>
          <a:prstGeom prst="ellipse">
            <a:avLst/>
          </a:prstGeom>
          <a:solidFill>
            <a:srgbClr val="F1F5F9"/>
          </a:solidFill>
          <a:ln w="9525">
            <a:solidFill>
              <a:srgbClr val="E2E8F0"/>
            </a:solidFill>
            <a:prstDash val="solid"/>
          </a:ln>
        </p:spPr>
      </p:sp>
      <p:sp>
        <p:nvSpPr>
          <p:cNvPr id="55" name="Text 48"/>
          <p:cNvSpPr txBox="1"/>
          <p:nvPr/>
        </p:nvSpPr>
        <p:spPr>
          <a:xfrm>
            <a:off x="3840480" y="5939028"/>
            <a:ext cx="310896" cy="310896"/>
          </a:xfrm>
          <a:prstGeom prst="rect">
            <a:avLst/>
          </a:prstGeom>
          <a:noFill/>
          <a:ln/>
        </p:spPr>
        <p:txBody>
          <a:bodyPr wrap="square" lIns="0" tIns="0" rIns="0" bIns="0" rtlCol="0" anchor="ctr"/>
          <a:lstStyle/>
          <a:p>
            <a:pPr algn="ctr" indent="0" marL="0">
              <a:buNone/>
            </a:pPr>
            <a:r>
              <a:rPr lang="en-US" sz="1100" b="1" dirty="0">
                <a:solidFill>
                  <a:srgbClr val="020618"/>
                </a:solidFill>
                <a:latin typeface="Space Grotesk" pitchFamily="34" charset="0"/>
                <a:ea typeface="Space Grotesk" pitchFamily="34" charset="-122"/>
                <a:cs typeface="Space Grotesk" pitchFamily="34" charset="-120"/>
              </a:rPr>
              <a:t>5</a:t>
            </a:r>
            <a:endParaRPr lang="en-US" sz="1100" dirty="0"/>
          </a:p>
        </p:txBody>
      </p:sp>
      <p:sp>
        <p:nvSpPr>
          <p:cNvPr id="56" name="Text 49"/>
          <p:cNvSpPr txBox="1"/>
          <p:nvPr/>
        </p:nvSpPr>
        <p:spPr>
          <a:xfrm>
            <a:off x="4297680" y="5907024"/>
            <a:ext cx="4251960" cy="374904"/>
          </a:xfrm>
          <a:prstGeom prst="rect">
            <a:avLst/>
          </a:prstGeom>
          <a:noFill/>
          <a:ln/>
        </p:spPr>
        <p:txBody>
          <a:bodyPr wrap="square" lIns="0" tIns="0" rIns="0" bIns="0" rtlCol="0" anchor="ctr"/>
          <a:lstStyle/>
          <a:p>
            <a:pPr indent="0" marL="0">
              <a:buNone/>
            </a:pPr>
            <a:r>
              <a:rPr lang="en-US" sz="1200" dirty="0">
                <a:solidFill>
                  <a:srgbClr val="020618"/>
                </a:solidFill>
                <a:latin typeface="DM Sans" pitchFamily="34" charset="0"/>
                <a:ea typeface="DM Sans" pitchFamily="34" charset="-122"/>
                <a:cs typeface="DM Sans" pitchFamily="34" charset="-120"/>
              </a:rPr>
              <a:t>Raise an alert if a rule fired</a:t>
            </a:r>
            <a:endParaRPr lang="en-US" sz="1200" dirty="0"/>
          </a:p>
        </p:txBody>
      </p:sp>
      <p:sp>
        <p:nvSpPr>
          <p:cNvPr id="57" name="Shape 50"/>
          <p:cNvSpPr/>
          <p:nvPr/>
        </p:nvSpPr>
        <p:spPr>
          <a:xfrm>
            <a:off x="9052560" y="3749040"/>
            <a:ext cx="2587752" cy="2651760"/>
          </a:xfrm>
          <a:prstGeom prst="roundRect">
            <a:avLst>
              <a:gd name="adj" fmla="val 5654"/>
            </a:avLst>
          </a:prstGeom>
          <a:solidFill>
            <a:srgbClr val="FFFFFF"/>
          </a:solidFill>
          <a:ln w="9525">
            <a:solidFill>
              <a:srgbClr val="E2E8F0"/>
            </a:solidFill>
            <a:prstDash val="solid"/>
          </a:ln>
          <a:effectLst>
            <a:outerShdw sx="100000" sy="100000" kx="0" ky="0" algn="bl" rotWithShape="0" blurRad="101600" dist="25400" dir="5400000">
              <a:srgbClr val="0F172B">
                <a:alpha val="8000"/>
              </a:srgbClr>
            </a:outerShdw>
          </a:effectLst>
        </p:spPr>
      </p:sp>
      <p:sp>
        <p:nvSpPr>
          <p:cNvPr id="58" name="Shape 51"/>
          <p:cNvSpPr/>
          <p:nvPr/>
        </p:nvSpPr>
        <p:spPr>
          <a:xfrm>
            <a:off x="9253728" y="3950208"/>
            <a:ext cx="475488" cy="475488"/>
          </a:xfrm>
          <a:prstGeom prst="ellipse">
            <a:avLst/>
          </a:prstGeom>
          <a:solidFill>
            <a:srgbClr val="43C07A"/>
          </a:solidFill>
          <a:ln w="12700">
            <a:solidFill>
              <a:srgbClr val="43C07A"/>
            </a:solidFill>
            <a:prstDash val="solid"/>
          </a:ln>
        </p:spPr>
      </p:sp>
      <p:pic>
        <p:nvPicPr>
          <p:cNvPr id="59" name="Image 5" descr="preencoded.png">    </p:cNvPr>
          <p:cNvPicPr>
            <a:picLocks noChangeAspect="1"/>
          </p:cNvPicPr>
          <p:nvPr/>
        </p:nvPicPr>
        <p:blipFill>
          <a:blip r:embed="rId6"/>
          <a:stretch>
            <a:fillRect/>
          </a:stretch>
        </p:blipFill>
        <p:spPr>
          <a:xfrm>
            <a:off x="9372600" y="4069080"/>
            <a:ext cx="237744" cy="237744"/>
          </a:xfrm>
          <a:prstGeom prst="rect">
            <a:avLst/>
          </a:prstGeom>
        </p:spPr>
      </p:pic>
      <p:sp>
        <p:nvSpPr>
          <p:cNvPr id="60" name="Text 52"/>
          <p:cNvSpPr txBox="1"/>
          <p:nvPr/>
        </p:nvSpPr>
        <p:spPr>
          <a:xfrm>
            <a:off x="9848088" y="3950208"/>
            <a:ext cx="1673352" cy="475488"/>
          </a:xfrm>
          <a:prstGeom prst="rect">
            <a:avLst/>
          </a:prstGeom>
          <a:noFill/>
          <a:ln/>
        </p:spPr>
        <p:txBody>
          <a:bodyPr wrap="square" lIns="0" tIns="0" rIns="0" bIns="0" rtlCol="0" anchor="ctr"/>
          <a:lstStyle/>
          <a:p>
            <a:pPr indent="0" marL="0">
              <a:buNone/>
            </a:pPr>
            <a:r>
              <a:rPr lang="en-US" sz="1500" b="1" dirty="0">
                <a:solidFill>
                  <a:srgbClr val="020618"/>
                </a:solidFill>
                <a:latin typeface="Space Grotesk" pitchFamily="34" charset="0"/>
                <a:ea typeface="Space Grotesk" pitchFamily="34" charset="-122"/>
                <a:cs typeface="Space Grotesk" pitchFamily="34" charset="-120"/>
              </a:rPr>
              <a:t>Monitoring</a:t>
            </a:r>
            <a:endParaRPr lang="en-US" sz="1500" dirty="0"/>
          </a:p>
        </p:txBody>
      </p:sp>
      <p:sp>
        <p:nvSpPr>
          <p:cNvPr id="61" name="Text 53"/>
          <p:cNvSpPr txBox="1"/>
          <p:nvPr/>
        </p:nvSpPr>
        <p:spPr>
          <a:xfrm>
            <a:off x="9253728" y="4572000"/>
            <a:ext cx="2221992" cy="1691640"/>
          </a:xfrm>
          <a:prstGeom prst="rect">
            <a:avLst/>
          </a:prstGeom>
          <a:noFill/>
          <a:ln/>
        </p:spPr>
        <p:txBody>
          <a:bodyPr wrap="square" lIns="0" tIns="0" rIns="0" bIns="0" rtlCol="0" anchor="t"/>
          <a:lstStyle/>
          <a:p>
            <a:pPr marL="152400" indent="-152400">
              <a:spcAft>
                <a:spcPts val="600"/>
              </a:spcAft>
              <a:buSzPct val="100000"/>
              <a:buChar char="•"/>
            </a:pPr>
            <a:r>
              <a:rPr lang="en-US" sz="1150" dirty="0">
                <a:solidFill>
                  <a:srgbClr val="020618"/>
                </a:solidFill>
                <a:latin typeface="DM Sans" pitchFamily="34" charset="0"/>
                <a:ea typeface="DM Sans" pitchFamily="34" charset="-122"/>
                <a:cs typeface="DM Sans" pitchFamily="34" charset="-120"/>
              </a:rPr>
              <a:t>Replies with accepted, duplicate, rejected and failed counts</a:t>
            </a:r>
            <a:endParaRPr lang="en-US" sz="1150" dirty="0"/>
          </a:p>
          <a:p>
            <a:pPr marL="152400" indent="-152400">
              <a:spcAft>
                <a:spcPts val="600"/>
              </a:spcAft>
              <a:buSzPct val="100000"/>
              <a:buChar char="•"/>
            </a:pPr>
            <a:r>
              <a:rPr lang="en-US" sz="1150" dirty="0">
                <a:solidFill>
                  <a:srgbClr val="020618"/>
                </a:solidFill>
                <a:latin typeface="DM Sans" pitchFamily="34" charset="0"/>
                <a:ea typeface="DM Sans" pitchFamily="34" charset="-122"/>
                <a:cs typeface="DM Sans" pitchFamily="34" charset="-120"/>
              </a:rPr>
              <a:t>Metrics go to CloudWatch</a:t>
            </a:r>
            <a:endParaRPr lang="en-US" sz="1150" dirty="0"/>
          </a:p>
          <a:p>
            <a:pPr marL="152400" indent="-152400">
              <a:buSzPct val="100000"/>
              <a:buChar char="•"/>
            </a:pPr>
            <a:r>
              <a:rPr lang="en-US" sz="1150" dirty="0">
                <a:solidFill>
                  <a:srgbClr val="020618"/>
                </a:solidFill>
                <a:latin typeface="DM Sans" pitchFamily="34" charset="0"/>
                <a:ea typeface="DM Sans" pitchFamily="34" charset="-122"/>
                <a:cs typeface="DM Sans" pitchFamily="34" charset="-120"/>
              </a:rPr>
              <a:t>Alarms email the team through SNS</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CampusPulse data flow</dc:title>
  <dc:subject>PptxGenJS Presentation</dc:subject>
  <dc:creator>PptxGenJS</dc:creator>
  <cp:lastModifiedBy>PptxGenJS</cp:lastModifiedBy>
  <cp:revision>1</cp:revision>
  <dcterms:created xsi:type="dcterms:W3CDTF">2026-09-19T09:19:43Z</dcterms:created>
  <dcterms:modified xsi:type="dcterms:W3CDTF">2026-09-19T09:19:43Z</dcterms:modified>
</cp:coreProperties>
</file>