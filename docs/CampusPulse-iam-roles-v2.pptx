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IAM roles, we followed least privilege: each part gets its own role with only what it needs. The API Lambda role lists its DynamoDB actions table by table. For example, on the events table it only has PutItem and Query, so it can add and read readings but never edit or delete them. On the rooms table it has GetItem and UpdateItem, so it can read and update a room but not create or delete one. And there's no users table at all, because Cognito handles accounts. We also created an S3 role when we needed to copy our dashboard and Terraform state buckets to Paris for disaster recovery. Finally, the GitHub Actions role lets our CI/CD pipeline deploy, and only the main branch of our repository can use it, with temporary credentials instead of stored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IAM roles: least privilege</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Each part of the platform gets its own role, with only the permissions it needs.</a:t>
            </a:r>
            <a:endParaRPr lang="en-US" sz="1400" dirty="0"/>
          </a:p>
        </p:txBody>
      </p:sp>
      <p:sp>
        <p:nvSpPr>
          <p:cNvPr id="4" name="Shape 2"/>
          <p:cNvSpPr/>
          <p:nvPr/>
        </p:nvSpPr>
        <p:spPr>
          <a:xfrm>
            <a:off x="548640" y="1463040"/>
            <a:ext cx="7543800" cy="3383280"/>
          </a:xfrm>
          <a:prstGeom prst="roundRect">
            <a:avLst>
              <a:gd name="adj" fmla="val 4324"/>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77240" y="1691640"/>
            <a:ext cx="548640" cy="548640"/>
          </a:xfrm>
          <a:prstGeom prst="ellipse">
            <a:avLst/>
          </a:prstGeom>
          <a:solidFill>
            <a:srgbClr val="F9B73F"/>
          </a:solidFill>
          <a:ln w="12700">
            <a:solidFill>
              <a:srgbClr val="F9B73F"/>
            </a:solidFill>
            <a:prstDash val="solid"/>
          </a:ln>
        </p:spPr>
      </p:sp>
      <p:pic>
        <p:nvPicPr>
          <p:cNvPr id="6" name="Image 0" descr="preencoded.png">    </p:cNvPr>
          <p:cNvPicPr>
            <a:picLocks noChangeAspect="1"/>
          </p:cNvPicPr>
          <p:nvPr/>
        </p:nvPicPr>
        <p:blipFill>
          <a:blip r:embed="rId1"/>
          <a:stretch>
            <a:fillRect/>
          </a:stretch>
        </p:blipFill>
        <p:spPr>
          <a:xfrm>
            <a:off x="914400" y="1828800"/>
            <a:ext cx="274320" cy="274320"/>
          </a:xfrm>
          <a:prstGeom prst="rect">
            <a:avLst/>
          </a:prstGeom>
        </p:spPr>
      </p:pic>
      <p:sp>
        <p:nvSpPr>
          <p:cNvPr id="7" name="Text 4"/>
          <p:cNvSpPr txBox="1"/>
          <p:nvPr/>
        </p:nvSpPr>
        <p:spPr>
          <a:xfrm>
            <a:off x="1463040" y="1664208"/>
            <a:ext cx="3657600" cy="347472"/>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API Lambda role</a:t>
            </a:r>
            <a:endParaRPr lang="en-US" sz="1700" dirty="0"/>
          </a:p>
        </p:txBody>
      </p:sp>
      <p:sp>
        <p:nvSpPr>
          <p:cNvPr id="8" name="Text 5"/>
          <p:cNvSpPr txBox="1"/>
          <p:nvPr/>
        </p:nvSpPr>
        <p:spPr>
          <a:xfrm>
            <a:off x="1463040" y="1993392"/>
            <a:ext cx="3657600"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campuspulse-api-lambda</a:t>
            </a:r>
            <a:endParaRPr lang="en-US" sz="1100" dirty="0"/>
          </a:p>
        </p:txBody>
      </p:sp>
      <p:sp>
        <p:nvSpPr>
          <p:cNvPr id="9" name="Shape 6"/>
          <p:cNvSpPr/>
          <p:nvPr/>
        </p:nvSpPr>
        <p:spPr>
          <a:xfrm>
            <a:off x="777240" y="2331720"/>
            <a:ext cx="7086600" cy="310896"/>
          </a:xfrm>
          <a:prstGeom prst="roundRect">
            <a:avLst>
              <a:gd name="adj" fmla="val 29412"/>
            </a:avLst>
          </a:prstGeom>
          <a:solidFill>
            <a:srgbClr val="0F172B"/>
          </a:solidFill>
          <a:ln w="12700">
            <a:solidFill>
              <a:srgbClr val="0F172B"/>
            </a:solidFill>
            <a:prstDash val="solid"/>
          </a:ln>
        </p:spPr>
      </p:sp>
      <p:sp>
        <p:nvSpPr>
          <p:cNvPr id="10" name="Text 7"/>
          <p:cNvSpPr txBox="1"/>
          <p:nvPr/>
        </p:nvSpPr>
        <p:spPr>
          <a:xfrm>
            <a:off x="960120" y="2331720"/>
            <a:ext cx="1600200" cy="310896"/>
          </a:xfrm>
          <a:prstGeom prst="rect">
            <a:avLst/>
          </a:prstGeom>
          <a:noFill/>
          <a:ln/>
        </p:spPr>
        <p:txBody>
          <a:bodyPr wrap="square" lIns="0" tIns="0" rIns="0" bIns="0" rtlCol="0" anchor="ctr"/>
          <a:lstStyle/>
          <a:p>
            <a:pPr indent="0" marL="0">
              <a:buNone/>
            </a:pPr>
            <a:r>
              <a:rPr lang="en-US" sz="1100" b="1" dirty="0">
                <a:solidFill>
                  <a:srgbClr val="FFFFFF"/>
                </a:solidFill>
                <a:latin typeface="DM Sans" pitchFamily="34" charset="0"/>
                <a:ea typeface="DM Sans" pitchFamily="34" charset="-122"/>
                <a:cs typeface="DM Sans" pitchFamily="34" charset="-120"/>
              </a:rPr>
              <a:t>DynamoDB table</a:t>
            </a:r>
            <a:endParaRPr lang="en-US" sz="1100" dirty="0"/>
          </a:p>
        </p:txBody>
      </p:sp>
      <p:sp>
        <p:nvSpPr>
          <p:cNvPr id="11" name="Text 8"/>
          <p:cNvSpPr txBox="1"/>
          <p:nvPr/>
        </p:nvSpPr>
        <p:spPr>
          <a:xfrm>
            <a:off x="2560320" y="2331720"/>
            <a:ext cx="5212080" cy="310896"/>
          </a:xfrm>
          <a:prstGeom prst="rect">
            <a:avLst/>
          </a:prstGeom>
          <a:noFill/>
          <a:ln/>
        </p:spPr>
        <p:txBody>
          <a:bodyPr wrap="square" lIns="0" tIns="0" rIns="0" bIns="0" rtlCol="0" anchor="ctr"/>
          <a:lstStyle/>
          <a:p>
            <a:pPr indent="0" marL="0">
              <a:buNone/>
            </a:pPr>
            <a:r>
              <a:rPr lang="en-US" sz="1100" b="1" dirty="0">
                <a:solidFill>
                  <a:srgbClr val="FFFFFF"/>
                </a:solidFill>
                <a:latin typeface="DM Sans" pitchFamily="34" charset="0"/>
                <a:ea typeface="DM Sans" pitchFamily="34" charset="-122"/>
                <a:cs typeface="DM Sans" pitchFamily="34" charset="-120"/>
              </a:rPr>
              <a:t>Allowed actions (nothing else)</a:t>
            </a:r>
            <a:endParaRPr lang="en-US" sz="1100" dirty="0"/>
          </a:p>
        </p:txBody>
      </p:sp>
      <p:sp>
        <p:nvSpPr>
          <p:cNvPr id="12" name="Text 9"/>
          <p:cNvSpPr txBox="1"/>
          <p:nvPr/>
        </p:nvSpPr>
        <p:spPr>
          <a:xfrm>
            <a:off x="960120" y="2642616"/>
            <a:ext cx="1600200" cy="301752"/>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events</a:t>
            </a:r>
            <a:endParaRPr lang="en-US" sz="1200" dirty="0"/>
          </a:p>
        </p:txBody>
      </p:sp>
      <p:sp>
        <p:nvSpPr>
          <p:cNvPr id="13" name="Text 10"/>
          <p:cNvSpPr txBox="1"/>
          <p:nvPr/>
        </p:nvSpPr>
        <p:spPr>
          <a:xfrm>
            <a:off x="2560320" y="2642616"/>
            <a:ext cx="5212080" cy="301752"/>
          </a:xfrm>
          <a:prstGeom prst="rect">
            <a:avLst/>
          </a:prstGeom>
          <a:noFill/>
          <a:ln/>
        </p:spPr>
        <p:txBody>
          <a:bodyPr wrap="square" lIns="0" tIns="0" rIns="0" bIns="0" rtlCol="0" anchor="ctr"/>
          <a:lstStyle/>
          <a:p>
            <a:pPr indent="0" marL="0">
              <a:buNone/>
            </a:pPr>
            <a:r>
              <a:rPr lang="en-US" sz="1200" b="1" dirty="0">
                <a:solidFill>
                  <a:srgbClr val="020618"/>
                </a:solidFill>
                <a:latin typeface="DM Sans" pitchFamily="34" charset="0"/>
                <a:ea typeface="DM Sans" pitchFamily="34" charset="-122"/>
                <a:cs typeface="DM Sans" pitchFamily="34" charset="-120"/>
              </a:rPr>
              <a:t>PutItem · Query</a:t>
            </a:r>
            <a:pPr indent="0" marL="0">
              <a:buNone/>
            </a:pPr>
            <a:r>
              <a:rPr lang="en-US" sz="1050" dirty="0">
                <a:solidFill>
                  <a:srgbClr val="62748E"/>
                </a:solidFill>
                <a:latin typeface="DM Sans" pitchFamily="34" charset="0"/>
                <a:ea typeface="DM Sans" pitchFamily="34" charset="-122"/>
                <a:cs typeface="DM Sans" pitchFamily="34" charset="-120"/>
              </a:rPr>
              <a:t>   never edit or delete</a:t>
            </a:r>
            <a:endParaRPr lang="en-US" sz="1200" dirty="0"/>
          </a:p>
        </p:txBody>
      </p:sp>
      <p:sp>
        <p:nvSpPr>
          <p:cNvPr id="14" name="Shape 11"/>
          <p:cNvSpPr/>
          <p:nvPr/>
        </p:nvSpPr>
        <p:spPr>
          <a:xfrm>
            <a:off x="777240" y="2944368"/>
            <a:ext cx="7086600" cy="301752"/>
          </a:xfrm>
          <a:prstGeom prst="rect">
            <a:avLst/>
          </a:prstGeom>
          <a:solidFill>
            <a:srgbClr val="F1F5F9"/>
          </a:solidFill>
          <a:ln w="12700">
            <a:solidFill>
              <a:srgbClr val="F1F5F9"/>
            </a:solidFill>
            <a:prstDash val="solid"/>
          </a:ln>
        </p:spPr>
      </p:sp>
      <p:sp>
        <p:nvSpPr>
          <p:cNvPr id="15" name="Text 12"/>
          <p:cNvSpPr txBox="1"/>
          <p:nvPr/>
        </p:nvSpPr>
        <p:spPr>
          <a:xfrm>
            <a:off x="960120" y="2944368"/>
            <a:ext cx="1600200" cy="301752"/>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rooms</a:t>
            </a:r>
            <a:endParaRPr lang="en-US" sz="1200" dirty="0"/>
          </a:p>
        </p:txBody>
      </p:sp>
      <p:sp>
        <p:nvSpPr>
          <p:cNvPr id="16" name="Text 13"/>
          <p:cNvSpPr txBox="1"/>
          <p:nvPr/>
        </p:nvSpPr>
        <p:spPr>
          <a:xfrm>
            <a:off x="2560320" y="2944368"/>
            <a:ext cx="5212080" cy="301752"/>
          </a:xfrm>
          <a:prstGeom prst="rect">
            <a:avLst/>
          </a:prstGeom>
          <a:noFill/>
          <a:ln/>
        </p:spPr>
        <p:txBody>
          <a:bodyPr wrap="square" lIns="0" tIns="0" rIns="0" bIns="0" rtlCol="0" anchor="ctr"/>
          <a:lstStyle/>
          <a:p>
            <a:pPr indent="0" marL="0">
              <a:buNone/>
            </a:pPr>
            <a:r>
              <a:rPr lang="en-US" sz="1200" b="1" dirty="0">
                <a:solidFill>
                  <a:srgbClr val="020618"/>
                </a:solidFill>
                <a:latin typeface="DM Sans" pitchFamily="34" charset="0"/>
                <a:ea typeface="DM Sans" pitchFamily="34" charset="-122"/>
                <a:cs typeface="DM Sans" pitchFamily="34" charset="-120"/>
              </a:rPr>
              <a:t>Scan · GetItem · UpdateItem</a:t>
            </a:r>
            <a:pPr indent="0" marL="0">
              <a:buNone/>
            </a:pPr>
            <a:r>
              <a:rPr lang="en-US" sz="1050" dirty="0">
                <a:solidFill>
                  <a:srgbClr val="62748E"/>
                </a:solidFill>
                <a:latin typeface="DM Sans" pitchFamily="34" charset="0"/>
                <a:ea typeface="DM Sans" pitchFamily="34" charset="-122"/>
                <a:cs typeface="DM Sans" pitchFamily="34" charset="-120"/>
              </a:rPr>
              <a:t>   never create or delete</a:t>
            </a:r>
            <a:endParaRPr lang="en-US" sz="1200" dirty="0"/>
          </a:p>
        </p:txBody>
      </p:sp>
      <p:sp>
        <p:nvSpPr>
          <p:cNvPr id="17" name="Text 14"/>
          <p:cNvSpPr txBox="1"/>
          <p:nvPr/>
        </p:nvSpPr>
        <p:spPr>
          <a:xfrm>
            <a:off x="960120" y="3246120"/>
            <a:ext cx="1600200" cy="301752"/>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alerts</a:t>
            </a:r>
            <a:endParaRPr lang="en-US" sz="1200" dirty="0"/>
          </a:p>
        </p:txBody>
      </p:sp>
      <p:sp>
        <p:nvSpPr>
          <p:cNvPr id="18" name="Text 15"/>
          <p:cNvSpPr txBox="1"/>
          <p:nvPr/>
        </p:nvSpPr>
        <p:spPr>
          <a:xfrm>
            <a:off x="2560320" y="3246120"/>
            <a:ext cx="5212080" cy="301752"/>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GetItem · PutItem · UpdateItem · DeleteItem · ConditionCheckItem · Query</a:t>
            </a:r>
            <a:endParaRPr lang="en-US" sz="1050" dirty="0"/>
          </a:p>
        </p:txBody>
      </p:sp>
      <p:sp>
        <p:nvSpPr>
          <p:cNvPr id="19" name="Shape 16"/>
          <p:cNvSpPr/>
          <p:nvPr/>
        </p:nvSpPr>
        <p:spPr>
          <a:xfrm>
            <a:off x="777240" y="3547872"/>
            <a:ext cx="7086600" cy="301752"/>
          </a:xfrm>
          <a:prstGeom prst="rect">
            <a:avLst/>
          </a:prstGeom>
          <a:solidFill>
            <a:srgbClr val="F1F5F9"/>
          </a:solidFill>
          <a:ln w="12700">
            <a:solidFill>
              <a:srgbClr val="F1F5F9"/>
            </a:solidFill>
            <a:prstDash val="solid"/>
          </a:ln>
        </p:spPr>
      </p:sp>
      <p:sp>
        <p:nvSpPr>
          <p:cNvPr id="20" name="Text 17"/>
          <p:cNvSpPr txBox="1"/>
          <p:nvPr/>
        </p:nvSpPr>
        <p:spPr>
          <a:xfrm>
            <a:off x="960120" y="3547872"/>
            <a:ext cx="1600200" cy="301752"/>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service-requests</a:t>
            </a:r>
            <a:endParaRPr lang="en-US" sz="1200" dirty="0"/>
          </a:p>
        </p:txBody>
      </p:sp>
      <p:sp>
        <p:nvSpPr>
          <p:cNvPr id="21" name="Text 18"/>
          <p:cNvSpPr txBox="1"/>
          <p:nvPr/>
        </p:nvSpPr>
        <p:spPr>
          <a:xfrm>
            <a:off x="2560320" y="3547872"/>
            <a:ext cx="5212080" cy="301752"/>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GetItem · PutItem · UpdateItem · Query</a:t>
            </a:r>
            <a:endParaRPr lang="en-US" sz="1200" dirty="0"/>
          </a:p>
        </p:txBody>
      </p:sp>
      <p:sp>
        <p:nvSpPr>
          <p:cNvPr id="22" name="Text 19"/>
          <p:cNvSpPr txBox="1"/>
          <p:nvPr/>
        </p:nvSpPr>
        <p:spPr>
          <a:xfrm>
            <a:off x="960120" y="3849624"/>
            <a:ext cx="1600200" cy="301752"/>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aggregates</a:t>
            </a:r>
            <a:endParaRPr lang="en-US" sz="1200" dirty="0"/>
          </a:p>
        </p:txBody>
      </p:sp>
      <p:sp>
        <p:nvSpPr>
          <p:cNvPr id="23" name="Text 20"/>
          <p:cNvSpPr txBox="1"/>
          <p:nvPr/>
        </p:nvSpPr>
        <p:spPr>
          <a:xfrm>
            <a:off x="2560320" y="3849624"/>
            <a:ext cx="5212080" cy="301752"/>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UpdateItem · Query</a:t>
            </a:r>
            <a:endParaRPr lang="en-US" sz="1200" dirty="0"/>
          </a:p>
        </p:txBody>
      </p:sp>
      <p:sp>
        <p:nvSpPr>
          <p:cNvPr id="24" name="Shape 21"/>
          <p:cNvSpPr/>
          <p:nvPr/>
        </p:nvSpPr>
        <p:spPr>
          <a:xfrm>
            <a:off x="777240" y="4151376"/>
            <a:ext cx="7086600" cy="301752"/>
          </a:xfrm>
          <a:prstGeom prst="rect">
            <a:avLst/>
          </a:prstGeom>
          <a:solidFill>
            <a:srgbClr val="F1F5F9"/>
          </a:solidFill>
          <a:ln w="12700">
            <a:solidFill>
              <a:srgbClr val="F1F5F9"/>
            </a:solidFill>
            <a:prstDash val="solid"/>
          </a:ln>
        </p:spPr>
      </p:sp>
      <p:sp>
        <p:nvSpPr>
          <p:cNvPr id="25" name="Text 22"/>
          <p:cNvSpPr txBox="1"/>
          <p:nvPr/>
        </p:nvSpPr>
        <p:spPr>
          <a:xfrm>
            <a:off x="960120" y="4151376"/>
            <a:ext cx="1600200" cy="301752"/>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settings</a:t>
            </a:r>
            <a:endParaRPr lang="en-US" sz="1200" dirty="0"/>
          </a:p>
        </p:txBody>
      </p:sp>
      <p:sp>
        <p:nvSpPr>
          <p:cNvPr id="26" name="Text 23"/>
          <p:cNvSpPr txBox="1"/>
          <p:nvPr/>
        </p:nvSpPr>
        <p:spPr>
          <a:xfrm>
            <a:off x="2560320" y="4151376"/>
            <a:ext cx="5212080" cy="301752"/>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GetItem · PutItem</a:t>
            </a:r>
            <a:endParaRPr lang="en-US" sz="1200" dirty="0"/>
          </a:p>
        </p:txBody>
      </p:sp>
      <p:sp>
        <p:nvSpPr>
          <p:cNvPr id="27" name="Shape 24"/>
          <p:cNvSpPr/>
          <p:nvPr/>
        </p:nvSpPr>
        <p:spPr>
          <a:xfrm>
            <a:off x="777240" y="4507992"/>
            <a:ext cx="274320" cy="274320"/>
          </a:xfrm>
          <a:prstGeom prst="ellipse">
            <a:avLst/>
          </a:prstGeom>
          <a:solidFill>
            <a:srgbClr val="E6293F"/>
          </a:solidFill>
          <a:ln w="12700">
            <a:solidFill>
              <a:srgbClr val="E6293F"/>
            </a:solidFill>
            <a:prstDash val="solid"/>
          </a:ln>
        </p:spPr>
      </p:sp>
      <p:pic>
        <p:nvPicPr>
          <p:cNvPr id="28" name="Image 1" descr="preencoded.png">    </p:cNvPr>
          <p:cNvPicPr>
            <a:picLocks noChangeAspect="1"/>
          </p:cNvPicPr>
          <p:nvPr/>
        </p:nvPicPr>
        <p:blipFill>
          <a:blip r:embed="rId2"/>
          <a:stretch>
            <a:fillRect/>
          </a:stretch>
        </p:blipFill>
        <p:spPr>
          <a:xfrm>
            <a:off x="845820" y="4576572"/>
            <a:ext cx="137160" cy="137160"/>
          </a:xfrm>
          <a:prstGeom prst="rect">
            <a:avLst/>
          </a:prstGeom>
        </p:spPr>
      </p:pic>
      <p:sp>
        <p:nvSpPr>
          <p:cNvPr id="29" name="Text 25"/>
          <p:cNvSpPr txBox="1"/>
          <p:nvPr/>
        </p:nvSpPr>
        <p:spPr>
          <a:xfrm>
            <a:off x="1161288" y="4489704"/>
            <a:ext cx="6629400" cy="310896"/>
          </a:xfrm>
          <a:prstGeom prst="rect">
            <a:avLst/>
          </a:prstGeom>
          <a:noFill/>
          <a:ln/>
        </p:spPr>
        <p:txBody>
          <a:bodyPr wrap="square" lIns="0" tIns="0" rIns="0" bIns="0" rtlCol="0" anchor="ctr"/>
          <a:lstStyle/>
          <a:p>
            <a:pPr indent="0" marL="0">
              <a:buNone/>
            </a:pPr>
            <a:r>
              <a:rPr lang="en-US" sz="1100" dirty="0">
                <a:solidFill>
                  <a:srgbClr val="020618"/>
                </a:solidFill>
                <a:latin typeface="DM Sans" pitchFamily="34" charset="0"/>
                <a:ea typeface="DM Sans" pitchFamily="34" charset="-122"/>
                <a:cs typeface="DM Sans" pitchFamily="34" charset="-120"/>
              </a:rPr>
              <a:t>No users table: Cognito handles accounts. No permission to create or delete tables.</a:t>
            </a:r>
            <a:endParaRPr lang="en-US" sz="1100" dirty="0"/>
          </a:p>
        </p:txBody>
      </p:sp>
      <p:sp>
        <p:nvSpPr>
          <p:cNvPr id="30" name="Shape 26"/>
          <p:cNvSpPr/>
          <p:nvPr/>
        </p:nvSpPr>
        <p:spPr>
          <a:xfrm>
            <a:off x="8366760" y="1463040"/>
            <a:ext cx="3273552" cy="1554480"/>
          </a:xfrm>
          <a:prstGeom prst="roundRect">
            <a:avLst>
              <a:gd name="adj" fmla="val 9412"/>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1" name="Shape 27"/>
          <p:cNvSpPr/>
          <p:nvPr/>
        </p:nvSpPr>
        <p:spPr>
          <a:xfrm>
            <a:off x="8595360" y="1691640"/>
            <a:ext cx="548640" cy="548640"/>
          </a:xfrm>
          <a:prstGeom prst="ellipse">
            <a:avLst/>
          </a:prstGeom>
          <a:solidFill>
            <a:srgbClr val="009689"/>
          </a:solidFill>
          <a:ln w="12700">
            <a:solidFill>
              <a:srgbClr val="009689"/>
            </a:solidFill>
            <a:prstDash val="solid"/>
          </a:ln>
        </p:spPr>
      </p:sp>
      <p:pic>
        <p:nvPicPr>
          <p:cNvPr id="32" name="Image 2" descr="preencoded.png">    </p:cNvPr>
          <p:cNvPicPr>
            <a:picLocks noChangeAspect="1"/>
          </p:cNvPicPr>
          <p:nvPr/>
        </p:nvPicPr>
        <p:blipFill>
          <a:blip r:embed="rId3"/>
          <a:stretch>
            <a:fillRect/>
          </a:stretch>
        </p:blipFill>
        <p:spPr>
          <a:xfrm>
            <a:off x="8732520" y="1828800"/>
            <a:ext cx="274320" cy="274320"/>
          </a:xfrm>
          <a:prstGeom prst="rect">
            <a:avLst/>
          </a:prstGeom>
        </p:spPr>
      </p:pic>
      <p:sp>
        <p:nvSpPr>
          <p:cNvPr id="33" name="Text 28"/>
          <p:cNvSpPr txBox="1"/>
          <p:nvPr/>
        </p:nvSpPr>
        <p:spPr>
          <a:xfrm>
            <a:off x="9281160" y="1664208"/>
            <a:ext cx="2176272" cy="347472"/>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S3 replication role</a:t>
            </a:r>
            <a:endParaRPr lang="en-US" sz="1700" dirty="0"/>
          </a:p>
        </p:txBody>
      </p:sp>
      <p:sp>
        <p:nvSpPr>
          <p:cNvPr id="34" name="Text 29"/>
          <p:cNvSpPr txBox="1"/>
          <p:nvPr/>
        </p:nvSpPr>
        <p:spPr>
          <a:xfrm>
            <a:off x="9281160" y="1993392"/>
            <a:ext cx="2176272"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campuspulse-s3-replication</a:t>
            </a:r>
            <a:endParaRPr lang="en-US" sz="1100" dirty="0"/>
          </a:p>
        </p:txBody>
      </p:sp>
      <p:sp>
        <p:nvSpPr>
          <p:cNvPr id="35" name="Text 30"/>
          <p:cNvSpPr txBox="1"/>
          <p:nvPr/>
        </p:nvSpPr>
        <p:spPr>
          <a:xfrm>
            <a:off x="8595360" y="2304288"/>
            <a:ext cx="2816352" cy="658368"/>
          </a:xfrm>
          <a:prstGeom prst="rect">
            <a:avLst/>
          </a:prstGeom>
          <a:noFill/>
          <a:ln/>
        </p:spPr>
        <p:txBody>
          <a:bodyPr wrap="square" lIns="0" tIns="0" rIns="0" bIns="0" rtlCol="0" anchor="t"/>
          <a:lstStyle/>
          <a:p>
            <a:pPr indent="0" marL="0">
              <a:buNone/>
            </a:pPr>
            <a:r>
              <a:rPr lang="en-US" sz="1050" dirty="0">
                <a:solidFill>
                  <a:srgbClr val="020618"/>
                </a:solidFill>
                <a:latin typeface="DM Sans" pitchFamily="34" charset="0"/>
                <a:ea typeface="DM Sans" pitchFamily="34" charset="-122"/>
                <a:cs typeface="DM Sans" pitchFamily="34" charset="-120"/>
              </a:rPr>
              <a:t>Used by S3 to copy the dashboard and Terraform state buckets to Paris for disaster recovery. It can only read our source buckets and write the copies.</a:t>
            </a:r>
            <a:endParaRPr lang="en-US" sz="1050" dirty="0"/>
          </a:p>
        </p:txBody>
      </p:sp>
      <p:sp>
        <p:nvSpPr>
          <p:cNvPr id="36" name="Shape 31"/>
          <p:cNvSpPr/>
          <p:nvPr/>
        </p:nvSpPr>
        <p:spPr>
          <a:xfrm>
            <a:off x="8366760" y="3291840"/>
            <a:ext cx="3273552" cy="1554480"/>
          </a:xfrm>
          <a:prstGeom prst="roundRect">
            <a:avLst>
              <a:gd name="adj" fmla="val 9412"/>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7" name="Shape 32"/>
          <p:cNvSpPr/>
          <p:nvPr/>
        </p:nvSpPr>
        <p:spPr>
          <a:xfrm>
            <a:off x="8595360" y="3520440"/>
            <a:ext cx="548640" cy="548640"/>
          </a:xfrm>
          <a:prstGeom prst="ellipse">
            <a:avLst/>
          </a:prstGeom>
          <a:solidFill>
            <a:srgbClr val="0F172B"/>
          </a:solidFill>
          <a:ln w="12700">
            <a:solidFill>
              <a:srgbClr val="0F172B"/>
            </a:solidFill>
            <a:prstDash val="solid"/>
          </a:ln>
        </p:spPr>
      </p:sp>
      <p:pic>
        <p:nvPicPr>
          <p:cNvPr id="38" name="Image 3" descr="preencoded.png">    </p:cNvPr>
          <p:cNvPicPr>
            <a:picLocks noChangeAspect="1"/>
          </p:cNvPicPr>
          <p:nvPr/>
        </p:nvPicPr>
        <p:blipFill>
          <a:blip r:embed="rId4"/>
          <a:stretch>
            <a:fillRect/>
          </a:stretch>
        </p:blipFill>
        <p:spPr>
          <a:xfrm>
            <a:off x="8732520" y="3657600"/>
            <a:ext cx="274320" cy="274320"/>
          </a:xfrm>
          <a:prstGeom prst="rect">
            <a:avLst/>
          </a:prstGeom>
        </p:spPr>
      </p:pic>
      <p:sp>
        <p:nvSpPr>
          <p:cNvPr id="39" name="Text 33"/>
          <p:cNvSpPr txBox="1"/>
          <p:nvPr/>
        </p:nvSpPr>
        <p:spPr>
          <a:xfrm>
            <a:off x="9281160" y="3493008"/>
            <a:ext cx="2176272" cy="347472"/>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GitHub Actions role</a:t>
            </a:r>
            <a:endParaRPr lang="en-US" sz="1700" dirty="0"/>
          </a:p>
        </p:txBody>
      </p:sp>
      <p:sp>
        <p:nvSpPr>
          <p:cNvPr id="40" name="Text 34"/>
          <p:cNvSpPr txBox="1"/>
          <p:nvPr/>
        </p:nvSpPr>
        <p:spPr>
          <a:xfrm>
            <a:off x="9281160" y="3822192"/>
            <a:ext cx="2176272"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github-actions-campuspulse</a:t>
            </a:r>
            <a:endParaRPr lang="en-US" sz="1100" dirty="0"/>
          </a:p>
        </p:txBody>
      </p:sp>
      <p:sp>
        <p:nvSpPr>
          <p:cNvPr id="41" name="Text 35"/>
          <p:cNvSpPr txBox="1"/>
          <p:nvPr/>
        </p:nvSpPr>
        <p:spPr>
          <a:xfrm>
            <a:off x="8595360" y="4133088"/>
            <a:ext cx="2816352" cy="658368"/>
          </a:xfrm>
          <a:prstGeom prst="rect">
            <a:avLst/>
          </a:prstGeom>
          <a:noFill/>
          <a:ln/>
        </p:spPr>
        <p:txBody>
          <a:bodyPr wrap="square" lIns="0" tIns="0" rIns="0" bIns="0" rtlCol="0" anchor="t"/>
          <a:lstStyle/>
          <a:p>
            <a:pPr indent="0" marL="0">
              <a:buNone/>
            </a:pPr>
            <a:r>
              <a:rPr lang="en-US" sz="1050" dirty="0">
                <a:solidFill>
                  <a:srgbClr val="020618"/>
                </a:solidFill>
                <a:latin typeface="DM Sans" pitchFamily="34" charset="0"/>
                <a:ea typeface="DM Sans" pitchFamily="34" charset="-122"/>
                <a:cs typeface="DM Sans" pitchFamily="34" charset="-120"/>
              </a:rPr>
              <a:t>Lets the CI/CD pipeline deploy. Only the main branch of our repository can use it, with temporary credentials instead of stored keys.</a:t>
            </a:r>
            <a:endParaRPr lang="en-US" sz="1050" dirty="0"/>
          </a:p>
        </p:txBody>
      </p:sp>
      <p:sp>
        <p:nvSpPr>
          <p:cNvPr id="42" name="Shape 36"/>
          <p:cNvSpPr/>
          <p:nvPr/>
        </p:nvSpPr>
        <p:spPr>
          <a:xfrm>
            <a:off x="548640" y="5047488"/>
            <a:ext cx="11091672" cy="1444752"/>
          </a:xfrm>
          <a:prstGeom prst="roundRect">
            <a:avLst>
              <a:gd name="adj" fmla="val 1012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3" name="Text 37"/>
          <p:cNvSpPr txBox="1"/>
          <p:nvPr/>
        </p:nvSpPr>
        <p:spPr>
          <a:xfrm>
            <a:off x="777240" y="5230368"/>
            <a:ext cx="2743200" cy="274320"/>
          </a:xfrm>
          <a:prstGeom prst="rect">
            <a:avLst/>
          </a:prstGeom>
          <a:noFill/>
          <a:ln/>
        </p:spPr>
        <p:txBody>
          <a:bodyPr wrap="square" lIns="0" tIns="0" rIns="0" bIns="0" rtlCol="0" anchor="ctr"/>
          <a:lstStyle/>
          <a:p>
            <a:pPr indent="0" marL="0">
              <a:buNone/>
            </a:pPr>
            <a:r>
              <a:rPr lang="en-US" sz="1300" b="1" dirty="0">
                <a:solidFill>
                  <a:srgbClr val="020618"/>
                </a:solidFill>
                <a:latin typeface="Space Grotesk" pitchFamily="34" charset="0"/>
                <a:ea typeface="Space Grotesk" pitchFamily="34" charset="-122"/>
                <a:cs typeface="Space Grotesk" pitchFamily="34" charset="-120"/>
              </a:rPr>
              <a:t>IAM console</a:t>
            </a:r>
            <a:endParaRPr lang="en-US" sz="1300" dirty="0"/>
          </a:p>
        </p:txBody>
      </p:sp>
      <p:sp>
        <p:nvSpPr>
          <p:cNvPr id="44" name="Text 38"/>
          <p:cNvSpPr txBox="1"/>
          <p:nvPr/>
        </p:nvSpPr>
        <p:spPr>
          <a:xfrm>
            <a:off x="777240" y="5504688"/>
            <a:ext cx="2743200" cy="896112"/>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Our three roles and who is trusted to use each one (cropped). DemoRoleForEC2 is not part of CampusPulse.</a:t>
            </a:r>
            <a:endParaRPr lang="en-US" sz="1050" dirty="0"/>
          </a:p>
        </p:txBody>
      </p:sp>
      <p:pic>
        <p:nvPicPr>
          <p:cNvPr id="45" name="Image 4" descr="roles2.png">    </p:cNvPr>
          <p:cNvPicPr>
            <a:picLocks noChangeAspect="1"/>
          </p:cNvPicPr>
          <p:nvPr/>
        </p:nvPicPr>
        <p:blipFill>
          <a:blip r:embed="rId5"/>
          <a:stretch>
            <a:fillRect/>
          </a:stretch>
        </p:blipFill>
        <p:spPr>
          <a:xfrm>
            <a:off x="5374947" y="5184648"/>
            <a:ext cx="6128205" cy="11704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IAM roles</dc:title>
  <dc:subject>PptxGenJS Presentation</dc:subject>
  <dc:creator>PptxGenJS</dc:creator>
  <cp:lastModifiedBy>PptxGenJS</cp:lastModifiedBy>
  <cp:revision>1</cp:revision>
  <dcterms:created xsi:type="dcterms:W3CDTF">2026-09-19T10:11:30Z</dcterms:created>
  <dcterms:modified xsi:type="dcterms:W3CDTF">2026-09-19T10:11:30Z</dcterms:modified>
</cp:coreProperties>
</file>