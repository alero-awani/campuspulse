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you through how data moves through the app, from a sensor reading to the dashboard. The simulator acts as sensors in 24 campus rooms. Every 30 seconds it sends readings, like occupancy, temperature and energy, to API Gateway in batches of up to 25, with a device key. API Gateway limits the traffic and passes each batch to our Lambda function. The Lambda checks the key, validates each reading, stores it once in DynamoDB, updates the room's live values or energy totals, and raises an alert if a rule is broken. It reaches DynamoDB privately, never over the internet, and the data is copied to Paris within seconds. Staff then sign in through Cognito and see it all on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1F5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indent="0" marL="0">
              <a:buNone/>
            </a:pPr>
            <a:r>
              <a:rPr lang="en-US" sz="3400" b="1" dirty="0">
                <a:solidFill>
                  <a:srgbClr val="020618"/>
                </a:solidFill>
                <a:latin typeface="Space Grotesk" pitchFamily="34" charset="0"/>
                <a:ea typeface="Space Grotesk" pitchFamily="34" charset="-122"/>
                <a:cs typeface="Space Grotesk" pitchFamily="34" charset="-120"/>
              </a:rPr>
              <a:t>How data moves through the app</a:t>
            </a:r>
            <a:endParaRPr lang="en-US" sz="34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indent="0" marL="0">
              <a:buNone/>
            </a:pPr>
            <a:r>
              <a:rPr lang="en-US" sz="1400" dirty="0">
                <a:solidFill>
                  <a:srgbClr val="62748E"/>
                </a:solidFill>
                <a:latin typeface="DM Sans" pitchFamily="34" charset="0"/>
                <a:ea typeface="DM Sans" pitchFamily="34" charset="-122"/>
                <a:cs typeface="DM Sans" pitchFamily="34" charset="-120"/>
              </a:rPr>
              <a:t>From a sensor reading to the dashboard.</a:t>
            </a:r>
            <a:endParaRPr lang="en-US" sz="1400" dirty="0"/>
          </a:p>
        </p:txBody>
      </p:sp>
      <p:sp>
        <p:nvSpPr>
          <p:cNvPr id="4" name="Shape 2"/>
          <p:cNvSpPr/>
          <p:nvPr/>
        </p:nvSpPr>
        <p:spPr>
          <a:xfrm>
            <a:off x="548640" y="1600200"/>
            <a:ext cx="2286000" cy="1737360"/>
          </a:xfrm>
          <a:prstGeom prst="roundRect">
            <a:avLst>
              <a:gd name="adj" fmla="val 8421"/>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5" name="Shape 3"/>
          <p:cNvSpPr/>
          <p:nvPr/>
        </p:nvSpPr>
        <p:spPr>
          <a:xfrm>
            <a:off x="749808" y="1801368"/>
            <a:ext cx="548640" cy="548640"/>
          </a:xfrm>
          <a:prstGeom prst="ellipse">
            <a:avLst/>
          </a:prstGeom>
          <a:solidFill>
            <a:srgbClr val="F54900"/>
          </a:solidFill>
          <a:ln w="12700">
            <a:solidFill>
              <a:srgbClr val="F54900"/>
            </a:solidFill>
            <a:prstDash val="solid"/>
          </a:ln>
        </p:spPr>
      </p:sp>
      <p:pic>
        <p:nvPicPr>
          <p:cNvPr id="6" name="Image 0" descr="preencoded.png">    </p:cNvPr>
          <p:cNvPicPr>
            <a:picLocks noChangeAspect="1"/>
          </p:cNvPicPr>
          <p:nvPr/>
        </p:nvPicPr>
        <p:blipFill>
          <a:blip r:embed="rId1"/>
          <a:stretch>
            <a:fillRect/>
          </a:stretch>
        </p:blipFill>
        <p:spPr>
          <a:xfrm>
            <a:off x="886968" y="1938528"/>
            <a:ext cx="274320" cy="274320"/>
          </a:xfrm>
          <a:prstGeom prst="rect">
            <a:avLst/>
          </a:prstGeom>
        </p:spPr>
      </p:pic>
      <p:sp>
        <p:nvSpPr>
          <p:cNvPr id="7" name="Text 4"/>
          <p:cNvSpPr txBox="1"/>
          <p:nvPr/>
        </p:nvSpPr>
        <p:spPr>
          <a:xfrm>
            <a:off x="1417320" y="1783080"/>
            <a:ext cx="1280160" cy="329184"/>
          </a:xfrm>
          <a:prstGeom prst="rect">
            <a:avLst/>
          </a:prstGeom>
          <a:noFill/>
          <a:ln/>
        </p:spPr>
        <p:txBody>
          <a:bodyPr wrap="square" lIns="0" tIns="0" rIns="0" bIns="0" rtlCol="0" anchor="ctr"/>
          <a:lstStyle/>
          <a:p>
            <a:pPr indent="0" marL="0">
              <a:buNone/>
            </a:pPr>
            <a:r>
              <a:rPr lang="en-US" sz="1600" b="1" dirty="0">
                <a:solidFill>
                  <a:srgbClr val="020618"/>
                </a:solidFill>
                <a:latin typeface="Space Grotesk" pitchFamily="34" charset="0"/>
                <a:ea typeface="Space Grotesk" pitchFamily="34" charset="-122"/>
                <a:cs typeface="Space Grotesk" pitchFamily="34" charset="-120"/>
              </a:rPr>
              <a:t>Simulator</a:t>
            </a:r>
            <a:endParaRPr lang="en-US" sz="1600" dirty="0"/>
          </a:p>
        </p:txBody>
      </p:sp>
      <p:sp>
        <p:nvSpPr>
          <p:cNvPr id="8" name="Text 5"/>
          <p:cNvSpPr txBox="1"/>
          <p:nvPr/>
        </p:nvSpPr>
        <p:spPr>
          <a:xfrm>
            <a:off x="1417320" y="2093976"/>
            <a:ext cx="1280160" cy="274320"/>
          </a:xfrm>
          <a:prstGeom prst="rect">
            <a:avLst/>
          </a:prstGeom>
          <a:noFill/>
          <a:ln/>
        </p:spPr>
        <p:txBody>
          <a:bodyPr wrap="square" lIns="0" tIns="0" rIns="0" bIns="0" rtlCol="0" anchor="ctr"/>
          <a:lstStyle/>
          <a:p>
            <a:pPr indent="0" marL="0">
              <a:buNone/>
            </a:pPr>
            <a:r>
              <a:rPr lang="en-US" sz="1000" dirty="0">
                <a:solidFill>
                  <a:srgbClr val="62748E"/>
                </a:solidFill>
                <a:latin typeface="DM Sans" pitchFamily="34" charset="0"/>
                <a:ea typeface="DM Sans" pitchFamily="34" charset="-122"/>
                <a:cs typeface="DM Sans" pitchFamily="34" charset="-120"/>
              </a:rPr>
              <a:t>Sensors in 24 campus rooms</a:t>
            </a:r>
            <a:endParaRPr lang="en-US" sz="1000" dirty="0"/>
          </a:p>
        </p:txBody>
      </p:sp>
      <p:sp>
        <p:nvSpPr>
          <p:cNvPr id="9" name="Text 6"/>
          <p:cNvSpPr txBox="1"/>
          <p:nvPr/>
        </p:nvSpPr>
        <p:spPr>
          <a:xfrm>
            <a:off x="749808" y="2496312"/>
            <a:ext cx="1920240" cy="731520"/>
          </a:xfrm>
          <a:prstGeom prst="rect">
            <a:avLst/>
          </a:prstGeom>
          <a:noFill/>
          <a:ln/>
        </p:spPr>
        <p:txBody>
          <a:bodyPr wrap="square" lIns="0" tIns="0" rIns="0" bIns="0" rtlCol="0" anchor="t"/>
          <a:lstStyle/>
          <a:p>
            <a:pPr indent="0" marL="0">
              <a:buNone/>
            </a:pPr>
            <a:r>
              <a:rPr lang="en-US" sz="1200" dirty="0">
                <a:solidFill>
                  <a:srgbClr val="020618"/>
                </a:solidFill>
                <a:latin typeface="DM Sans" pitchFamily="34" charset="0"/>
                <a:ea typeface="DM Sans" pitchFamily="34" charset="-122"/>
                <a:cs typeface="DM Sans" pitchFamily="34" charset="-120"/>
              </a:rPr>
              <a:t>Every 30 s: occupancy, temperature and energy readings</a:t>
            </a:r>
            <a:endParaRPr lang="en-US" sz="1200" dirty="0"/>
          </a:p>
        </p:txBody>
      </p:sp>
      <p:sp>
        <p:nvSpPr>
          <p:cNvPr id="10" name="Shape 7"/>
          <p:cNvSpPr/>
          <p:nvPr/>
        </p:nvSpPr>
        <p:spPr>
          <a:xfrm>
            <a:off x="2907792" y="2468880"/>
            <a:ext cx="502920" cy="0"/>
          </a:xfrm>
          <a:prstGeom prst="line">
            <a:avLst/>
          </a:prstGeom>
          <a:noFill/>
          <a:ln w="22225">
            <a:solidFill>
              <a:srgbClr val="62748E"/>
            </a:solidFill>
            <a:prstDash val="solid"/>
            <a:tailEnd type="triangle"/>
          </a:ln>
        </p:spPr>
      </p:sp>
      <p:sp>
        <p:nvSpPr>
          <p:cNvPr id="11" name="Text 8"/>
          <p:cNvSpPr txBox="1"/>
          <p:nvPr/>
        </p:nvSpPr>
        <p:spPr>
          <a:xfrm>
            <a:off x="2834640" y="2011680"/>
            <a:ext cx="649224" cy="384048"/>
          </a:xfrm>
          <a:prstGeom prst="rect">
            <a:avLst/>
          </a:prstGeom>
          <a:noFill/>
          <a:ln/>
        </p:spPr>
        <p:txBody>
          <a:bodyPr wrap="square" lIns="0" tIns="0" rIns="0" bIns="0" rtlCol="0" anchor="b"/>
          <a:lstStyle/>
          <a:p>
            <a:pPr algn="ctr" indent="0" marL="0">
              <a:buNone/>
            </a:pPr>
            <a:r>
              <a:rPr lang="en-US" sz="900" b="1" dirty="0">
                <a:solidFill>
                  <a:srgbClr val="62748E"/>
                </a:solidFill>
                <a:latin typeface="DM Sans" pitchFamily="34" charset="0"/>
                <a:ea typeface="DM Sans" pitchFamily="34" charset="-122"/>
                <a:cs typeface="DM Sans" pitchFamily="34" charset="-120"/>
              </a:rPr>
              <a:t>up to 25,</a:t>
            </a:r>
            <a:endParaRPr lang="en-US" sz="900" dirty="0"/>
          </a:p>
          <a:p>
            <a:pPr algn="ctr" indent="0" marL="0">
              <a:buNone/>
            </a:pPr>
            <a:r>
              <a:rPr lang="en-US" sz="900" b="1" dirty="0">
                <a:solidFill>
                  <a:srgbClr val="62748E"/>
                </a:solidFill>
                <a:latin typeface="DM Sans" pitchFamily="34" charset="0"/>
                <a:ea typeface="DM Sans" pitchFamily="34" charset="-122"/>
                <a:cs typeface="DM Sans" pitchFamily="34" charset="-120"/>
              </a:rPr>
              <a:t>device key</a:t>
            </a:r>
            <a:endParaRPr lang="en-US" sz="900" dirty="0"/>
          </a:p>
        </p:txBody>
      </p:sp>
      <p:sp>
        <p:nvSpPr>
          <p:cNvPr id="12" name="Shape 9"/>
          <p:cNvSpPr/>
          <p:nvPr/>
        </p:nvSpPr>
        <p:spPr>
          <a:xfrm>
            <a:off x="3483864" y="1600200"/>
            <a:ext cx="2286000" cy="1737360"/>
          </a:xfrm>
          <a:prstGeom prst="roundRect">
            <a:avLst>
              <a:gd name="adj" fmla="val 8421"/>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13" name="Shape 10"/>
          <p:cNvSpPr/>
          <p:nvPr/>
        </p:nvSpPr>
        <p:spPr>
          <a:xfrm>
            <a:off x="3685032" y="1801368"/>
            <a:ext cx="548640" cy="548640"/>
          </a:xfrm>
          <a:prstGeom prst="ellipse">
            <a:avLst/>
          </a:prstGeom>
          <a:solidFill>
            <a:srgbClr val="0F172B"/>
          </a:solidFill>
          <a:ln w="12700">
            <a:solidFill>
              <a:srgbClr val="0F172B"/>
            </a:solidFill>
            <a:prstDash val="solid"/>
          </a:ln>
        </p:spPr>
      </p:sp>
      <p:pic>
        <p:nvPicPr>
          <p:cNvPr id="14" name="Image 1" descr="preencoded.png">    </p:cNvPr>
          <p:cNvPicPr>
            <a:picLocks noChangeAspect="1"/>
          </p:cNvPicPr>
          <p:nvPr/>
        </p:nvPicPr>
        <p:blipFill>
          <a:blip r:embed="rId2"/>
          <a:stretch>
            <a:fillRect/>
          </a:stretch>
        </p:blipFill>
        <p:spPr>
          <a:xfrm>
            <a:off x="3822192" y="1938528"/>
            <a:ext cx="274320" cy="274320"/>
          </a:xfrm>
          <a:prstGeom prst="rect">
            <a:avLst/>
          </a:prstGeom>
        </p:spPr>
      </p:pic>
      <p:sp>
        <p:nvSpPr>
          <p:cNvPr id="15" name="Text 11"/>
          <p:cNvSpPr txBox="1"/>
          <p:nvPr/>
        </p:nvSpPr>
        <p:spPr>
          <a:xfrm>
            <a:off x="4352544" y="1783080"/>
            <a:ext cx="1280160" cy="329184"/>
          </a:xfrm>
          <a:prstGeom prst="rect">
            <a:avLst/>
          </a:prstGeom>
          <a:noFill/>
          <a:ln/>
        </p:spPr>
        <p:txBody>
          <a:bodyPr wrap="square" lIns="0" tIns="0" rIns="0" bIns="0" rtlCol="0" anchor="ctr"/>
          <a:lstStyle/>
          <a:p>
            <a:pPr indent="0" marL="0">
              <a:buNone/>
            </a:pPr>
            <a:r>
              <a:rPr lang="en-US" sz="1600" b="1" dirty="0">
                <a:solidFill>
                  <a:srgbClr val="020618"/>
                </a:solidFill>
                <a:latin typeface="Space Grotesk" pitchFamily="34" charset="0"/>
                <a:ea typeface="Space Grotesk" pitchFamily="34" charset="-122"/>
                <a:cs typeface="Space Grotesk" pitchFamily="34" charset="-120"/>
              </a:rPr>
              <a:t>API Gateway</a:t>
            </a:r>
            <a:endParaRPr lang="en-US" sz="1600" dirty="0"/>
          </a:p>
        </p:txBody>
      </p:sp>
      <p:sp>
        <p:nvSpPr>
          <p:cNvPr id="16" name="Text 12"/>
          <p:cNvSpPr txBox="1"/>
          <p:nvPr/>
        </p:nvSpPr>
        <p:spPr>
          <a:xfrm>
            <a:off x="4352544" y="2093976"/>
            <a:ext cx="1280160" cy="274320"/>
          </a:xfrm>
          <a:prstGeom prst="rect">
            <a:avLst/>
          </a:prstGeom>
          <a:noFill/>
          <a:ln/>
        </p:spPr>
        <p:txBody>
          <a:bodyPr wrap="square" lIns="0" tIns="0" rIns="0" bIns="0" rtlCol="0" anchor="ctr"/>
          <a:lstStyle/>
          <a:p>
            <a:pPr indent="0" marL="0">
              <a:buNone/>
            </a:pPr>
            <a:r>
              <a:rPr lang="en-US" sz="1000" dirty="0">
                <a:solidFill>
                  <a:srgbClr val="62748E"/>
                </a:solidFill>
                <a:latin typeface="DM Sans" pitchFamily="34" charset="0"/>
                <a:ea typeface="DM Sans" pitchFamily="34" charset="-122"/>
                <a:cs typeface="DM Sans" pitchFamily="34" charset="-120"/>
              </a:rPr>
              <a:t>The entry point</a:t>
            </a:r>
            <a:endParaRPr lang="en-US" sz="1000" dirty="0"/>
          </a:p>
        </p:txBody>
      </p:sp>
      <p:sp>
        <p:nvSpPr>
          <p:cNvPr id="17" name="Text 13"/>
          <p:cNvSpPr txBox="1"/>
          <p:nvPr/>
        </p:nvSpPr>
        <p:spPr>
          <a:xfrm>
            <a:off x="3685032" y="2496312"/>
            <a:ext cx="1920240" cy="731520"/>
          </a:xfrm>
          <a:prstGeom prst="rect">
            <a:avLst/>
          </a:prstGeom>
          <a:noFill/>
          <a:ln/>
        </p:spPr>
        <p:txBody>
          <a:bodyPr wrap="square" lIns="0" tIns="0" rIns="0" bIns="0" rtlCol="0" anchor="t"/>
          <a:lstStyle/>
          <a:p>
            <a:pPr indent="0" marL="0">
              <a:buNone/>
            </a:pPr>
            <a:r>
              <a:rPr lang="en-US" sz="1200" dirty="0">
                <a:solidFill>
                  <a:srgbClr val="020618"/>
                </a:solidFill>
                <a:latin typeface="DM Sans" pitchFamily="34" charset="0"/>
                <a:ea typeface="DM Sans" pitchFamily="34" charset="-122"/>
                <a:cs typeface="DM Sans" pitchFamily="34" charset="-120"/>
              </a:rPr>
              <a:t>Limits the traffic and passes each batch to the Lambda</a:t>
            </a:r>
            <a:endParaRPr lang="en-US" sz="1200" dirty="0"/>
          </a:p>
        </p:txBody>
      </p:sp>
      <p:sp>
        <p:nvSpPr>
          <p:cNvPr id="18" name="Shape 14"/>
          <p:cNvSpPr/>
          <p:nvPr/>
        </p:nvSpPr>
        <p:spPr>
          <a:xfrm>
            <a:off x="5843016" y="2468880"/>
            <a:ext cx="502920" cy="0"/>
          </a:xfrm>
          <a:prstGeom prst="line">
            <a:avLst/>
          </a:prstGeom>
          <a:noFill/>
          <a:ln w="22225">
            <a:solidFill>
              <a:srgbClr val="62748E"/>
            </a:solidFill>
            <a:prstDash val="solid"/>
            <a:tailEnd type="triangle"/>
          </a:ln>
        </p:spPr>
      </p:sp>
      <p:sp>
        <p:nvSpPr>
          <p:cNvPr id="19" name="Text 15"/>
          <p:cNvSpPr txBox="1"/>
          <p:nvPr/>
        </p:nvSpPr>
        <p:spPr>
          <a:xfrm>
            <a:off x="5769864" y="2011680"/>
            <a:ext cx="649224" cy="384048"/>
          </a:xfrm>
          <a:prstGeom prst="rect">
            <a:avLst/>
          </a:prstGeom>
          <a:noFill/>
          <a:ln/>
        </p:spPr>
        <p:txBody>
          <a:bodyPr wrap="square" lIns="0" tIns="0" rIns="0" bIns="0" rtlCol="0" anchor="b"/>
          <a:lstStyle/>
          <a:p>
            <a:pPr algn="ctr" indent="0" marL="0">
              <a:buNone/>
            </a:pPr>
            <a:r>
              <a:rPr lang="en-US" sz="900" b="1" dirty="0">
                <a:solidFill>
                  <a:srgbClr val="62748E"/>
                </a:solidFill>
                <a:latin typeface="DM Sans" pitchFamily="34" charset="0"/>
                <a:ea typeface="DM Sans" pitchFamily="34" charset="-122"/>
                <a:cs typeface="DM Sans" pitchFamily="34" charset="-120"/>
              </a:rPr>
              <a:t>each</a:t>
            </a:r>
            <a:endParaRPr lang="en-US" sz="900" dirty="0"/>
          </a:p>
          <a:p>
            <a:pPr algn="ctr" indent="0" marL="0">
              <a:buNone/>
            </a:pPr>
            <a:r>
              <a:rPr lang="en-US" sz="900" b="1" dirty="0">
                <a:solidFill>
                  <a:srgbClr val="62748E"/>
                </a:solidFill>
                <a:latin typeface="DM Sans" pitchFamily="34" charset="0"/>
                <a:ea typeface="DM Sans" pitchFamily="34" charset="-122"/>
                <a:cs typeface="DM Sans" pitchFamily="34" charset="-120"/>
              </a:rPr>
              <a:t>batch</a:t>
            </a:r>
            <a:endParaRPr lang="en-US" sz="900" dirty="0"/>
          </a:p>
        </p:txBody>
      </p:sp>
      <p:sp>
        <p:nvSpPr>
          <p:cNvPr id="20" name="Shape 16"/>
          <p:cNvSpPr/>
          <p:nvPr/>
        </p:nvSpPr>
        <p:spPr>
          <a:xfrm>
            <a:off x="6419088" y="1600200"/>
            <a:ext cx="2286000" cy="1737360"/>
          </a:xfrm>
          <a:prstGeom prst="roundRect">
            <a:avLst>
              <a:gd name="adj" fmla="val 8421"/>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21" name="Shape 17"/>
          <p:cNvSpPr/>
          <p:nvPr/>
        </p:nvSpPr>
        <p:spPr>
          <a:xfrm>
            <a:off x="6620256" y="1801368"/>
            <a:ext cx="548640" cy="548640"/>
          </a:xfrm>
          <a:prstGeom prst="ellipse">
            <a:avLst/>
          </a:prstGeom>
          <a:solidFill>
            <a:srgbClr val="F9B73F"/>
          </a:solidFill>
          <a:ln w="12700">
            <a:solidFill>
              <a:srgbClr val="F9B73F"/>
            </a:solidFill>
            <a:prstDash val="solid"/>
          </a:ln>
        </p:spPr>
      </p:sp>
      <p:pic>
        <p:nvPicPr>
          <p:cNvPr id="22" name="Image 2" descr="preencoded.png">    </p:cNvPr>
          <p:cNvPicPr>
            <a:picLocks noChangeAspect="1"/>
          </p:cNvPicPr>
          <p:nvPr/>
        </p:nvPicPr>
        <p:blipFill>
          <a:blip r:embed="rId3"/>
          <a:stretch>
            <a:fillRect/>
          </a:stretch>
        </p:blipFill>
        <p:spPr>
          <a:xfrm>
            <a:off x="6757416" y="1938528"/>
            <a:ext cx="274320" cy="274320"/>
          </a:xfrm>
          <a:prstGeom prst="rect">
            <a:avLst/>
          </a:prstGeom>
        </p:spPr>
      </p:pic>
      <p:sp>
        <p:nvSpPr>
          <p:cNvPr id="23" name="Text 18"/>
          <p:cNvSpPr txBox="1"/>
          <p:nvPr/>
        </p:nvSpPr>
        <p:spPr>
          <a:xfrm>
            <a:off x="7287768" y="1783080"/>
            <a:ext cx="1280160" cy="329184"/>
          </a:xfrm>
          <a:prstGeom prst="rect">
            <a:avLst/>
          </a:prstGeom>
          <a:noFill/>
          <a:ln/>
        </p:spPr>
        <p:txBody>
          <a:bodyPr wrap="square" lIns="0" tIns="0" rIns="0" bIns="0" rtlCol="0" anchor="ctr"/>
          <a:lstStyle/>
          <a:p>
            <a:pPr indent="0" marL="0">
              <a:buNone/>
            </a:pPr>
            <a:r>
              <a:rPr lang="en-US" sz="1600" b="1" dirty="0">
                <a:solidFill>
                  <a:srgbClr val="020618"/>
                </a:solidFill>
                <a:latin typeface="Space Grotesk" pitchFamily="34" charset="0"/>
                <a:ea typeface="Space Grotesk" pitchFamily="34" charset="-122"/>
                <a:cs typeface="Space Grotesk" pitchFamily="34" charset="-120"/>
              </a:rPr>
              <a:t>Lambda</a:t>
            </a:r>
            <a:endParaRPr lang="en-US" sz="1600" dirty="0"/>
          </a:p>
        </p:txBody>
      </p:sp>
      <p:sp>
        <p:nvSpPr>
          <p:cNvPr id="24" name="Text 19"/>
          <p:cNvSpPr txBox="1"/>
          <p:nvPr/>
        </p:nvSpPr>
        <p:spPr>
          <a:xfrm>
            <a:off x="7287768" y="2093976"/>
            <a:ext cx="1280160" cy="274320"/>
          </a:xfrm>
          <a:prstGeom prst="rect">
            <a:avLst/>
          </a:prstGeom>
          <a:noFill/>
          <a:ln/>
        </p:spPr>
        <p:txBody>
          <a:bodyPr wrap="square" lIns="0" tIns="0" rIns="0" bIns="0" rtlCol="0" anchor="ctr"/>
          <a:lstStyle/>
          <a:p>
            <a:pPr indent="0" marL="0">
              <a:buNone/>
            </a:pPr>
            <a:r>
              <a:rPr lang="en-US" sz="1000" dirty="0">
                <a:solidFill>
                  <a:srgbClr val="62748E"/>
                </a:solidFill>
                <a:latin typeface="DM Sans" pitchFamily="34" charset="0"/>
                <a:ea typeface="DM Sans" pitchFamily="34" charset="-122"/>
                <a:cs typeface="DM Sans" pitchFamily="34" charset="-120"/>
              </a:rPr>
              <a:t>Our function</a:t>
            </a:r>
            <a:endParaRPr lang="en-US" sz="1000" dirty="0"/>
          </a:p>
        </p:txBody>
      </p:sp>
      <p:sp>
        <p:nvSpPr>
          <p:cNvPr id="25" name="Text 20"/>
          <p:cNvSpPr txBox="1"/>
          <p:nvPr/>
        </p:nvSpPr>
        <p:spPr>
          <a:xfrm>
            <a:off x="6620256" y="2496312"/>
            <a:ext cx="1920240" cy="731520"/>
          </a:xfrm>
          <a:prstGeom prst="rect">
            <a:avLst/>
          </a:prstGeom>
          <a:noFill/>
          <a:ln/>
        </p:spPr>
        <p:txBody>
          <a:bodyPr wrap="square" lIns="0" tIns="0" rIns="0" bIns="0" rtlCol="0" anchor="t"/>
          <a:lstStyle/>
          <a:p>
            <a:pPr indent="0" marL="0">
              <a:buNone/>
            </a:pPr>
            <a:r>
              <a:rPr lang="en-US" sz="1200" dirty="0">
                <a:solidFill>
                  <a:srgbClr val="020618"/>
                </a:solidFill>
                <a:latin typeface="DM Sans" pitchFamily="34" charset="0"/>
                <a:ea typeface="DM Sans" pitchFamily="34" charset="-122"/>
                <a:cs typeface="DM Sans" pitchFamily="34" charset="-120"/>
              </a:rPr>
              <a:t>Checks, stores and alerts (steps below)</a:t>
            </a:r>
            <a:endParaRPr lang="en-US" sz="1200" dirty="0"/>
          </a:p>
        </p:txBody>
      </p:sp>
      <p:sp>
        <p:nvSpPr>
          <p:cNvPr id="26" name="Shape 21"/>
          <p:cNvSpPr/>
          <p:nvPr/>
        </p:nvSpPr>
        <p:spPr>
          <a:xfrm>
            <a:off x="8778240" y="2468880"/>
            <a:ext cx="502920" cy="0"/>
          </a:xfrm>
          <a:prstGeom prst="line">
            <a:avLst/>
          </a:prstGeom>
          <a:noFill/>
          <a:ln w="22225">
            <a:solidFill>
              <a:srgbClr val="62748E"/>
            </a:solidFill>
            <a:prstDash val="solid"/>
            <a:tailEnd type="triangle"/>
          </a:ln>
        </p:spPr>
      </p:sp>
      <p:sp>
        <p:nvSpPr>
          <p:cNvPr id="27" name="Text 22"/>
          <p:cNvSpPr txBox="1"/>
          <p:nvPr/>
        </p:nvSpPr>
        <p:spPr>
          <a:xfrm>
            <a:off x="8705088" y="2011680"/>
            <a:ext cx="649224" cy="384048"/>
          </a:xfrm>
          <a:prstGeom prst="rect">
            <a:avLst/>
          </a:prstGeom>
          <a:noFill/>
          <a:ln/>
        </p:spPr>
        <p:txBody>
          <a:bodyPr wrap="square" lIns="0" tIns="0" rIns="0" bIns="0" rtlCol="0" anchor="b"/>
          <a:lstStyle/>
          <a:p>
            <a:pPr algn="ctr" indent="0" marL="0">
              <a:buNone/>
            </a:pPr>
            <a:r>
              <a:rPr lang="en-US" sz="900" b="1" dirty="0">
                <a:solidFill>
                  <a:srgbClr val="62748E"/>
                </a:solidFill>
                <a:latin typeface="DM Sans" pitchFamily="34" charset="0"/>
                <a:ea typeface="DM Sans" pitchFamily="34" charset="-122"/>
                <a:cs typeface="DM Sans" pitchFamily="34" charset="-120"/>
              </a:rPr>
              <a:t>privately</a:t>
            </a:r>
            <a:endParaRPr lang="en-US" sz="900" dirty="0"/>
          </a:p>
        </p:txBody>
      </p:sp>
      <p:sp>
        <p:nvSpPr>
          <p:cNvPr id="28" name="Shape 23"/>
          <p:cNvSpPr/>
          <p:nvPr/>
        </p:nvSpPr>
        <p:spPr>
          <a:xfrm>
            <a:off x="9354312" y="1600200"/>
            <a:ext cx="2286000" cy="1737360"/>
          </a:xfrm>
          <a:prstGeom prst="roundRect">
            <a:avLst>
              <a:gd name="adj" fmla="val 8421"/>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29" name="Shape 24"/>
          <p:cNvSpPr/>
          <p:nvPr/>
        </p:nvSpPr>
        <p:spPr>
          <a:xfrm>
            <a:off x="9555480" y="1801368"/>
            <a:ext cx="548640" cy="548640"/>
          </a:xfrm>
          <a:prstGeom prst="ellipse">
            <a:avLst/>
          </a:prstGeom>
          <a:solidFill>
            <a:srgbClr val="009689"/>
          </a:solidFill>
          <a:ln w="12700">
            <a:solidFill>
              <a:srgbClr val="009689"/>
            </a:solidFill>
            <a:prstDash val="solid"/>
          </a:ln>
        </p:spPr>
      </p:sp>
      <p:pic>
        <p:nvPicPr>
          <p:cNvPr id="30" name="Image 3" descr="preencoded.png">    </p:cNvPr>
          <p:cNvPicPr>
            <a:picLocks noChangeAspect="1"/>
          </p:cNvPicPr>
          <p:nvPr/>
        </p:nvPicPr>
        <p:blipFill>
          <a:blip r:embed="rId4"/>
          <a:stretch>
            <a:fillRect/>
          </a:stretch>
        </p:blipFill>
        <p:spPr>
          <a:xfrm>
            <a:off x="9692640" y="1938528"/>
            <a:ext cx="274320" cy="274320"/>
          </a:xfrm>
          <a:prstGeom prst="rect">
            <a:avLst/>
          </a:prstGeom>
        </p:spPr>
      </p:pic>
      <p:sp>
        <p:nvSpPr>
          <p:cNvPr id="31" name="Text 25"/>
          <p:cNvSpPr txBox="1"/>
          <p:nvPr/>
        </p:nvSpPr>
        <p:spPr>
          <a:xfrm>
            <a:off x="10222992" y="1783080"/>
            <a:ext cx="1280160" cy="329184"/>
          </a:xfrm>
          <a:prstGeom prst="rect">
            <a:avLst/>
          </a:prstGeom>
          <a:noFill/>
          <a:ln/>
        </p:spPr>
        <p:txBody>
          <a:bodyPr wrap="square" lIns="0" tIns="0" rIns="0" bIns="0" rtlCol="0" anchor="ctr"/>
          <a:lstStyle/>
          <a:p>
            <a:pPr indent="0" marL="0">
              <a:buNone/>
            </a:pPr>
            <a:r>
              <a:rPr lang="en-US" sz="1600" b="1" dirty="0">
                <a:solidFill>
                  <a:srgbClr val="020618"/>
                </a:solidFill>
                <a:latin typeface="Space Grotesk" pitchFamily="34" charset="0"/>
                <a:ea typeface="Space Grotesk" pitchFamily="34" charset="-122"/>
                <a:cs typeface="Space Grotesk" pitchFamily="34" charset="-120"/>
              </a:rPr>
              <a:t>DynamoDB</a:t>
            </a:r>
            <a:endParaRPr lang="en-US" sz="1600" dirty="0"/>
          </a:p>
        </p:txBody>
      </p:sp>
      <p:sp>
        <p:nvSpPr>
          <p:cNvPr id="32" name="Text 26"/>
          <p:cNvSpPr txBox="1"/>
          <p:nvPr/>
        </p:nvSpPr>
        <p:spPr>
          <a:xfrm>
            <a:off x="10222992" y="2093976"/>
            <a:ext cx="1280160" cy="274320"/>
          </a:xfrm>
          <a:prstGeom prst="rect">
            <a:avLst/>
          </a:prstGeom>
          <a:noFill/>
          <a:ln/>
        </p:spPr>
        <p:txBody>
          <a:bodyPr wrap="square" lIns="0" tIns="0" rIns="0" bIns="0" rtlCol="0" anchor="ctr"/>
          <a:lstStyle/>
          <a:p>
            <a:pPr indent="0" marL="0">
              <a:buNone/>
            </a:pPr>
            <a:r>
              <a:rPr lang="en-US" sz="1000" dirty="0">
                <a:solidFill>
                  <a:srgbClr val="62748E"/>
                </a:solidFill>
                <a:latin typeface="DM Sans" pitchFamily="34" charset="0"/>
                <a:ea typeface="DM Sans" pitchFamily="34" charset="-122"/>
                <a:cs typeface="DM Sans" pitchFamily="34" charset="-120"/>
              </a:rPr>
              <a:t>The database</a:t>
            </a:r>
            <a:endParaRPr lang="en-US" sz="1000" dirty="0"/>
          </a:p>
        </p:txBody>
      </p:sp>
      <p:sp>
        <p:nvSpPr>
          <p:cNvPr id="33" name="Text 27"/>
          <p:cNvSpPr txBox="1"/>
          <p:nvPr/>
        </p:nvSpPr>
        <p:spPr>
          <a:xfrm>
            <a:off x="9555480" y="2496312"/>
            <a:ext cx="1920240" cy="731520"/>
          </a:xfrm>
          <a:prstGeom prst="rect">
            <a:avLst/>
          </a:prstGeom>
          <a:noFill/>
          <a:ln/>
        </p:spPr>
        <p:txBody>
          <a:bodyPr wrap="square" lIns="0" tIns="0" rIns="0" bIns="0" rtlCol="0" anchor="t"/>
          <a:lstStyle/>
          <a:p>
            <a:pPr indent="0" marL="0">
              <a:buNone/>
            </a:pPr>
            <a:r>
              <a:rPr lang="en-US" sz="1200" dirty="0">
                <a:solidFill>
                  <a:srgbClr val="020618"/>
                </a:solidFill>
                <a:latin typeface="DM Sans" pitchFamily="34" charset="0"/>
                <a:ea typeface="DM Sans" pitchFamily="34" charset="-122"/>
                <a:cs typeface="DM Sans" pitchFamily="34" charset="-120"/>
              </a:rPr>
              <a:t>Reached privately, never over the internet; copied to Paris within seconds</a:t>
            </a:r>
            <a:endParaRPr lang="en-US" sz="1200" dirty="0"/>
          </a:p>
        </p:txBody>
      </p:sp>
      <p:sp>
        <p:nvSpPr>
          <p:cNvPr id="34" name="Shape 28"/>
          <p:cNvSpPr/>
          <p:nvPr/>
        </p:nvSpPr>
        <p:spPr>
          <a:xfrm>
            <a:off x="548640" y="3749040"/>
            <a:ext cx="8183880" cy="2651760"/>
          </a:xfrm>
          <a:prstGeom prst="roundRect">
            <a:avLst>
              <a:gd name="adj" fmla="val 5517"/>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35" name="Shape 29"/>
          <p:cNvSpPr/>
          <p:nvPr/>
        </p:nvSpPr>
        <p:spPr>
          <a:xfrm>
            <a:off x="7562088" y="3383280"/>
            <a:ext cx="0" cy="320040"/>
          </a:xfrm>
          <a:prstGeom prst="line">
            <a:avLst/>
          </a:prstGeom>
          <a:noFill/>
          <a:ln w="22225">
            <a:solidFill>
              <a:srgbClr val="62748E"/>
            </a:solidFill>
            <a:prstDash val="solid"/>
            <a:tailEnd type="triangle"/>
          </a:ln>
        </p:spPr>
      </p:sp>
      <p:sp>
        <p:nvSpPr>
          <p:cNvPr id="36" name="Text 30"/>
          <p:cNvSpPr txBox="1"/>
          <p:nvPr/>
        </p:nvSpPr>
        <p:spPr>
          <a:xfrm>
            <a:off x="822960" y="3931920"/>
            <a:ext cx="7635240" cy="365760"/>
          </a:xfrm>
          <a:prstGeom prst="rect">
            <a:avLst/>
          </a:prstGeom>
          <a:noFill/>
          <a:ln/>
        </p:spPr>
        <p:txBody>
          <a:bodyPr wrap="square" lIns="0" tIns="0" rIns="0" bIns="0" rtlCol="0" anchor="ctr"/>
          <a:lstStyle/>
          <a:p>
            <a:pPr indent="0" marL="0">
              <a:buNone/>
            </a:pPr>
            <a:r>
              <a:rPr lang="en-US" sz="1500" b="1" dirty="0">
                <a:solidFill>
                  <a:srgbClr val="020618"/>
                </a:solidFill>
                <a:latin typeface="Space Grotesk" pitchFamily="34" charset="0"/>
                <a:ea typeface="Space Grotesk" pitchFamily="34" charset="-122"/>
                <a:cs typeface="Space Grotesk" pitchFamily="34" charset="-120"/>
              </a:rPr>
              <a:t>Inside the Lambda, for each reading</a:t>
            </a:r>
            <a:endParaRPr lang="en-US" sz="1500" dirty="0"/>
          </a:p>
        </p:txBody>
      </p:sp>
      <p:sp>
        <p:nvSpPr>
          <p:cNvPr id="37" name="Shape 31"/>
          <p:cNvSpPr/>
          <p:nvPr/>
        </p:nvSpPr>
        <p:spPr>
          <a:xfrm>
            <a:off x="822960" y="4439412"/>
            <a:ext cx="310896" cy="310896"/>
          </a:xfrm>
          <a:prstGeom prst="ellipse">
            <a:avLst/>
          </a:prstGeom>
          <a:solidFill>
            <a:srgbClr val="F1F5F9"/>
          </a:solidFill>
          <a:ln w="9525">
            <a:solidFill>
              <a:srgbClr val="E2E8F0"/>
            </a:solidFill>
            <a:prstDash val="solid"/>
          </a:ln>
        </p:spPr>
      </p:sp>
      <p:sp>
        <p:nvSpPr>
          <p:cNvPr id="38" name="Text 32"/>
          <p:cNvSpPr txBox="1"/>
          <p:nvPr/>
        </p:nvSpPr>
        <p:spPr>
          <a:xfrm>
            <a:off x="822960" y="4439412"/>
            <a:ext cx="310896" cy="310896"/>
          </a:xfrm>
          <a:prstGeom prst="rect">
            <a:avLst/>
          </a:prstGeom>
          <a:noFill/>
          <a:ln/>
        </p:spPr>
        <p:txBody>
          <a:bodyPr wrap="square" lIns="0" tIns="0" rIns="0" bIns="0" rtlCol="0" anchor="ctr"/>
          <a:lstStyle/>
          <a:p>
            <a:pPr algn="ctr" indent="0" marL="0">
              <a:buNone/>
            </a:pPr>
            <a:r>
              <a:rPr lang="en-US" sz="1100" b="1" dirty="0">
                <a:solidFill>
                  <a:srgbClr val="020618"/>
                </a:solidFill>
                <a:latin typeface="Space Grotesk" pitchFamily="34" charset="0"/>
                <a:ea typeface="Space Grotesk" pitchFamily="34" charset="-122"/>
                <a:cs typeface="Space Grotesk" pitchFamily="34" charset="-120"/>
              </a:rPr>
              <a:t>1</a:t>
            </a:r>
            <a:endParaRPr lang="en-US" sz="1100" dirty="0"/>
          </a:p>
        </p:txBody>
      </p:sp>
      <p:sp>
        <p:nvSpPr>
          <p:cNvPr id="39" name="Text 33"/>
          <p:cNvSpPr txBox="1"/>
          <p:nvPr/>
        </p:nvSpPr>
        <p:spPr>
          <a:xfrm>
            <a:off x="1280160" y="4407408"/>
            <a:ext cx="7178040" cy="374904"/>
          </a:xfrm>
          <a:prstGeom prst="rect">
            <a:avLst/>
          </a:prstGeom>
          <a:noFill/>
          <a:ln/>
        </p:spPr>
        <p:txBody>
          <a:bodyPr wrap="square" lIns="0" tIns="0" rIns="0" bIns="0" rtlCol="0" anchor="ctr"/>
          <a:lstStyle/>
          <a:p>
            <a:pPr indent="0" marL="0">
              <a:buNone/>
            </a:pPr>
            <a:r>
              <a:rPr lang="en-US" sz="1300" dirty="0">
                <a:solidFill>
                  <a:srgbClr val="020618"/>
                </a:solidFill>
                <a:latin typeface="DM Sans" pitchFamily="34" charset="0"/>
                <a:ea typeface="DM Sans" pitchFamily="34" charset="-122"/>
                <a:cs typeface="DM Sans" pitchFamily="34" charset="-120"/>
              </a:rPr>
              <a:t>Check the device key</a:t>
            </a:r>
            <a:endParaRPr lang="en-US" sz="1300" dirty="0"/>
          </a:p>
        </p:txBody>
      </p:sp>
      <p:sp>
        <p:nvSpPr>
          <p:cNvPr id="40" name="Shape 34"/>
          <p:cNvSpPr/>
          <p:nvPr/>
        </p:nvSpPr>
        <p:spPr>
          <a:xfrm>
            <a:off x="822960" y="4814316"/>
            <a:ext cx="310896" cy="310896"/>
          </a:xfrm>
          <a:prstGeom prst="ellipse">
            <a:avLst/>
          </a:prstGeom>
          <a:solidFill>
            <a:srgbClr val="F1F5F9"/>
          </a:solidFill>
          <a:ln w="9525">
            <a:solidFill>
              <a:srgbClr val="E2E8F0"/>
            </a:solidFill>
            <a:prstDash val="solid"/>
          </a:ln>
        </p:spPr>
      </p:sp>
      <p:sp>
        <p:nvSpPr>
          <p:cNvPr id="41" name="Text 35"/>
          <p:cNvSpPr txBox="1"/>
          <p:nvPr/>
        </p:nvSpPr>
        <p:spPr>
          <a:xfrm>
            <a:off x="822960" y="4814316"/>
            <a:ext cx="310896" cy="310896"/>
          </a:xfrm>
          <a:prstGeom prst="rect">
            <a:avLst/>
          </a:prstGeom>
          <a:noFill/>
          <a:ln/>
        </p:spPr>
        <p:txBody>
          <a:bodyPr wrap="square" lIns="0" tIns="0" rIns="0" bIns="0" rtlCol="0" anchor="ctr"/>
          <a:lstStyle/>
          <a:p>
            <a:pPr algn="ctr" indent="0" marL="0">
              <a:buNone/>
            </a:pPr>
            <a:r>
              <a:rPr lang="en-US" sz="1100" b="1" dirty="0">
                <a:solidFill>
                  <a:srgbClr val="020618"/>
                </a:solidFill>
                <a:latin typeface="Space Grotesk" pitchFamily="34" charset="0"/>
                <a:ea typeface="Space Grotesk" pitchFamily="34" charset="-122"/>
                <a:cs typeface="Space Grotesk" pitchFamily="34" charset="-120"/>
              </a:rPr>
              <a:t>2</a:t>
            </a:r>
            <a:endParaRPr lang="en-US" sz="1100" dirty="0"/>
          </a:p>
        </p:txBody>
      </p:sp>
      <p:sp>
        <p:nvSpPr>
          <p:cNvPr id="42" name="Text 36"/>
          <p:cNvSpPr txBox="1"/>
          <p:nvPr/>
        </p:nvSpPr>
        <p:spPr>
          <a:xfrm>
            <a:off x="1280160" y="4782312"/>
            <a:ext cx="7178040" cy="374904"/>
          </a:xfrm>
          <a:prstGeom prst="rect">
            <a:avLst/>
          </a:prstGeom>
          <a:noFill/>
          <a:ln/>
        </p:spPr>
        <p:txBody>
          <a:bodyPr wrap="square" lIns="0" tIns="0" rIns="0" bIns="0" rtlCol="0" anchor="ctr"/>
          <a:lstStyle/>
          <a:p>
            <a:pPr indent="0" marL="0">
              <a:buNone/>
            </a:pPr>
            <a:r>
              <a:rPr lang="en-US" sz="1300" dirty="0">
                <a:solidFill>
                  <a:srgbClr val="020618"/>
                </a:solidFill>
                <a:latin typeface="DM Sans" pitchFamily="34" charset="0"/>
                <a:ea typeface="DM Sans" pitchFamily="34" charset="-122"/>
                <a:cs typeface="DM Sans" pitchFamily="34" charset="-120"/>
              </a:rPr>
              <a:t>Validate the reading</a:t>
            </a:r>
            <a:endParaRPr lang="en-US" sz="1300" dirty="0"/>
          </a:p>
        </p:txBody>
      </p:sp>
      <p:sp>
        <p:nvSpPr>
          <p:cNvPr id="43" name="Shape 37"/>
          <p:cNvSpPr/>
          <p:nvPr/>
        </p:nvSpPr>
        <p:spPr>
          <a:xfrm>
            <a:off x="822960" y="5189220"/>
            <a:ext cx="310896" cy="310896"/>
          </a:xfrm>
          <a:prstGeom prst="ellipse">
            <a:avLst/>
          </a:prstGeom>
          <a:solidFill>
            <a:srgbClr val="F1F5F9"/>
          </a:solidFill>
          <a:ln w="9525">
            <a:solidFill>
              <a:srgbClr val="E2E8F0"/>
            </a:solidFill>
            <a:prstDash val="solid"/>
          </a:ln>
        </p:spPr>
      </p:sp>
      <p:sp>
        <p:nvSpPr>
          <p:cNvPr id="44" name="Text 38"/>
          <p:cNvSpPr txBox="1"/>
          <p:nvPr/>
        </p:nvSpPr>
        <p:spPr>
          <a:xfrm>
            <a:off x="822960" y="5189220"/>
            <a:ext cx="310896" cy="310896"/>
          </a:xfrm>
          <a:prstGeom prst="rect">
            <a:avLst/>
          </a:prstGeom>
          <a:noFill/>
          <a:ln/>
        </p:spPr>
        <p:txBody>
          <a:bodyPr wrap="square" lIns="0" tIns="0" rIns="0" bIns="0" rtlCol="0" anchor="ctr"/>
          <a:lstStyle/>
          <a:p>
            <a:pPr algn="ctr" indent="0" marL="0">
              <a:buNone/>
            </a:pPr>
            <a:r>
              <a:rPr lang="en-US" sz="1100" b="1" dirty="0">
                <a:solidFill>
                  <a:srgbClr val="020618"/>
                </a:solidFill>
                <a:latin typeface="Space Grotesk" pitchFamily="34" charset="0"/>
                <a:ea typeface="Space Grotesk" pitchFamily="34" charset="-122"/>
                <a:cs typeface="Space Grotesk" pitchFamily="34" charset="-120"/>
              </a:rPr>
              <a:t>3</a:t>
            </a:r>
            <a:endParaRPr lang="en-US" sz="1100" dirty="0"/>
          </a:p>
        </p:txBody>
      </p:sp>
      <p:sp>
        <p:nvSpPr>
          <p:cNvPr id="45" name="Text 39"/>
          <p:cNvSpPr txBox="1"/>
          <p:nvPr/>
        </p:nvSpPr>
        <p:spPr>
          <a:xfrm>
            <a:off x="1280160" y="5157216"/>
            <a:ext cx="7178040" cy="374904"/>
          </a:xfrm>
          <a:prstGeom prst="rect">
            <a:avLst/>
          </a:prstGeom>
          <a:noFill/>
          <a:ln/>
        </p:spPr>
        <p:txBody>
          <a:bodyPr wrap="square" lIns="0" tIns="0" rIns="0" bIns="0" rtlCol="0" anchor="ctr"/>
          <a:lstStyle/>
          <a:p>
            <a:pPr indent="0" marL="0">
              <a:buNone/>
            </a:pPr>
            <a:r>
              <a:rPr lang="en-US" sz="1300" dirty="0">
                <a:solidFill>
                  <a:srgbClr val="020618"/>
                </a:solidFill>
                <a:latin typeface="DM Sans" pitchFamily="34" charset="0"/>
                <a:ea typeface="DM Sans" pitchFamily="34" charset="-122"/>
                <a:cs typeface="DM Sans" pitchFamily="34" charset="-120"/>
              </a:rPr>
              <a:t>Store it once in DynamoDB</a:t>
            </a:r>
            <a:endParaRPr lang="en-US" sz="1300" dirty="0"/>
          </a:p>
        </p:txBody>
      </p:sp>
      <p:sp>
        <p:nvSpPr>
          <p:cNvPr id="46" name="Shape 40"/>
          <p:cNvSpPr/>
          <p:nvPr/>
        </p:nvSpPr>
        <p:spPr>
          <a:xfrm>
            <a:off x="822960" y="5564124"/>
            <a:ext cx="310896" cy="310896"/>
          </a:xfrm>
          <a:prstGeom prst="ellipse">
            <a:avLst/>
          </a:prstGeom>
          <a:solidFill>
            <a:srgbClr val="F1F5F9"/>
          </a:solidFill>
          <a:ln w="9525">
            <a:solidFill>
              <a:srgbClr val="E2E8F0"/>
            </a:solidFill>
            <a:prstDash val="solid"/>
          </a:ln>
        </p:spPr>
      </p:sp>
      <p:sp>
        <p:nvSpPr>
          <p:cNvPr id="47" name="Text 41"/>
          <p:cNvSpPr txBox="1"/>
          <p:nvPr/>
        </p:nvSpPr>
        <p:spPr>
          <a:xfrm>
            <a:off x="822960" y="5564124"/>
            <a:ext cx="310896" cy="310896"/>
          </a:xfrm>
          <a:prstGeom prst="rect">
            <a:avLst/>
          </a:prstGeom>
          <a:noFill/>
          <a:ln/>
        </p:spPr>
        <p:txBody>
          <a:bodyPr wrap="square" lIns="0" tIns="0" rIns="0" bIns="0" rtlCol="0" anchor="ctr"/>
          <a:lstStyle/>
          <a:p>
            <a:pPr algn="ctr" indent="0" marL="0">
              <a:buNone/>
            </a:pPr>
            <a:r>
              <a:rPr lang="en-US" sz="1100" b="1" dirty="0">
                <a:solidFill>
                  <a:srgbClr val="020618"/>
                </a:solidFill>
                <a:latin typeface="Space Grotesk" pitchFamily="34" charset="0"/>
                <a:ea typeface="Space Grotesk" pitchFamily="34" charset="-122"/>
                <a:cs typeface="Space Grotesk" pitchFamily="34" charset="-120"/>
              </a:rPr>
              <a:t>4</a:t>
            </a:r>
            <a:endParaRPr lang="en-US" sz="1100" dirty="0"/>
          </a:p>
        </p:txBody>
      </p:sp>
      <p:sp>
        <p:nvSpPr>
          <p:cNvPr id="48" name="Text 42"/>
          <p:cNvSpPr txBox="1"/>
          <p:nvPr/>
        </p:nvSpPr>
        <p:spPr>
          <a:xfrm>
            <a:off x="1280160" y="5532120"/>
            <a:ext cx="7178040" cy="374904"/>
          </a:xfrm>
          <a:prstGeom prst="rect">
            <a:avLst/>
          </a:prstGeom>
          <a:noFill/>
          <a:ln/>
        </p:spPr>
        <p:txBody>
          <a:bodyPr wrap="square" lIns="0" tIns="0" rIns="0" bIns="0" rtlCol="0" anchor="ctr"/>
          <a:lstStyle/>
          <a:p>
            <a:pPr indent="0" marL="0">
              <a:buNone/>
            </a:pPr>
            <a:r>
              <a:rPr lang="en-US" sz="1300" dirty="0">
                <a:solidFill>
                  <a:srgbClr val="020618"/>
                </a:solidFill>
                <a:latin typeface="DM Sans" pitchFamily="34" charset="0"/>
                <a:ea typeface="DM Sans" pitchFamily="34" charset="-122"/>
                <a:cs typeface="DM Sans" pitchFamily="34" charset="-120"/>
              </a:rPr>
              <a:t>Update the room's live values or energy totals</a:t>
            </a:r>
            <a:endParaRPr lang="en-US" sz="1300" dirty="0"/>
          </a:p>
        </p:txBody>
      </p:sp>
      <p:sp>
        <p:nvSpPr>
          <p:cNvPr id="49" name="Shape 43"/>
          <p:cNvSpPr/>
          <p:nvPr/>
        </p:nvSpPr>
        <p:spPr>
          <a:xfrm>
            <a:off x="822960" y="5939028"/>
            <a:ext cx="310896" cy="310896"/>
          </a:xfrm>
          <a:prstGeom prst="ellipse">
            <a:avLst/>
          </a:prstGeom>
          <a:solidFill>
            <a:srgbClr val="F1F5F9"/>
          </a:solidFill>
          <a:ln w="9525">
            <a:solidFill>
              <a:srgbClr val="E2E8F0"/>
            </a:solidFill>
            <a:prstDash val="solid"/>
          </a:ln>
        </p:spPr>
      </p:sp>
      <p:sp>
        <p:nvSpPr>
          <p:cNvPr id="50" name="Text 44"/>
          <p:cNvSpPr txBox="1"/>
          <p:nvPr/>
        </p:nvSpPr>
        <p:spPr>
          <a:xfrm>
            <a:off x="822960" y="5939028"/>
            <a:ext cx="310896" cy="310896"/>
          </a:xfrm>
          <a:prstGeom prst="rect">
            <a:avLst/>
          </a:prstGeom>
          <a:noFill/>
          <a:ln/>
        </p:spPr>
        <p:txBody>
          <a:bodyPr wrap="square" lIns="0" tIns="0" rIns="0" bIns="0" rtlCol="0" anchor="ctr"/>
          <a:lstStyle/>
          <a:p>
            <a:pPr algn="ctr" indent="0" marL="0">
              <a:buNone/>
            </a:pPr>
            <a:r>
              <a:rPr lang="en-US" sz="1100" b="1" dirty="0">
                <a:solidFill>
                  <a:srgbClr val="020618"/>
                </a:solidFill>
                <a:latin typeface="Space Grotesk" pitchFamily="34" charset="0"/>
                <a:ea typeface="Space Grotesk" pitchFamily="34" charset="-122"/>
                <a:cs typeface="Space Grotesk" pitchFamily="34" charset="-120"/>
              </a:rPr>
              <a:t>5</a:t>
            </a:r>
            <a:endParaRPr lang="en-US" sz="1100" dirty="0"/>
          </a:p>
        </p:txBody>
      </p:sp>
      <p:sp>
        <p:nvSpPr>
          <p:cNvPr id="51" name="Text 45"/>
          <p:cNvSpPr txBox="1"/>
          <p:nvPr/>
        </p:nvSpPr>
        <p:spPr>
          <a:xfrm>
            <a:off x="1280160" y="5907024"/>
            <a:ext cx="7178040" cy="374904"/>
          </a:xfrm>
          <a:prstGeom prst="rect">
            <a:avLst/>
          </a:prstGeom>
          <a:noFill/>
          <a:ln/>
        </p:spPr>
        <p:txBody>
          <a:bodyPr wrap="square" lIns="0" tIns="0" rIns="0" bIns="0" rtlCol="0" anchor="ctr"/>
          <a:lstStyle/>
          <a:p>
            <a:pPr indent="0" marL="0">
              <a:buNone/>
            </a:pPr>
            <a:r>
              <a:rPr lang="en-US" sz="1300" dirty="0">
                <a:solidFill>
                  <a:srgbClr val="020618"/>
                </a:solidFill>
                <a:latin typeface="DM Sans" pitchFamily="34" charset="0"/>
                <a:ea typeface="DM Sans" pitchFamily="34" charset="-122"/>
                <a:cs typeface="DM Sans" pitchFamily="34" charset="-120"/>
              </a:rPr>
              <a:t>Raise an alert if a rule is broken</a:t>
            </a:r>
            <a:endParaRPr lang="en-US" sz="1300" dirty="0"/>
          </a:p>
        </p:txBody>
      </p:sp>
      <p:sp>
        <p:nvSpPr>
          <p:cNvPr id="52" name="Shape 46"/>
          <p:cNvSpPr/>
          <p:nvPr/>
        </p:nvSpPr>
        <p:spPr>
          <a:xfrm>
            <a:off x="9354312" y="3749040"/>
            <a:ext cx="2286000" cy="2651760"/>
          </a:xfrm>
          <a:prstGeom prst="roundRect">
            <a:avLst>
              <a:gd name="adj" fmla="val 6400"/>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53" name="Shape 47"/>
          <p:cNvSpPr/>
          <p:nvPr/>
        </p:nvSpPr>
        <p:spPr>
          <a:xfrm>
            <a:off x="10497312" y="3383280"/>
            <a:ext cx="0" cy="320040"/>
          </a:xfrm>
          <a:prstGeom prst="line">
            <a:avLst/>
          </a:prstGeom>
          <a:noFill/>
          <a:ln w="22225">
            <a:solidFill>
              <a:srgbClr val="62748E"/>
            </a:solidFill>
            <a:prstDash val="solid"/>
            <a:tailEnd type="triangle"/>
          </a:ln>
        </p:spPr>
      </p:sp>
      <p:sp>
        <p:nvSpPr>
          <p:cNvPr id="54" name="Shape 48"/>
          <p:cNvSpPr/>
          <p:nvPr/>
        </p:nvSpPr>
        <p:spPr>
          <a:xfrm>
            <a:off x="9555480" y="3950208"/>
            <a:ext cx="548640" cy="548640"/>
          </a:xfrm>
          <a:prstGeom prst="ellipse">
            <a:avLst/>
          </a:prstGeom>
          <a:solidFill>
            <a:srgbClr val="0F172B"/>
          </a:solidFill>
          <a:ln w="12700">
            <a:solidFill>
              <a:srgbClr val="0F172B"/>
            </a:solidFill>
            <a:prstDash val="solid"/>
          </a:ln>
        </p:spPr>
      </p:sp>
      <p:pic>
        <p:nvPicPr>
          <p:cNvPr id="55" name="Image 4" descr="preencoded.png">    </p:cNvPr>
          <p:cNvPicPr>
            <a:picLocks noChangeAspect="1"/>
          </p:cNvPicPr>
          <p:nvPr/>
        </p:nvPicPr>
        <p:blipFill>
          <a:blip r:embed="rId5"/>
          <a:stretch>
            <a:fillRect/>
          </a:stretch>
        </p:blipFill>
        <p:spPr>
          <a:xfrm>
            <a:off x="9692640" y="4087368"/>
            <a:ext cx="274320" cy="274320"/>
          </a:xfrm>
          <a:prstGeom prst="rect">
            <a:avLst/>
          </a:prstGeom>
        </p:spPr>
      </p:pic>
      <p:sp>
        <p:nvSpPr>
          <p:cNvPr id="56" name="Text 49"/>
          <p:cNvSpPr txBox="1"/>
          <p:nvPr/>
        </p:nvSpPr>
        <p:spPr>
          <a:xfrm>
            <a:off x="10222992" y="3950208"/>
            <a:ext cx="1280160" cy="548640"/>
          </a:xfrm>
          <a:prstGeom prst="rect">
            <a:avLst/>
          </a:prstGeom>
          <a:noFill/>
          <a:ln/>
        </p:spPr>
        <p:txBody>
          <a:bodyPr wrap="square" lIns="0" tIns="0" rIns="0" bIns="0" rtlCol="0" anchor="ctr"/>
          <a:lstStyle/>
          <a:p>
            <a:pPr indent="0" marL="0">
              <a:buNone/>
            </a:pPr>
            <a:r>
              <a:rPr lang="en-US" sz="1600" b="1" dirty="0">
                <a:solidFill>
                  <a:srgbClr val="020618"/>
                </a:solidFill>
                <a:latin typeface="Space Grotesk" pitchFamily="34" charset="0"/>
                <a:ea typeface="Space Grotesk" pitchFamily="34" charset="-122"/>
                <a:cs typeface="Space Grotesk" pitchFamily="34" charset="-120"/>
              </a:rPr>
              <a:t>Dashboard</a:t>
            </a:r>
            <a:endParaRPr lang="en-US" sz="1600" dirty="0"/>
          </a:p>
        </p:txBody>
      </p:sp>
      <p:sp>
        <p:nvSpPr>
          <p:cNvPr id="57" name="Text 50"/>
          <p:cNvSpPr txBox="1"/>
          <p:nvPr/>
        </p:nvSpPr>
        <p:spPr>
          <a:xfrm>
            <a:off x="9555480" y="4663440"/>
            <a:ext cx="1920240" cy="914400"/>
          </a:xfrm>
          <a:prstGeom prst="rect">
            <a:avLst/>
          </a:prstGeom>
          <a:noFill/>
          <a:ln/>
        </p:spPr>
        <p:txBody>
          <a:bodyPr wrap="square" lIns="0" tIns="0" rIns="0" bIns="0" rtlCol="0" anchor="t"/>
          <a:lstStyle/>
          <a:p>
            <a:pPr indent="0" marL="0">
              <a:buNone/>
            </a:pPr>
            <a:r>
              <a:rPr lang="en-US" sz="1200" dirty="0">
                <a:solidFill>
                  <a:srgbClr val="020618"/>
                </a:solidFill>
                <a:latin typeface="DM Sans" pitchFamily="34" charset="0"/>
                <a:ea typeface="DM Sans" pitchFamily="34" charset="-122"/>
                <a:cs typeface="DM Sans" pitchFamily="34" charset="-120"/>
              </a:rPr>
              <a:t>Staff sign in through Cognito and see it all</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CampusPulse data flow</dc:title>
  <dc:subject>PptxGenJS Presentation</dc:subject>
  <dc:creator>PptxGenJS</dc:creator>
  <cp:lastModifiedBy>PptxGenJS</cp:lastModifiedBy>
  <cp:revision>1</cp:revision>
  <dcterms:created xsi:type="dcterms:W3CDTF">2026-09-19T09:31:02Z</dcterms:created>
  <dcterms:modified xsi:type="dcterms:W3CDTF">2026-09-19T09:31:02Z</dcterms:modified>
</cp:coreProperties>
</file>