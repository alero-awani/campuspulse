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authentication, we use Amazon Cognito. Cognito manages the user accounts and passwords, so our backend never handles passwords directly. We deliberately turned off public sign-up: since this is an internal university tool, accounts should belong to real students and staff, and only admins can create them and assign their roles. Every login token also expires after one hour. We created three user roles as Cognito groups: student, staff and admin. These roles control what each user is allowed to access. When a user clicks Sign in, they are redirected to Cognito. Cognito checks the email and password and sends the user back with a one-time code. Our dashboard exchanges that code for a token, which identifies the user and their role and is then used for secure API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Secure sign-in with Cognito</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Cognito manages accounts and passwords, so our backend never handles one. No public sign-up: only admins create accounts.</a:t>
            </a:r>
            <a:endParaRPr lang="en-US" sz="1400" dirty="0"/>
          </a:p>
        </p:txBody>
      </p:sp>
      <p:sp>
        <p:nvSpPr>
          <p:cNvPr id="4" name="Text 2"/>
          <p:cNvSpPr txBox="1"/>
          <p:nvPr/>
        </p:nvSpPr>
        <p:spPr>
          <a:xfrm>
            <a:off x="548640" y="1536192"/>
            <a:ext cx="5486400" cy="274320"/>
          </a:xfrm>
          <a:prstGeom prst="rect">
            <a:avLst/>
          </a:prstGeom>
          <a:noFill/>
          <a:ln/>
        </p:spPr>
        <p:txBody>
          <a:bodyPr wrap="square" lIns="0" tIns="0" rIns="0" bIns="0" rtlCol="0" anchor="ctr"/>
          <a:lstStyle/>
          <a:p>
            <a:pPr indent="0" marL="0">
              <a:buNone/>
            </a:pPr>
            <a:r>
              <a:rPr lang="en-US" sz="1100" b="1" spc="300" kern="0" dirty="0">
                <a:solidFill>
                  <a:srgbClr val="62748E"/>
                </a:solidFill>
                <a:latin typeface="DM Sans" pitchFamily="34" charset="0"/>
                <a:ea typeface="DM Sans" pitchFamily="34" charset="-122"/>
                <a:cs typeface="DM Sans" pitchFamily="34" charset="-120"/>
              </a:rPr>
              <a:t>HOW A USER SIGNS IN</a:t>
            </a:r>
            <a:endParaRPr lang="en-US" sz="1100" dirty="0"/>
          </a:p>
        </p:txBody>
      </p:sp>
      <p:sp>
        <p:nvSpPr>
          <p:cNvPr id="5" name="Shape 3"/>
          <p:cNvSpPr/>
          <p:nvPr/>
        </p:nvSpPr>
        <p:spPr>
          <a:xfrm>
            <a:off x="548640" y="1847088"/>
            <a:ext cx="2011680" cy="1463040"/>
          </a:xfrm>
          <a:prstGeom prst="roundRect">
            <a:avLst>
              <a:gd name="adj" fmla="val 10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6" name="Shape 4"/>
          <p:cNvSpPr/>
          <p:nvPr/>
        </p:nvSpPr>
        <p:spPr>
          <a:xfrm>
            <a:off x="731520" y="2029968"/>
            <a:ext cx="420624" cy="420624"/>
          </a:xfrm>
          <a:prstGeom prst="ellipse">
            <a:avLst/>
          </a:prstGeom>
          <a:solidFill>
            <a:srgbClr val="0F172B"/>
          </a:solidFill>
          <a:ln w="12700">
            <a:solidFill>
              <a:srgbClr val="0F172B"/>
            </a:solidFill>
            <a:prstDash val="solid"/>
          </a:ln>
        </p:spPr>
      </p:sp>
      <p:pic>
        <p:nvPicPr>
          <p:cNvPr id="7" name="Image 0" descr="preencoded.png">    </p:cNvPr>
          <p:cNvPicPr>
            <a:picLocks noChangeAspect="1"/>
          </p:cNvPicPr>
          <p:nvPr/>
        </p:nvPicPr>
        <p:blipFill>
          <a:blip r:embed="rId1"/>
          <a:stretch>
            <a:fillRect/>
          </a:stretch>
        </p:blipFill>
        <p:spPr>
          <a:xfrm>
            <a:off x="836676" y="2135124"/>
            <a:ext cx="210312" cy="210312"/>
          </a:xfrm>
          <a:prstGeom prst="rect">
            <a:avLst/>
          </a:prstGeom>
        </p:spPr>
      </p:pic>
      <p:sp>
        <p:nvSpPr>
          <p:cNvPr id="8" name="Text 5"/>
          <p:cNvSpPr txBox="1"/>
          <p:nvPr/>
        </p:nvSpPr>
        <p:spPr>
          <a:xfrm>
            <a:off x="2103120" y="202996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1</a:t>
            </a:r>
            <a:endParaRPr lang="en-US" sz="1300" dirty="0"/>
          </a:p>
        </p:txBody>
      </p:sp>
      <p:sp>
        <p:nvSpPr>
          <p:cNvPr id="9" name="Text 6"/>
          <p:cNvSpPr txBox="1"/>
          <p:nvPr/>
        </p:nvSpPr>
        <p:spPr>
          <a:xfrm>
            <a:off x="731520" y="2542032"/>
            <a:ext cx="1691640"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Click Sign in</a:t>
            </a:r>
            <a:endParaRPr lang="en-US" sz="1400" dirty="0"/>
          </a:p>
        </p:txBody>
      </p:sp>
      <p:sp>
        <p:nvSpPr>
          <p:cNvPr id="10" name="Text 7"/>
          <p:cNvSpPr txBox="1"/>
          <p:nvPr/>
        </p:nvSpPr>
        <p:spPr>
          <a:xfrm>
            <a:off x="731520" y="2834640"/>
            <a:ext cx="1691640" cy="41148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On the CampusPulse dashboard</a:t>
            </a:r>
            <a:endParaRPr lang="en-US" sz="1050" dirty="0"/>
          </a:p>
        </p:txBody>
      </p:sp>
      <p:sp>
        <p:nvSpPr>
          <p:cNvPr id="11" name="Shape 8"/>
          <p:cNvSpPr/>
          <p:nvPr/>
        </p:nvSpPr>
        <p:spPr>
          <a:xfrm>
            <a:off x="2615184" y="2578608"/>
            <a:ext cx="148590" cy="0"/>
          </a:xfrm>
          <a:prstGeom prst="line">
            <a:avLst/>
          </a:prstGeom>
          <a:noFill/>
          <a:ln w="22225">
            <a:solidFill>
              <a:srgbClr val="62748E"/>
            </a:solidFill>
            <a:prstDash val="solid"/>
            <a:tailEnd type="triangle"/>
          </a:ln>
        </p:spPr>
      </p:sp>
      <p:sp>
        <p:nvSpPr>
          <p:cNvPr id="12" name="Shape 9"/>
          <p:cNvSpPr/>
          <p:nvPr/>
        </p:nvSpPr>
        <p:spPr>
          <a:xfrm>
            <a:off x="2818638" y="1847088"/>
            <a:ext cx="2011680" cy="1463040"/>
          </a:xfrm>
          <a:prstGeom prst="roundRect">
            <a:avLst>
              <a:gd name="adj" fmla="val 10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3" name="Shape 10"/>
          <p:cNvSpPr/>
          <p:nvPr/>
        </p:nvSpPr>
        <p:spPr>
          <a:xfrm>
            <a:off x="3001518" y="2029968"/>
            <a:ext cx="420624" cy="420624"/>
          </a:xfrm>
          <a:prstGeom prst="ellipse">
            <a:avLst/>
          </a:prstGeom>
          <a:solidFill>
            <a:srgbClr val="F54900"/>
          </a:solidFill>
          <a:ln w="12700">
            <a:solidFill>
              <a:srgbClr val="F54900"/>
            </a:solidFill>
            <a:prstDash val="solid"/>
          </a:ln>
        </p:spPr>
      </p:sp>
      <p:pic>
        <p:nvPicPr>
          <p:cNvPr id="14" name="Image 1" descr="preencoded.png">    </p:cNvPr>
          <p:cNvPicPr>
            <a:picLocks noChangeAspect="1"/>
          </p:cNvPicPr>
          <p:nvPr/>
        </p:nvPicPr>
        <p:blipFill>
          <a:blip r:embed="rId2"/>
          <a:stretch>
            <a:fillRect/>
          </a:stretch>
        </p:blipFill>
        <p:spPr>
          <a:xfrm>
            <a:off x="3106674" y="2135124"/>
            <a:ext cx="210312" cy="210312"/>
          </a:xfrm>
          <a:prstGeom prst="rect">
            <a:avLst/>
          </a:prstGeom>
        </p:spPr>
      </p:pic>
      <p:sp>
        <p:nvSpPr>
          <p:cNvPr id="15" name="Text 11"/>
          <p:cNvSpPr txBox="1"/>
          <p:nvPr/>
        </p:nvSpPr>
        <p:spPr>
          <a:xfrm>
            <a:off x="4373118" y="202996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2</a:t>
            </a:r>
            <a:endParaRPr lang="en-US" sz="1300" dirty="0"/>
          </a:p>
        </p:txBody>
      </p:sp>
      <p:sp>
        <p:nvSpPr>
          <p:cNvPr id="16" name="Text 12"/>
          <p:cNvSpPr txBox="1"/>
          <p:nvPr/>
        </p:nvSpPr>
        <p:spPr>
          <a:xfrm>
            <a:off x="3001518" y="2542032"/>
            <a:ext cx="1691640"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Go to Cognito</a:t>
            </a:r>
            <a:endParaRPr lang="en-US" sz="1400" dirty="0"/>
          </a:p>
        </p:txBody>
      </p:sp>
      <p:sp>
        <p:nvSpPr>
          <p:cNvPr id="17" name="Text 13"/>
          <p:cNvSpPr txBox="1"/>
          <p:nvPr/>
        </p:nvSpPr>
        <p:spPr>
          <a:xfrm>
            <a:off x="3001518" y="2834640"/>
            <a:ext cx="1691640" cy="41148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The browser opens Cognito's sign-in page</a:t>
            </a:r>
            <a:endParaRPr lang="en-US" sz="1050" dirty="0"/>
          </a:p>
        </p:txBody>
      </p:sp>
      <p:sp>
        <p:nvSpPr>
          <p:cNvPr id="18" name="Shape 14"/>
          <p:cNvSpPr/>
          <p:nvPr/>
        </p:nvSpPr>
        <p:spPr>
          <a:xfrm>
            <a:off x="4885182" y="2578608"/>
            <a:ext cx="148590" cy="0"/>
          </a:xfrm>
          <a:prstGeom prst="line">
            <a:avLst/>
          </a:prstGeom>
          <a:noFill/>
          <a:ln w="22225">
            <a:solidFill>
              <a:srgbClr val="62748E"/>
            </a:solidFill>
            <a:prstDash val="solid"/>
            <a:tailEnd type="triangle"/>
          </a:ln>
        </p:spPr>
      </p:sp>
      <p:sp>
        <p:nvSpPr>
          <p:cNvPr id="19" name="Shape 15"/>
          <p:cNvSpPr/>
          <p:nvPr/>
        </p:nvSpPr>
        <p:spPr>
          <a:xfrm>
            <a:off x="5088636" y="1847088"/>
            <a:ext cx="2011680" cy="1463040"/>
          </a:xfrm>
          <a:prstGeom prst="roundRect">
            <a:avLst>
              <a:gd name="adj" fmla="val 10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0" name="Shape 16"/>
          <p:cNvSpPr/>
          <p:nvPr/>
        </p:nvSpPr>
        <p:spPr>
          <a:xfrm>
            <a:off x="5271516" y="2029968"/>
            <a:ext cx="420624" cy="420624"/>
          </a:xfrm>
          <a:prstGeom prst="ellipse">
            <a:avLst/>
          </a:prstGeom>
          <a:solidFill>
            <a:srgbClr val="F9B73F"/>
          </a:solidFill>
          <a:ln w="12700">
            <a:solidFill>
              <a:srgbClr val="F9B73F"/>
            </a:solidFill>
            <a:prstDash val="solid"/>
          </a:ln>
        </p:spPr>
      </p:sp>
      <p:pic>
        <p:nvPicPr>
          <p:cNvPr id="21" name="Image 2" descr="preencoded.png">    </p:cNvPr>
          <p:cNvPicPr>
            <a:picLocks noChangeAspect="1"/>
          </p:cNvPicPr>
          <p:nvPr/>
        </p:nvPicPr>
        <p:blipFill>
          <a:blip r:embed="rId3"/>
          <a:stretch>
            <a:fillRect/>
          </a:stretch>
        </p:blipFill>
        <p:spPr>
          <a:xfrm>
            <a:off x="5376672" y="2135124"/>
            <a:ext cx="210312" cy="210312"/>
          </a:xfrm>
          <a:prstGeom prst="rect">
            <a:avLst/>
          </a:prstGeom>
        </p:spPr>
      </p:pic>
      <p:sp>
        <p:nvSpPr>
          <p:cNvPr id="22" name="Text 17"/>
          <p:cNvSpPr txBox="1"/>
          <p:nvPr/>
        </p:nvSpPr>
        <p:spPr>
          <a:xfrm>
            <a:off x="6643116" y="202996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3</a:t>
            </a:r>
            <a:endParaRPr lang="en-US" sz="1300" dirty="0"/>
          </a:p>
        </p:txBody>
      </p:sp>
      <p:sp>
        <p:nvSpPr>
          <p:cNvPr id="23" name="Text 18"/>
          <p:cNvSpPr txBox="1"/>
          <p:nvPr/>
        </p:nvSpPr>
        <p:spPr>
          <a:xfrm>
            <a:off x="5271516" y="2542032"/>
            <a:ext cx="1691640"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Check password</a:t>
            </a:r>
            <a:endParaRPr lang="en-US" sz="1400" dirty="0"/>
          </a:p>
        </p:txBody>
      </p:sp>
      <p:sp>
        <p:nvSpPr>
          <p:cNvPr id="24" name="Text 19"/>
          <p:cNvSpPr txBox="1"/>
          <p:nvPr/>
        </p:nvSpPr>
        <p:spPr>
          <a:xfrm>
            <a:off x="5271516" y="2834640"/>
            <a:ext cx="1691640" cy="41148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Cognito checks the email and password</a:t>
            </a:r>
            <a:endParaRPr lang="en-US" sz="1050" dirty="0"/>
          </a:p>
        </p:txBody>
      </p:sp>
      <p:sp>
        <p:nvSpPr>
          <p:cNvPr id="25" name="Shape 20"/>
          <p:cNvSpPr/>
          <p:nvPr/>
        </p:nvSpPr>
        <p:spPr>
          <a:xfrm>
            <a:off x="7155180" y="2578608"/>
            <a:ext cx="148590" cy="0"/>
          </a:xfrm>
          <a:prstGeom prst="line">
            <a:avLst/>
          </a:prstGeom>
          <a:noFill/>
          <a:ln w="22225">
            <a:solidFill>
              <a:srgbClr val="62748E"/>
            </a:solidFill>
            <a:prstDash val="solid"/>
            <a:tailEnd type="triangle"/>
          </a:ln>
        </p:spPr>
      </p:sp>
      <p:sp>
        <p:nvSpPr>
          <p:cNvPr id="26" name="Shape 21"/>
          <p:cNvSpPr/>
          <p:nvPr/>
        </p:nvSpPr>
        <p:spPr>
          <a:xfrm>
            <a:off x="7358634" y="1847088"/>
            <a:ext cx="2011680" cy="1463040"/>
          </a:xfrm>
          <a:prstGeom prst="roundRect">
            <a:avLst>
              <a:gd name="adj" fmla="val 10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7" name="Shape 22"/>
          <p:cNvSpPr/>
          <p:nvPr/>
        </p:nvSpPr>
        <p:spPr>
          <a:xfrm>
            <a:off x="7541514" y="2029968"/>
            <a:ext cx="420624" cy="420624"/>
          </a:xfrm>
          <a:prstGeom prst="ellipse">
            <a:avLst/>
          </a:prstGeom>
          <a:solidFill>
            <a:srgbClr val="009689"/>
          </a:solidFill>
          <a:ln w="12700">
            <a:solidFill>
              <a:srgbClr val="009689"/>
            </a:solidFill>
            <a:prstDash val="solid"/>
          </a:ln>
        </p:spPr>
      </p:sp>
      <p:pic>
        <p:nvPicPr>
          <p:cNvPr id="28" name="Image 3" descr="preencoded.png">    </p:cNvPr>
          <p:cNvPicPr>
            <a:picLocks noChangeAspect="1"/>
          </p:cNvPicPr>
          <p:nvPr/>
        </p:nvPicPr>
        <p:blipFill>
          <a:blip r:embed="rId4"/>
          <a:stretch>
            <a:fillRect/>
          </a:stretch>
        </p:blipFill>
        <p:spPr>
          <a:xfrm>
            <a:off x="7646670" y="2135124"/>
            <a:ext cx="210312" cy="210312"/>
          </a:xfrm>
          <a:prstGeom prst="rect">
            <a:avLst/>
          </a:prstGeom>
        </p:spPr>
      </p:pic>
      <p:sp>
        <p:nvSpPr>
          <p:cNvPr id="29" name="Text 23"/>
          <p:cNvSpPr txBox="1"/>
          <p:nvPr/>
        </p:nvSpPr>
        <p:spPr>
          <a:xfrm>
            <a:off x="8913114" y="202996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4</a:t>
            </a:r>
            <a:endParaRPr lang="en-US" sz="1300" dirty="0"/>
          </a:p>
        </p:txBody>
      </p:sp>
      <p:sp>
        <p:nvSpPr>
          <p:cNvPr id="30" name="Text 24"/>
          <p:cNvSpPr txBox="1"/>
          <p:nvPr/>
        </p:nvSpPr>
        <p:spPr>
          <a:xfrm>
            <a:off x="7541514" y="2542032"/>
            <a:ext cx="1691640"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One-time code</a:t>
            </a:r>
            <a:endParaRPr lang="en-US" sz="1400" dirty="0"/>
          </a:p>
        </p:txBody>
      </p:sp>
      <p:sp>
        <p:nvSpPr>
          <p:cNvPr id="31" name="Text 25"/>
          <p:cNvSpPr txBox="1"/>
          <p:nvPr/>
        </p:nvSpPr>
        <p:spPr>
          <a:xfrm>
            <a:off x="7541514" y="2834640"/>
            <a:ext cx="1691640" cy="41148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Cognito sends the user back with a code</a:t>
            </a:r>
            <a:endParaRPr lang="en-US" sz="1050" dirty="0"/>
          </a:p>
        </p:txBody>
      </p:sp>
      <p:sp>
        <p:nvSpPr>
          <p:cNvPr id="32" name="Shape 26"/>
          <p:cNvSpPr/>
          <p:nvPr/>
        </p:nvSpPr>
        <p:spPr>
          <a:xfrm>
            <a:off x="9425178" y="2578608"/>
            <a:ext cx="148590" cy="0"/>
          </a:xfrm>
          <a:prstGeom prst="line">
            <a:avLst/>
          </a:prstGeom>
          <a:noFill/>
          <a:ln w="22225">
            <a:solidFill>
              <a:srgbClr val="62748E"/>
            </a:solidFill>
            <a:prstDash val="solid"/>
            <a:tailEnd type="triangle"/>
          </a:ln>
        </p:spPr>
      </p:sp>
      <p:sp>
        <p:nvSpPr>
          <p:cNvPr id="33" name="Shape 27"/>
          <p:cNvSpPr/>
          <p:nvPr/>
        </p:nvSpPr>
        <p:spPr>
          <a:xfrm>
            <a:off x="9628632" y="1847088"/>
            <a:ext cx="2011680" cy="1463040"/>
          </a:xfrm>
          <a:prstGeom prst="roundRect">
            <a:avLst>
              <a:gd name="adj" fmla="val 10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4" name="Shape 28"/>
          <p:cNvSpPr/>
          <p:nvPr/>
        </p:nvSpPr>
        <p:spPr>
          <a:xfrm>
            <a:off x="9811512" y="2029968"/>
            <a:ext cx="420624" cy="420624"/>
          </a:xfrm>
          <a:prstGeom prst="ellipse">
            <a:avLst/>
          </a:prstGeom>
          <a:solidFill>
            <a:srgbClr val="43C07A"/>
          </a:solidFill>
          <a:ln w="12700">
            <a:solidFill>
              <a:srgbClr val="43C07A"/>
            </a:solidFill>
            <a:prstDash val="solid"/>
          </a:ln>
        </p:spPr>
      </p:sp>
      <p:pic>
        <p:nvPicPr>
          <p:cNvPr id="35" name="Image 4" descr="preencoded.png">    </p:cNvPr>
          <p:cNvPicPr>
            <a:picLocks noChangeAspect="1"/>
          </p:cNvPicPr>
          <p:nvPr/>
        </p:nvPicPr>
        <p:blipFill>
          <a:blip r:embed="rId5"/>
          <a:stretch>
            <a:fillRect/>
          </a:stretch>
        </p:blipFill>
        <p:spPr>
          <a:xfrm>
            <a:off x="9916668" y="2135124"/>
            <a:ext cx="210312" cy="210312"/>
          </a:xfrm>
          <a:prstGeom prst="rect">
            <a:avLst/>
          </a:prstGeom>
        </p:spPr>
      </p:pic>
      <p:sp>
        <p:nvSpPr>
          <p:cNvPr id="36" name="Text 29"/>
          <p:cNvSpPr txBox="1"/>
          <p:nvPr/>
        </p:nvSpPr>
        <p:spPr>
          <a:xfrm>
            <a:off x="11183112" y="202996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5</a:t>
            </a:r>
            <a:endParaRPr lang="en-US" sz="1300" dirty="0"/>
          </a:p>
        </p:txBody>
      </p:sp>
      <p:sp>
        <p:nvSpPr>
          <p:cNvPr id="37" name="Text 30"/>
          <p:cNvSpPr txBox="1"/>
          <p:nvPr/>
        </p:nvSpPr>
        <p:spPr>
          <a:xfrm>
            <a:off x="9811512" y="2542032"/>
            <a:ext cx="1691640"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Token</a:t>
            </a:r>
            <a:endParaRPr lang="en-US" sz="1400" dirty="0"/>
          </a:p>
        </p:txBody>
      </p:sp>
      <p:sp>
        <p:nvSpPr>
          <p:cNvPr id="38" name="Text 31"/>
          <p:cNvSpPr txBox="1"/>
          <p:nvPr/>
        </p:nvSpPr>
        <p:spPr>
          <a:xfrm>
            <a:off x="9811512" y="2834640"/>
            <a:ext cx="1691640" cy="41148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Swapped for a 1-hour token with the user's group</a:t>
            </a:r>
            <a:endParaRPr lang="en-US" sz="1050" dirty="0"/>
          </a:p>
        </p:txBody>
      </p:sp>
      <p:sp>
        <p:nvSpPr>
          <p:cNvPr id="39" name="Text 32"/>
          <p:cNvSpPr txBox="1"/>
          <p:nvPr/>
        </p:nvSpPr>
        <p:spPr>
          <a:xfrm>
            <a:off x="548640" y="3584448"/>
            <a:ext cx="7315200" cy="274320"/>
          </a:xfrm>
          <a:prstGeom prst="rect">
            <a:avLst/>
          </a:prstGeom>
          <a:noFill/>
          <a:ln/>
        </p:spPr>
        <p:txBody>
          <a:bodyPr wrap="square" lIns="0" tIns="0" rIns="0" bIns="0" rtlCol="0" anchor="ctr"/>
          <a:lstStyle/>
          <a:p>
            <a:pPr indent="0" marL="0">
              <a:buNone/>
            </a:pPr>
            <a:r>
              <a:rPr lang="en-US" sz="1100" b="1" spc="300" kern="0" dirty="0">
                <a:solidFill>
                  <a:srgbClr val="62748E"/>
                </a:solidFill>
                <a:latin typeface="DM Sans" pitchFamily="34" charset="0"/>
                <a:ea typeface="DM Sans" pitchFamily="34" charset="-122"/>
                <a:cs typeface="DM Sans" pitchFamily="34" charset="-120"/>
              </a:rPr>
              <a:t>THREE COGNITO GROUPS, CARRIED IN THE TOKEN</a:t>
            </a:r>
            <a:endParaRPr lang="en-US" sz="1100" dirty="0"/>
          </a:p>
        </p:txBody>
      </p:sp>
      <p:sp>
        <p:nvSpPr>
          <p:cNvPr id="40" name="Shape 33"/>
          <p:cNvSpPr/>
          <p:nvPr/>
        </p:nvSpPr>
        <p:spPr>
          <a:xfrm>
            <a:off x="548640" y="3931920"/>
            <a:ext cx="3514344" cy="2468880"/>
          </a:xfrm>
          <a:prstGeom prst="roundRect">
            <a:avLst>
              <a:gd name="adj" fmla="val 5926"/>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1" name="Shape 34"/>
          <p:cNvSpPr/>
          <p:nvPr/>
        </p:nvSpPr>
        <p:spPr>
          <a:xfrm>
            <a:off x="777240" y="4160520"/>
            <a:ext cx="548640" cy="548640"/>
          </a:xfrm>
          <a:prstGeom prst="ellipse">
            <a:avLst/>
          </a:prstGeom>
          <a:solidFill>
            <a:srgbClr val="009689"/>
          </a:solidFill>
          <a:ln w="12700">
            <a:solidFill>
              <a:srgbClr val="009689"/>
            </a:solidFill>
            <a:prstDash val="solid"/>
          </a:ln>
        </p:spPr>
      </p:sp>
      <p:pic>
        <p:nvPicPr>
          <p:cNvPr id="42" name="Image 5" descr="preencoded.png">    </p:cNvPr>
          <p:cNvPicPr>
            <a:picLocks noChangeAspect="1"/>
          </p:cNvPicPr>
          <p:nvPr/>
        </p:nvPicPr>
        <p:blipFill>
          <a:blip r:embed="rId6"/>
          <a:stretch>
            <a:fillRect/>
          </a:stretch>
        </p:blipFill>
        <p:spPr>
          <a:xfrm>
            <a:off x="914400" y="4297680"/>
            <a:ext cx="274320" cy="274320"/>
          </a:xfrm>
          <a:prstGeom prst="rect">
            <a:avLst/>
          </a:prstGeom>
        </p:spPr>
      </p:pic>
      <p:sp>
        <p:nvSpPr>
          <p:cNvPr id="43" name="Shape 35"/>
          <p:cNvSpPr/>
          <p:nvPr/>
        </p:nvSpPr>
        <p:spPr>
          <a:xfrm>
            <a:off x="1463040" y="4288536"/>
            <a:ext cx="1005840" cy="292608"/>
          </a:xfrm>
          <a:prstGeom prst="roundRect">
            <a:avLst>
              <a:gd name="adj" fmla="val 50000"/>
            </a:avLst>
          </a:prstGeom>
          <a:solidFill>
            <a:srgbClr val="F1F5F9"/>
          </a:solidFill>
          <a:ln w="12700">
            <a:solidFill>
              <a:srgbClr val="F1F5F9"/>
            </a:solidFill>
            <a:prstDash val="solid"/>
          </a:ln>
        </p:spPr>
      </p:sp>
      <p:sp>
        <p:nvSpPr>
          <p:cNvPr id="44" name="Text 36"/>
          <p:cNvSpPr txBox="1"/>
          <p:nvPr/>
        </p:nvSpPr>
        <p:spPr>
          <a:xfrm>
            <a:off x="1463040" y="4288536"/>
            <a:ext cx="1005840" cy="292608"/>
          </a:xfrm>
          <a:prstGeom prst="rect">
            <a:avLst/>
          </a:prstGeom>
          <a:noFill/>
          <a:ln/>
        </p:spPr>
        <p:txBody>
          <a:bodyPr wrap="square" lIns="0" tIns="0" rIns="0" bIns="0" rtlCol="0" anchor="ctr"/>
          <a:lstStyle/>
          <a:p>
            <a:pPr algn="ctr" indent="0" marL="0">
              <a:buNone/>
            </a:pPr>
            <a:r>
              <a:rPr lang="en-US" sz="1100" b="1" dirty="0">
                <a:solidFill>
                  <a:srgbClr val="0F172B"/>
                </a:solidFill>
                <a:latin typeface="DM Sans" pitchFamily="34" charset="0"/>
                <a:ea typeface="DM Sans" pitchFamily="34" charset="-122"/>
                <a:cs typeface="DM Sans" pitchFamily="34" charset="-120"/>
              </a:rPr>
              <a:t>student</a:t>
            </a:r>
            <a:endParaRPr lang="en-US" sz="1100" dirty="0"/>
          </a:p>
        </p:txBody>
      </p:sp>
      <p:sp>
        <p:nvSpPr>
          <p:cNvPr id="45" name="Text 37"/>
          <p:cNvSpPr txBox="1"/>
          <p:nvPr/>
        </p:nvSpPr>
        <p:spPr>
          <a:xfrm>
            <a:off x="777240" y="4846320"/>
            <a:ext cx="3057144" cy="14173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020618"/>
                </a:solidFill>
                <a:latin typeface="DM Sans" pitchFamily="34" charset="0"/>
                <a:ea typeface="DM Sans" pitchFamily="34" charset="-122"/>
                <a:cs typeface="DM Sans" pitchFamily="34" charset="-120"/>
              </a:rPr>
              <a:t>See the rooms and their live readings</a:t>
            </a:r>
            <a:endParaRPr lang="en-US" sz="1300" dirty="0"/>
          </a:p>
          <a:p>
            <a:pPr marL="177800" indent="-177800">
              <a:spcAft>
                <a:spcPts val="700"/>
              </a:spcAft>
              <a:buSzPct val="100000"/>
              <a:buChar char="•"/>
            </a:pPr>
            <a:r>
              <a:rPr lang="en-US" sz="1300" dirty="0">
                <a:solidFill>
                  <a:srgbClr val="020618"/>
                </a:solidFill>
                <a:latin typeface="DM Sans" pitchFamily="34" charset="0"/>
                <a:ea typeface="DM Sans" pitchFamily="34" charset="-122"/>
                <a:cs typeface="DM Sans" pitchFamily="34" charset="-120"/>
              </a:rPr>
              <a:t>Submit service requests</a:t>
            </a:r>
            <a:endParaRPr lang="en-US" sz="1300" dirty="0"/>
          </a:p>
          <a:p>
            <a:pPr marL="177800" indent="-177800">
              <a:spcAft>
                <a:spcPts val="700"/>
              </a:spcAft>
              <a:buSzPct val="100000"/>
              <a:buChar char="•"/>
            </a:pPr>
            <a:r>
              <a:rPr lang="en-US" sz="1300" dirty="0">
                <a:solidFill>
                  <a:srgbClr val="020618"/>
                </a:solidFill>
                <a:latin typeface="DM Sans" pitchFamily="34" charset="0"/>
                <a:ea typeface="DM Sans" pitchFamily="34" charset="-122"/>
                <a:cs typeface="DM Sans" pitchFamily="34" charset="-120"/>
              </a:rPr>
              <a:t>See only their own requests</a:t>
            </a:r>
            <a:endParaRPr lang="en-US" sz="1300" dirty="0"/>
          </a:p>
        </p:txBody>
      </p:sp>
      <p:sp>
        <p:nvSpPr>
          <p:cNvPr id="46" name="Shape 38"/>
          <p:cNvSpPr/>
          <p:nvPr/>
        </p:nvSpPr>
        <p:spPr>
          <a:xfrm>
            <a:off x="4337304" y="3931920"/>
            <a:ext cx="3514344" cy="2468880"/>
          </a:xfrm>
          <a:prstGeom prst="roundRect">
            <a:avLst>
              <a:gd name="adj" fmla="val 5926"/>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7" name="Shape 39"/>
          <p:cNvSpPr/>
          <p:nvPr/>
        </p:nvSpPr>
        <p:spPr>
          <a:xfrm>
            <a:off x="4565904" y="4160520"/>
            <a:ext cx="548640" cy="548640"/>
          </a:xfrm>
          <a:prstGeom prst="ellipse">
            <a:avLst/>
          </a:prstGeom>
          <a:solidFill>
            <a:srgbClr val="43C07A"/>
          </a:solidFill>
          <a:ln w="12700">
            <a:solidFill>
              <a:srgbClr val="43C07A"/>
            </a:solidFill>
            <a:prstDash val="solid"/>
          </a:ln>
        </p:spPr>
      </p:sp>
      <p:pic>
        <p:nvPicPr>
          <p:cNvPr id="48" name="Image 6" descr="preencoded.png">    </p:cNvPr>
          <p:cNvPicPr>
            <a:picLocks noChangeAspect="1"/>
          </p:cNvPicPr>
          <p:nvPr/>
        </p:nvPicPr>
        <p:blipFill>
          <a:blip r:embed="rId7"/>
          <a:stretch>
            <a:fillRect/>
          </a:stretch>
        </p:blipFill>
        <p:spPr>
          <a:xfrm>
            <a:off x="4703064" y="4297680"/>
            <a:ext cx="274320" cy="274320"/>
          </a:xfrm>
          <a:prstGeom prst="rect">
            <a:avLst/>
          </a:prstGeom>
        </p:spPr>
      </p:pic>
      <p:sp>
        <p:nvSpPr>
          <p:cNvPr id="49" name="Shape 40"/>
          <p:cNvSpPr/>
          <p:nvPr/>
        </p:nvSpPr>
        <p:spPr>
          <a:xfrm>
            <a:off x="5251704" y="4288536"/>
            <a:ext cx="1005840" cy="292608"/>
          </a:xfrm>
          <a:prstGeom prst="roundRect">
            <a:avLst>
              <a:gd name="adj" fmla="val 50000"/>
            </a:avLst>
          </a:prstGeom>
          <a:solidFill>
            <a:srgbClr val="43C07A"/>
          </a:solidFill>
          <a:ln w="12700">
            <a:solidFill>
              <a:srgbClr val="43C07A"/>
            </a:solidFill>
            <a:prstDash val="solid"/>
          </a:ln>
        </p:spPr>
      </p:sp>
      <p:sp>
        <p:nvSpPr>
          <p:cNvPr id="50" name="Text 41"/>
          <p:cNvSpPr txBox="1"/>
          <p:nvPr/>
        </p:nvSpPr>
        <p:spPr>
          <a:xfrm>
            <a:off x="5251704" y="4288536"/>
            <a:ext cx="1005840" cy="292608"/>
          </a:xfrm>
          <a:prstGeom prst="rect">
            <a:avLst/>
          </a:prstGeom>
          <a:noFill/>
          <a:ln/>
        </p:spPr>
        <p:txBody>
          <a:bodyPr wrap="square" lIns="0" tIns="0" rIns="0" bIns="0" rtlCol="0" anchor="ctr"/>
          <a:lstStyle/>
          <a:p>
            <a:pPr algn="ctr" indent="0" marL="0">
              <a:buNone/>
            </a:pPr>
            <a:r>
              <a:rPr lang="en-US" sz="1100" b="1" dirty="0">
                <a:solidFill>
                  <a:srgbClr val="00220D"/>
                </a:solidFill>
                <a:latin typeface="DM Sans" pitchFamily="34" charset="0"/>
                <a:ea typeface="DM Sans" pitchFamily="34" charset="-122"/>
                <a:cs typeface="DM Sans" pitchFamily="34" charset="-120"/>
              </a:rPr>
              <a:t>staff</a:t>
            </a:r>
            <a:endParaRPr lang="en-US" sz="1100" dirty="0"/>
          </a:p>
        </p:txBody>
      </p:sp>
      <p:sp>
        <p:nvSpPr>
          <p:cNvPr id="51" name="Text 42"/>
          <p:cNvSpPr txBox="1"/>
          <p:nvPr/>
        </p:nvSpPr>
        <p:spPr>
          <a:xfrm>
            <a:off x="4565904" y="4846320"/>
            <a:ext cx="3057144" cy="14173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020618"/>
                </a:solidFill>
                <a:latin typeface="DM Sans" pitchFamily="34" charset="0"/>
                <a:ea typeface="DM Sans" pitchFamily="34" charset="-122"/>
                <a:cs typeface="DM Sans" pitchFamily="34" charset="-120"/>
              </a:rPr>
              <a:t>Everything a student can see</a:t>
            </a:r>
            <a:endParaRPr lang="en-US" sz="1300" dirty="0"/>
          </a:p>
          <a:p>
            <a:pPr marL="177800" indent="-177800">
              <a:spcAft>
                <a:spcPts val="700"/>
              </a:spcAft>
              <a:buSzPct val="100000"/>
              <a:buChar char="•"/>
            </a:pPr>
            <a:r>
              <a:rPr lang="en-US" sz="1300" dirty="0">
                <a:solidFill>
                  <a:srgbClr val="020618"/>
                </a:solidFill>
                <a:latin typeface="DM Sans" pitchFamily="34" charset="0"/>
                <a:ea typeface="DM Sans" pitchFamily="34" charset="-122"/>
                <a:cs typeface="DM Sans" pitchFamily="34" charset="-120"/>
              </a:rPr>
              <a:t>Statistics, energy and sensor events</a:t>
            </a:r>
            <a:endParaRPr lang="en-US" sz="1300" dirty="0"/>
          </a:p>
          <a:p>
            <a:pPr marL="177800" indent="-177800">
              <a:spcAft>
                <a:spcPts val="700"/>
              </a:spcAft>
              <a:buSzPct val="100000"/>
              <a:buChar char="•"/>
            </a:pPr>
            <a:r>
              <a:rPr lang="en-US" sz="1300" dirty="0">
                <a:solidFill>
                  <a:srgbClr val="020618"/>
                </a:solidFill>
                <a:latin typeface="DM Sans" pitchFamily="34" charset="0"/>
                <a:ea typeface="DM Sans" pitchFamily="34" charset="-122"/>
                <a:cs typeface="DM Sans" pitchFamily="34" charset="-120"/>
              </a:rPr>
              <a:t>View and acknowledge alerts</a:t>
            </a:r>
            <a:endParaRPr lang="en-US" sz="1300" dirty="0"/>
          </a:p>
          <a:p>
            <a:pPr marL="177800" indent="-177800">
              <a:spcAft>
                <a:spcPts val="700"/>
              </a:spcAft>
              <a:buSzPct val="100000"/>
              <a:buChar char="•"/>
            </a:pPr>
            <a:r>
              <a:rPr lang="en-US" sz="1300" dirty="0">
                <a:solidFill>
                  <a:srgbClr val="020618"/>
                </a:solidFill>
                <a:latin typeface="DM Sans" pitchFamily="34" charset="0"/>
                <a:ea typeface="DM Sans" pitchFamily="34" charset="-122"/>
                <a:cs typeface="DM Sans" pitchFamily="34" charset="-120"/>
              </a:rPr>
              <a:t>Manage all service requests</a:t>
            </a:r>
            <a:endParaRPr lang="en-US" sz="1300" dirty="0"/>
          </a:p>
        </p:txBody>
      </p:sp>
      <p:sp>
        <p:nvSpPr>
          <p:cNvPr id="52" name="Shape 43"/>
          <p:cNvSpPr/>
          <p:nvPr/>
        </p:nvSpPr>
        <p:spPr>
          <a:xfrm>
            <a:off x="8125968" y="3931920"/>
            <a:ext cx="3514344" cy="2468880"/>
          </a:xfrm>
          <a:prstGeom prst="roundRect">
            <a:avLst>
              <a:gd name="adj" fmla="val 5926"/>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3" name="Shape 44"/>
          <p:cNvSpPr/>
          <p:nvPr/>
        </p:nvSpPr>
        <p:spPr>
          <a:xfrm>
            <a:off x="8354568" y="4160520"/>
            <a:ext cx="548640" cy="548640"/>
          </a:xfrm>
          <a:prstGeom prst="ellipse">
            <a:avLst/>
          </a:prstGeom>
          <a:solidFill>
            <a:srgbClr val="0F172B"/>
          </a:solidFill>
          <a:ln w="12700">
            <a:solidFill>
              <a:srgbClr val="0F172B"/>
            </a:solidFill>
            <a:prstDash val="solid"/>
          </a:ln>
        </p:spPr>
      </p:sp>
      <p:pic>
        <p:nvPicPr>
          <p:cNvPr id="54" name="Image 7" descr="preencoded.png">    </p:cNvPr>
          <p:cNvPicPr>
            <a:picLocks noChangeAspect="1"/>
          </p:cNvPicPr>
          <p:nvPr/>
        </p:nvPicPr>
        <p:blipFill>
          <a:blip r:embed="rId8"/>
          <a:stretch>
            <a:fillRect/>
          </a:stretch>
        </p:blipFill>
        <p:spPr>
          <a:xfrm>
            <a:off x="8491728" y="4297680"/>
            <a:ext cx="274320" cy="274320"/>
          </a:xfrm>
          <a:prstGeom prst="rect">
            <a:avLst/>
          </a:prstGeom>
        </p:spPr>
      </p:pic>
      <p:sp>
        <p:nvSpPr>
          <p:cNvPr id="55" name="Shape 45"/>
          <p:cNvSpPr/>
          <p:nvPr/>
        </p:nvSpPr>
        <p:spPr>
          <a:xfrm>
            <a:off x="9040368" y="4288536"/>
            <a:ext cx="1005840" cy="292608"/>
          </a:xfrm>
          <a:prstGeom prst="roundRect">
            <a:avLst>
              <a:gd name="adj" fmla="val 50000"/>
            </a:avLst>
          </a:prstGeom>
          <a:solidFill>
            <a:srgbClr val="0F172B"/>
          </a:solidFill>
          <a:ln w="12700">
            <a:solidFill>
              <a:srgbClr val="0F172B"/>
            </a:solidFill>
            <a:prstDash val="solid"/>
          </a:ln>
        </p:spPr>
      </p:sp>
      <p:sp>
        <p:nvSpPr>
          <p:cNvPr id="56" name="Text 46"/>
          <p:cNvSpPr txBox="1"/>
          <p:nvPr/>
        </p:nvSpPr>
        <p:spPr>
          <a:xfrm>
            <a:off x="9040368" y="4288536"/>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DM Sans" pitchFamily="34" charset="0"/>
                <a:ea typeface="DM Sans" pitchFamily="34" charset="-122"/>
                <a:cs typeface="DM Sans" pitchFamily="34" charset="-120"/>
              </a:rPr>
              <a:t>admin</a:t>
            </a:r>
            <a:endParaRPr lang="en-US" sz="1100" dirty="0"/>
          </a:p>
        </p:txBody>
      </p:sp>
      <p:sp>
        <p:nvSpPr>
          <p:cNvPr id="57" name="Text 47"/>
          <p:cNvSpPr txBox="1"/>
          <p:nvPr/>
        </p:nvSpPr>
        <p:spPr>
          <a:xfrm>
            <a:off x="8354568" y="4846320"/>
            <a:ext cx="3057144" cy="14173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020618"/>
                </a:solidFill>
                <a:latin typeface="DM Sans" pitchFamily="34" charset="0"/>
                <a:ea typeface="DM Sans" pitchFamily="34" charset="-122"/>
                <a:cs typeface="DM Sans" pitchFamily="34" charset="-120"/>
              </a:rPr>
              <a:t>Everything staff can do</a:t>
            </a:r>
            <a:endParaRPr lang="en-US" sz="1300" dirty="0"/>
          </a:p>
          <a:p>
            <a:pPr marL="177800" indent="-177800">
              <a:spcAft>
                <a:spcPts val="700"/>
              </a:spcAft>
              <a:buSzPct val="100000"/>
              <a:buChar char="•"/>
            </a:pPr>
            <a:r>
              <a:rPr lang="en-US" sz="1300" dirty="0">
                <a:solidFill>
                  <a:srgbClr val="020618"/>
                </a:solidFill>
                <a:latin typeface="DM Sans" pitchFamily="34" charset="0"/>
                <a:ea typeface="DM Sans" pitchFamily="34" charset="-122"/>
                <a:cs typeface="DM Sans" pitchFamily="34" charset="-120"/>
              </a:rPr>
              <a:t>Change the alert thresholds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sign-in</dc:title>
  <dc:subject>PptxGenJS Presentation</dc:subject>
  <dc:creator>PptxGenJS</dc:creator>
  <cp:lastModifiedBy>PptxGenJS</cp:lastModifiedBy>
  <cp:revision>1</cp:revision>
  <dcterms:created xsi:type="dcterms:W3CDTF">2026-09-19T09:37:37Z</dcterms:created>
  <dcterms:modified xsi:type="dcterms:W3CDTF">2026-09-19T09:37:37Z</dcterms:modified>
</cp:coreProperties>
</file>