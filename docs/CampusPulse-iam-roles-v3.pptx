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IAM roles, we followed least privilege. First, who can call our Lambda: a resource-based policy on the function allows only API Gateway to invoke it, and only from our own API, thanks to the SourceArn condition. Then what the Lambda can do: its role lists DynamoDB actions table by table. On events it only has PutItem and Query, so it can add and read readings but never edit or delete them; on rooms it can read and update but not create or delete. There's no users table at all, because Cognito handles accounts. We also created an S3 role to copy our dashboard and Terraform state buckets to Paris, and the GitHub Actions role lets our pipeline deploy, only from the main branch, with temporary credentials instead of stored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IAM roles: least privilege</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Each part of the platform gets its own role, with only the permissions it needs.</a:t>
            </a:r>
            <a:endParaRPr lang="en-US" sz="1400" dirty="0"/>
          </a:p>
        </p:txBody>
      </p:sp>
      <p:sp>
        <p:nvSpPr>
          <p:cNvPr id="4" name="Shape 2"/>
          <p:cNvSpPr/>
          <p:nvPr/>
        </p:nvSpPr>
        <p:spPr>
          <a:xfrm>
            <a:off x="548640" y="1463040"/>
            <a:ext cx="4572000" cy="3154680"/>
          </a:xfrm>
          <a:prstGeom prst="roundRect">
            <a:avLst>
              <a:gd name="adj" fmla="val 463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31520" y="1627632"/>
            <a:ext cx="402336" cy="402336"/>
          </a:xfrm>
          <a:prstGeom prst="ellipse">
            <a:avLst/>
          </a:prstGeom>
          <a:solidFill>
            <a:srgbClr val="43C07A"/>
          </a:solidFill>
          <a:ln w="12700">
            <a:solidFill>
              <a:srgbClr val="43C07A"/>
            </a:solidFill>
            <a:prstDash val="solid"/>
          </a:ln>
        </p:spPr>
      </p:sp>
      <p:pic>
        <p:nvPicPr>
          <p:cNvPr id="6" name="Image 0" descr="preencoded.png">    </p:cNvPr>
          <p:cNvPicPr>
            <a:picLocks noChangeAspect="1"/>
          </p:cNvPicPr>
          <p:nvPr/>
        </p:nvPicPr>
        <p:blipFill>
          <a:blip r:embed="rId1"/>
          <a:stretch>
            <a:fillRect/>
          </a:stretch>
        </p:blipFill>
        <p:spPr>
          <a:xfrm>
            <a:off x="832104" y="1728216"/>
            <a:ext cx="201168" cy="201168"/>
          </a:xfrm>
          <a:prstGeom prst="rect">
            <a:avLst/>
          </a:prstGeom>
        </p:spPr>
      </p:pic>
      <p:sp>
        <p:nvSpPr>
          <p:cNvPr id="7" name="Text 4"/>
          <p:cNvSpPr txBox="1"/>
          <p:nvPr/>
        </p:nvSpPr>
        <p:spPr>
          <a:xfrm>
            <a:off x="1234440" y="1591056"/>
            <a:ext cx="3749040" cy="274320"/>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Who can call the Lambda</a:t>
            </a:r>
            <a:endParaRPr lang="en-US" sz="1400" dirty="0"/>
          </a:p>
        </p:txBody>
      </p:sp>
      <p:sp>
        <p:nvSpPr>
          <p:cNvPr id="8" name="Text 5"/>
          <p:cNvSpPr txBox="1"/>
          <p:nvPr/>
        </p:nvSpPr>
        <p:spPr>
          <a:xfrm>
            <a:off x="1234440" y="1847088"/>
            <a:ext cx="3749040" cy="228600"/>
          </a:xfrm>
          <a:prstGeom prst="rect">
            <a:avLst/>
          </a:prstGeom>
          <a:noFill/>
          <a:ln/>
        </p:spPr>
        <p:txBody>
          <a:bodyPr wrap="square" lIns="0" tIns="0" rIns="0" bIns="0" rtlCol="0" anchor="ctr"/>
          <a:lstStyle/>
          <a:p>
            <a:pPr indent="0" marL="0">
              <a:buNone/>
            </a:pPr>
            <a:r>
              <a:rPr lang="en-US" sz="950" dirty="0">
                <a:solidFill>
                  <a:srgbClr val="62748E"/>
                </a:solidFill>
                <a:latin typeface="DM Sans" pitchFamily="34" charset="0"/>
                <a:ea typeface="DM Sans" pitchFamily="34" charset="-122"/>
                <a:cs typeface="DM Sans" pitchFamily="34" charset="-120"/>
              </a:rPr>
              <a:t>Resource-based policy on campuspulse-api (not a role)</a:t>
            </a:r>
            <a:endParaRPr lang="en-US" sz="950" dirty="0"/>
          </a:p>
        </p:txBody>
      </p:sp>
      <p:pic>
        <p:nvPicPr>
          <p:cNvPr id="9" name="Image 1" descr="policy.png">    </p:cNvPr>
          <p:cNvPicPr>
            <a:picLocks noChangeAspect="1"/>
          </p:cNvPicPr>
          <p:nvPr/>
        </p:nvPicPr>
        <p:blipFill>
          <a:blip r:embed="rId2"/>
          <a:stretch>
            <a:fillRect/>
          </a:stretch>
        </p:blipFill>
        <p:spPr>
          <a:xfrm>
            <a:off x="731520" y="2194560"/>
            <a:ext cx="4206240" cy="1445001"/>
          </a:xfrm>
          <a:prstGeom prst="rect">
            <a:avLst/>
          </a:prstGeom>
        </p:spPr>
      </p:pic>
      <p:sp>
        <p:nvSpPr>
          <p:cNvPr id="10" name="Text 6"/>
          <p:cNvSpPr txBox="1"/>
          <p:nvPr/>
        </p:nvSpPr>
        <p:spPr>
          <a:xfrm>
            <a:off x="731520" y="3776721"/>
            <a:ext cx="4206240" cy="749559"/>
          </a:xfrm>
          <a:prstGeom prst="rect">
            <a:avLst/>
          </a:prstGeom>
          <a:noFill/>
          <a:ln/>
        </p:spPr>
        <p:txBody>
          <a:bodyPr wrap="square" lIns="0" tIns="0" rIns="0" bIns="0" rtlCol="0" anchor="t"/>
          <a:lstStyle/>
          <a:p>
            <a:pPr marL="152400" indent="-152400">
              <a:buSzPct val="100000"/>
              <a:buChar char="•"/>
            </a:pPr>
            <a:r>
              <a:rPr lang="en-US" sz="1100" b="1" dirty="0">
                <a:solidFill>
                  <a:srgbClr val="020618"/>
                </a:solidFill>
                <a:latin typeface="DM Sans" pitchFamily="34" charset="0"/>
                <a:ea typeface="DM Sans" pitchFamily="34" charset="-122"/>
                <a:cs typeface="DM Sans" pitchFamily="34" charset="-120"/>
              </a:rPr>
              <a:t>Only API Gateway </a:t>
            </a:r>
            <a:pPr indent="0" marL="0">
              <a:spcAft>
                <a:spcPts val="400"/>
              </a:spcAft>
              <a:buNone/>
            </a:pPr>
            <a:r>
              <a:rPr lang="en-US" sz="1100" dirty="0">
                <a:solidFill>
                  <a:srgbClr val="020618"/>
                </a:solidFill>
                <a:latin typeface="DM Sans" pitchFamily="34" charset="0"/>
                <a:ea typeface="DM Sans" pitchFamily="34" charset="-122"/>
                <a:cs typeface="DM Sans" pitchFamily="34" charset="-120"/>
              </a:rPr>
              <a:t>may invoke the function</a:t>
            </a:r>
            <a:endParaRPr lang="en-US" sz="1100" dirty="0"/>
          </a:p>
          <a:p>
            <a:pPr marL="152400" indent="-152400">
              <a:buSzPct val="100000"/>
              <a:buChar char="•"/>
            </a:pPr>
            <a:r>
              <a:rPr lang="en-US" sz="1100" b="1" dirty="0">
                <a:solidFill>
                  <a:srgbClr val="020618"/>
                </a:solidFill>
                <a:latin typeface="DM Sans" pitchFamily="34" charset="0"/>
                <a:ea typeface="DM Sans" pitchFamily="34" charset="-122"/>
                <a:cs typeface="DM Sans" pitchFamily="34" charset="-120"/>
              </a:rPr>
              <a:t>Only our API </a:t>
            </a:r>
            <a:pPr indent="0" marL="0">
              <a:spcAft>
                <a:spcPts val="400"/>
              </a:spcAft>
              <a:buNone/>
            </a:pPr>
            <a:r>
              <a:rPr lang="en-US" sz="1100" dirty="0">
                <a:solidFill>
                  <a:srgbClr val="020618"/>
                </a:solidFill>
                <a:latin typeface="DM Sans" pitchFamily="34" charset="0"/>
                <a:ea typeface="DM Sans" pitchFamily="34" charset="-122"/>
                <a:cs typeface="DM Sans" pitchFamily="34" charset="-120"/>
              </a:rPr>
              <a:t>(the SourceArn condition), not any API Gateway</a:t>
            </a:r>
            <a:endParaRPr lang="en-US" sz="1100" dirty="0"/>
          </a:p>
        </p:txBody>
      </p:sp>
      <p:sp>
        <p:nvSpPr>
          <p:cNvPr id="11" name="Shape 7"/>
          <p:cNvSpPr/>
          <p:nvPr/>
        </p:nvSpPr>
        <p:spPr>
          <a:xfrm>
            <a:off x="5394960" y="1463040"/>
            <a:ext cx="6245352" cy="3154680"/>
          </a:xfrm>
          <a:prstGeom prst="roundRect">
            <a:avLst>
              <a:gd name="adj" fmla="val 463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2" name="Shape 8"/>
          <p:cNvSpPr/>
          <p:nvPr/>
        </p:nvSpPr>
        <p:spPr>
          <a:xfrm>
            <a:off x="5577840" y="1627632"/>
            <a:ext cx="402336" cy="402336"/>
          </a:xfrm>
          <a:prstGeom prst="ellipse">
            <a:avLst/>
          </a:prstGeom>
          <a:solidFill>
            <a:srgbClr val="F9B73F"/>
          </a:solidFill>
          <a:ln w="12700">
            <a:solidFill>
              <a:srgbClr val="F9B73F"/>
            </a:solidFill>
            <a:prstDash val="solid"/>
          </a:ln>
        </p:spPr>
      </p:sp>
      <p:pic>
        <p:nvPicPr>
          <p:cNvPr id="13" name="Image 2" descr="preencoded.png">    </p:cNvPr>
          <p:cNvPicPr>
            <a:picLocks noChangeAspect="1"/>
          </p:cNvPicPr>
          <p:nvPr/>
        </p:nvPicPr>
        <p:blipFill>
          <a:blip r:embed="rId3"/>
          <a:stretch>
            <a:fillRect/>
          </a:stretch>
        </p:blipFill>
        <p:spPr>
          <a:xfrm>
            <a:off x="5678424" y="1728216"/>
            <a:ext cx="201168" cy="201168"/>
          </a:xfrm>
          <a:prstGeom prst="rect">
            <a:avLst/>
          </a:prstGeom>
        </p:spPr>
      </p:pic>
      <p:sp>
        <p:nvSpPr>
          <p:cNvPr id="14" name="Text 9"/>
          <p:cNvSpPr txBox="1"/>
          <p:nvPr/>
        </p:nvSpPr>
        <p:spPr>
          <a:xfrm>
            <a:off x="6080760" y="1591056"/>
            <a:ext cx="3657600" cy="274320"/>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What the Lambda can do</a:t>
            </a:r>
            <a:endParaRPr lang="en-US" sz="1400" dirty="0"/>
          </a:p>
        </p:txBody>
      </p:sp>
      <p:sp>
        <p:nvSpPr>
          <p:cNvPr id="15" name="Text 10"/>
          <p:cNvSpPr txBox="1"/>
          <p:nvPr/>
        </p:nvSpPr>
        <p:spPr>
          <a:xfrm>
            <a:off x="6080760" y="1847088"/>
            <a:ext cx="5422392" cy="228600"/>
          </a:xfrm>
          <a:prstGeom prst="rect">
            <a:avLst/>
          </a:prstGeom>
          <a:noFill/>
          <a:ln/>
        </p:spPr>
        <p:txBody>
          <a:bodyPr wrap="square" lIns="0" tIns="0" rIns="0" bIns="0" rtlCol="0" anchor="ctr"/>
          <a:lstStyle/>
          <a:p>
            <a:pPr indent="0" marL="0">
              <a:buNone/>
            </a:pPr>
            <a:r>
              <a:rPr lang="en-US" sz="950" dirty="0">
                <a:solidFill>
                  <a:srgbClr val="62748E"/>
                </a:solidFill>
                <a:latin typeface="DM Sans" pitchFamily="34" charset="0"/>
                <a:ea typeface="DM Sans" pitchFamily="34" charset="-122"/>
                <a:cs typeface="DM Sans" pitchFamily="34" charset="-120"/>
              </a:rPr>
              <a:t>Role campuspulse-api-lambda: DynamoDB actions, table by table</a:t>
            </a:r>
            <a:endParaRPr lang="en-US" sz="950" dirty="0"/>
          </a:p>
        </p:txBody>
      </p:sp>
      <p:sp>
        <p:nvSpPr>
          <p:cNvPr id="16" name="Shape 11"/>
          <p:cNvSpPr/>
          <p:nvPr/>
        </p:nvSpPr>
        <p:spPr>
          <a:xfrm>
            <a:off x="5577840" y="2212848"/>
            <a:ext cx="5879592" cy="274320"/>
          </a:xfrm>
          <a:prstGeom prst="roundRect">
            <a:avLst>
              <a:gd name="adj" fmla="val 26667"/>
            </a:avLst>
          </a:prstGeom>
          <a:solidFill>
            <a:srgbClr val="0F172B"/>
          </a:solidFill>
          <a:ln w="12700">
            <a:solidFill>
              <a:srgbClr val="0F172B"/>
            </a:solidFill>
            <a:prstDash val="solid"/>
          </a:ln>
        </p:spPr>
      </p:sp>
      <p:sp>
        <p:nvSpPr>
          <p:cNvPr id="17" name="Text 12"/>
          <p:cNvSpPr txBox="1"/>
          <p:nvPr/>
        </p:nvSpPr>
        <p:spPr>
          <a:xfrm>
            <a:off x="5715000" y="2212848"/>
            <a:ext cx="1371600" cy="274320"/>
          </a:xfrm>
          <a:prstGeom prst="rect">
            <a:avLst/>
          </a:prstGeom>
          <a:noFill/>
          <a:ln/>
        </p:spPr>
        <p:txBody>
          <a:bodyPr wrap="square" lIns="0" tIns="0" rIns="0" bIns="0" rtlCol="0" anchor="ctr"/>
          <a:lstStyle/>
          <a:p>
            <a:pPr indent="0" marL="0">
              <a:buNone/>
            </a:pPr>
            <a:r>
              <a:rPr lang="en-US" sz="1000" b="1" dirty="0">
                <a:solidFill>
                  <a:srgbClr val="FFFFFF"/>
                </a:solidFill>
                <a:latin typeface="DM Sans" pitchFamily="34" charset="0"/>
                <a:ea typeface="DM Sans" pitchFamily="34" charset="-122"/>
                <a:cs typeface="DM Sans" pitchFamily="34" charset="-120"/>
              </a:rPr>
              <a:t>Table</a:t>
            </a:r>
            <a:endParaRPr lang="en-US" sz="1000" dirty="0"/>
          </a:p>
        </p:txBody>
      </p:sp>
      <p:sp>
        <p:nvSpPr>
          <p:cNvPr id="18" name="Text 13"/>
          <p:cNvSpPr txBox="1"/>
          <p:nvPr/>
        </p:nvSpPr>
        <p:spPr>
          <a:xfrm>
            <a:off x="7086600" y="2212848"/>
            <a:ext cx="4233672" cy="274320"/>
          </a:xfrm>
          <a:prstGeom prst="rect">
            <a:avLst/>
          </a:prstGeom>
          <a:noFill/>
          <a:ln/>
        </p:spPr>
        <p:txBody>
          <a:bodyPr wrap="square" lIns="0" tIns="0" rIns="0" bIns="0" rtlCol="0" anchor="ctr"/>
          <a:lstStyle/>
          <a:p>
            <a:pPr indent="0" marL="0">
              <a:buNone/>
            </a:pPr>
            <a:r>
              <a:rPr lang="en-US" sz="1000" b="1" dirty="0">
                <a:solidFill>
                  <a:srgbClr val="FFFFFF"/>
                </a:solidFill>
                <a:latin typeface="DM Sans" pitchFamily="34" charset="0"/>
                <a:ea typeface="DM Sans" pitchFamily="34" charset="-122"/>
                <a:cs typeface="DM Sans" pitchFamily="34" charset="-120"/>
              </a:rPr>
              <a:t>Allowed actions (nothing else)</a:t>
            </a:r>
            <a:endParaRPr lang="en-US" sz="1000" dirty="0"/>
          </a:p>
        </p:txBody>
      </p:sp>
      <p:sp>
        <p:nvSpPr>
          <p:cNvPr id="19" name="Text 14"/>
          <p:cNvSpPr txBox="1"/>
          <p:nvPr/>
        </p:nvSpPr>
        <p:spPr>
          <a:xfrm>
            <a:off x="5715000" y="2505456"/>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events</a:t>
            </a:r>
            <a:endParaRPr lang="en-US" sz="1050" dirty="0"/>
          </a:p>
        </p:txBody>
      </p:sp>
      <p:sp>
        <p:nvSpPr>
          <p:cNvPr id="20" name="Text 15"/>
          <p:cNvSpPr txBox="1"/>
          <p:nvPr/>
        </p:nvSpPr>
        <p:spPr>
          <a:xfrm>
            <a:off x="7086600" y="2505456"/>
            <a:ext cx="4279392" cy="283464"/>
          </a:xfrm>
          <a:prstGeom prst="rect">
            <a:avLst/>
          </a:prstGeom>
          <a:noFill/>
          <a:ln/>
        </p:spPr>
        <p:txBody>
          <a:bodyPr wrap="square" lIns="0" tIns="0" rIns="0" bIns="0" rtlCol="0" anchor="ctr"/>
          <a:lstStyle/>
          <a:p>
            <a:pPr indent="0" marL="0">
              <a:buNone/>
            </a:pPr>
            <a:r>
              <a:rPr lang="en-US" sz="1000" b="1" dirty="0">
                <a:solidFill>
                  <a:srgbClr val="020618"/>
                </a:solidFill>
                <a:latin typeface="DM Sans" pitchFamily="34" charset="0"/>
                <a:ea typeface="DM Sans" pitchFamily="34" charset="-122"/>
                <a:cs typeface="DM Sans" pitchFamily="34" charset="-120"/>
              </a:rPr>
              <a:t>PutItem · Query</a:t>
            </a:r>
            <a:pPr indent="0" marL="0">
              <a:buNone/>
            </a:pPr>
            <a:r>
              <a:rPr lang="en-US" sz="900" dirty="0">
                <a:solidFill>
                  <a:srgbClr val="62748E"/>
                </a:solidFill>
                <a:latin typeface="DM Sans" pitchFamily="34" charset="0"/>
                <a:ea typeface="DM Sans" pitchFamily="34" charset="-122"/>
                <a:cs typeface="DM Sans" pitchFamily="34" charset="-120"/>
              </a:rPr>
              <a:t>   never edit or delete</a:t>
            </a:r>
            <a:endParaRPr lang="en-US" sz="1000" dirty="0"/>
          </a:p>
        </p:txBody>
      </p:sp>
      <p:sp>
        <p:nvSpPr>
          <p:cNvPr id="21" name="Shape 16"/>
          <p:cNvSpPr/>
          <p:nvPr/>
        </p:nvSpPr>
        <p:spPr>
          <a:xfrm>
            <a:off x="5577840" y="2788920"/>
            <a:ext cx="5879592" cy="283464"/>
          </a:xfrm>
          <a:prstGeom prst="rect">
            <a:avLst/>
          </a:prstGeom>
          <a:solidFill>
            <a:srgbClr val="F1F5F9"/>
          </a:solidFill>
          <a:ln w="12700">
            <a:solidFill>
              <a:srgbClr val="F1F5F9"/>
            </a:solidFill>
            <a:prstDash val="solid"/>
          </a:ln>
        </p:spPr>
      </p:sp>
      <p:sp>
        <p:nvSpPr>
          <p:cNvPr id="22" name="Text 17"/>
          <p:cNvSpPr txBox="1"/>
          <p:nvPr/>
        </p:nvSpPr>
        <p:spPr>
          <a:xfrm>
            <a:off x="5715000" y="2788920"/>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rooms</a:t>
            </a:r>
            <a:endParaRPr lang="en-US" sz="1050" dirty="0"/>
          </a:p>
        </p:txBody>
      </p:sp>
      <p:sp>
        <p:nvSpPr>
          <p:cNvPr id="23" name="Text 18"/>
          <p:cNvSpPr txBox="1"/>
          <p:nvPr/>
        </p:nvSpPr>
        <p:spPr>
          <a:xfrm>
            <a:off x="7086600" y="2788920"/>
            <a:ext cx="4279392" cy="283464"/>
          </a:xfrm>
          <a:prstGeom prst="rect">
            <a:avLst/>
          </a:prstGeom>
          <a:noFill/>
          <a:ln/>
        </p:spPr>
        <p:txBody>
          <a:bodyPr wrap="square" lIns="0" tIns="0" rIns="0" bIns="0" rtlCol="0" anchor="ctr"/>
          <a:lstStyle/>
          <a:p>
            <a:pPr indent="0" marL="0">
              <a:buNone/>
            </a:pPr>
            <a:r>
              <a:rPr lang="en-US" sz="1000" b="1" dirty="0">
                <a:solidFill>
                  <a:srgbClr val="020618"/>
                </a:solidFill>
                <a:latin typeface="DM Sans" pitchFamily="34" charset="0"/>
                <a:ea typeface="DM Sans" pitchFamily="34" charset="-122"/>
                <a:cs typeface="DM Sans" pitchFamily="34" charset="-120"/>
              </a:rPr>
              <a:t>Scan · GetItem · UpdateItem</a:t>
            </a:r>
            <a:pPr indent="0" marL="0">
              <a:buNone/>
            </a:pPr>
            <a:r>
              <a:rPr lang="en-US" sz="900" dirty="0">
                <a:solidFill>
                  <a:srgbClr val="62748E"/>
                </a:solidFill>
                <a:latin typeface="DM Sans" pitchFamily="34" charset="0"/>
                <a:ea typeface="DM Sans" pitchFamily="34" charset="-122"/>
                <a:cs typeface="DM Sans" pitchFamily="34" charset="-120"/>
              </a:rPr>
              <a:t>   never create or delete</a:t>
            </a:r>
            <a:endParaRPr lang="en-US" sz="1000" dirty="0"/>
          </a:p>
        </p:txBody>
      </p:sp>
      <p:sp>
        <p:nvSpPr>
          <p:cNvPr id="24" name="Text 19"/>
          <p:cNvSpPr txBox="1"/>
          <p:nvPr/>
        </p:nvSpPr>
        <p:spPr>
          <a:xfrm>
            <a:off x="5715000" y="3072384"/>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alerts</a:t>
            </a:r>
            <a:endParaRPr lang="en-US" sz="1050" dirty="0"/>
          </a:p>
        </p:txBody>
      </p:sp>
      <p:sp>
        <p:nvSpPr>
          <p:cNvPr id="25" name="Text 20"/>
          <p:cNvSpPr txBox="1"/>
          <p:nvPr/>
        </p:nvSpPr>
        <p:spPr>
          <a:xfrm>
            <a:off x="7086600" y="3072384"/>
            <a:ext cx="4279392" cy="283464"/>
          </a:xfrm>
          <a:prstGeom prst="rect">
            <a:avLst/>
          </a:prstGeom>
          <a:noFill/>
          <a:ln/>
        </p:spPr>
        <p:txBody>
          <a:bodyPr wrap="square" lIns="0" tIns="0" rIns="0" bIns="0" rtlCol="0" anchor="ctr"/>
          <a:lstStyle/>
          <a:p>
            <a:pPr indent="0" marL="0">
              <a:buNone/>
            </a:pPr>
            <a:r>
              <a:rPr lang="en-US" sz="850" dirty="0">
                <a:solidFill>
                  <a:srgbClr val="020618"/>
                </a:solidFill>
                <a:latin typeface="DM Sans" pitchFamily="34" charset="0"/>
                <a:ea typeface="DM Sans" pitchFamily="34" charset="-122"/>
                <a:cs typeface="DM Sans" pitchFamily="34" charset="-120"/>
              </a:rPr>
              <a:t>GetItem · PutItem · UpdateItem · DeleteItem · ConditionCheckItem · Query</a:t>
            </a:r>
            <a:endParaRPr lang="en-US" sz="850" dirty="0"/>
          </a:p>
        </p:txBody>
      </p:sp>
      <p:sp>
        <p:nvSpPr>
          <p:cNvPr id="26" name="Shape 21"/>
          <p:cNvSpPr/>
          <p:nvPr/>
        </p:nvSpPr>
        <p:spPr>
          <a:xfrm>
            <a:off x="5577840" y="3355848"/>
            <a:ext cx="5879592" cy="283464"/>
          </a:xfrm>
          <a:prstGeom prst="rect">
            <a:avLst/>
          </a:prstGeom>
          <a:solidFill>
            <a:srgbClr val="F1F5F9"/>
          </a:solidFill>
          <a:ln w="12700">
            <a:solidFill>
              <a:srgbClr val="F1F5F9"/>
            </a:solidFill>
            <a:prstDash val="solid"/>
          </a:ln>
        </p:spPr>
      </p:sp>
      <p:sp>
        <p:nvSpPr>
          <p:cNvPr id="27" name="Text 22"/>
          <p:cNvSpPr txBox="1"/>
          <p:nvPr/>
        </p:nvSpPr>
        <p:spPr>
          <a:xfrm>
            <a:off x="5715000" y="3355848"/>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service-requests</a:t>
            </a:r>
            <a:endParaRPr lang="en-US" sz="1050" dirty="0"/>
          </a:p>
        </p:txBody>
      </p:sp>
      <p:sp>
        <p:nvSpPr>
          <p:cNvPr id="28" name="Text 23"/>
          <p:cNvSpPr txBox="1"/>
          <p:nvPr/>
        </p:nvSpPr>
        <p:spPr>
          <a:xfrm>
            <a:off x="7086600" y="3355848"/>
            <a:ext cx="4279392" cy="283464"/>
          </a:xfrm>
          <a:prstGeom prst="rect">
            <a:avLst/>
          </a:prstGeom>
          <a:noFill/>
          <a:ln/>
        </p:spPr>
        <p:txBody>
          <a:bodyPr wrap="square" lIns="0" tIns="0" rIns="0" bIns="0" rtlCol="0" anchor="ctr"/>
          <a:lstStyle/>
          <a:p>
            <a:pPr indent="0" marL="0">
              <a:buNone/>
            </a:pPr>
            <a:r>
              <a:rPr lang="en-US" sz="1000" dirty="0">
                <a:solidFill>
                  <a:srgbClr val="020618"/>
                </a:solidFill>
                <a:latin typeface="DM Sans" pitchFamily="34" charset="0"/>
                <a:ea typeface="DM Sans" pitchFamily="34" charset="-122"/>
                <a:cs typeface="DM Sans" pitchFamily="34" charset="-120"/>
              </a:rPr>
              <a:t>GetItem · PutItem · UpdateItem · Query</a:t>
            </a:r>
            <a:endParaRPr lang="en-US" sz="1000" dirty="0"/>
          </a:p>
        </p:txBody>
      </p:sp>
      <p:sp>
        <p:nvSpPr>
          <p:cNvPr id="29" name="Text 24"/>
          <p:cNvSpPr txBox="1"/>
          <p:nvPr/>
        </p:nvSpPr>
        <p:spPr>
          <a:xfrm>
            <a:off x="5715000" y="3639312"/>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aggregates</a:t>
            </a:r>
            <a:endParaRPr lang="en-US" sz="1050" dirty="0"/>
          </a:p>
        </p:txBody>
      </p:sp>
      <p:sp>
        <p:nvSpPr>
          <p:cNvPr id="30" name="Text 25"/>
          <p:cNvSpPr txBox="1"/>
          <p:nvPr/>
        </p:nvSpPr>
        <p:spPr>
          <a:xfrm>
            <a:off x="7086600" y="3639312"/>
            <a:ext cx="4279392" cy="283464"/>
          </a:xfrm>
          <a:prstGeom prst="rect">
            <a:avLst/>
          </a:prstGeom>
          <a:noFill/>
          <a:ln/>
        </p:spPr>
        <p:txBody>
          <a:bodyPr wrap="square" lIns="0" tIns="0" rIns="0" bIns="0" rtlCol="0" anchor="ctr"/>
          <a:lstStyle/>
          <a:p>
            <a:pPr indent="0" marL="0">
              <a:buNone/>
            </a:pPr>
            <a:r>
              <a:rPr lang="en-US" sz="1000" dirty="0">
                <a:solidFill>
                  <a:srgbClr val="020618"/>
                </a:solidFill>
                <a:latin typeface="DM Sans" pitchFamily="34" charset="0"/>
                <a:ea typeface="DM Sans" pitchFamily="34" charset="-122"/>
                <a:cs typeface="DM Sans" pitchFamily="34" charset="-120"/>
              </a:rPr>
              <a:t>UpdateItem · Query</a:t>
            </a:r>
            <a:endParaRPr lang="en-US" sz="1000" dirty="0"/>
          </a:p>
        </p:txBody>
      </p:sp>
      <p:sp>
        <p:nvSpPr>
          <p:cNvPr id="31" name="Shape 26"/>
          <p:cNvSpPr/>
          <p:nvPr/>
        </p:nvSpPr>
        <p:spPr>
          <a:xfrm>
            <a:off x="5577840" y="3922776"/>
            <a:ext cx="5879592" cy="283464"/>
          </a:xfrm>
          <a:prstGeom prst="rect">
            <a:avLst/>
          </a:prstGeom>
          <a:solidFill>
            <a:srgbClr val="F1F5F9"/>
          </a:solidFill>
          <a:ln w="12700">
            <a:solidFill>
              <a:srgbClr val="F1F5F9"/>
            </a:solidFill>
            <a:prstDash val="solid"/>
          </a:ln>
        </p:spPr>
      </p:sp>
      <p:sp>
        <p:nvSpPr>
          <p:cNvPr id="32" name="Text 27"/>
          <p:cNvSpPr txBox="1"/>
          <p:nvPr/>
        </p:nvSpPr>
        <p:spPr>
          <a:xfrm>
            <a:off x="5715000" y="3922776"/>
            <a:ext cx="1371600" cy="283464"/>
          </a:xfrm>
          <a:prstGeom prst="rect">
            <a:avLst/>
          </a:prstGeom>
          <a:noFill/>
          <a:ln/>
        </p:spPr>
        <p:txBody>
          <a:bodyPr wrap="square" lIns="0" tIns="0" rIns="0" bIns="0" rtlCol="0" anchor="ctr"/>
          <a:lstStyle/>
          <a:p>
            <a:pPr indent="0" marL="0">
              <a:buNone/>
            </a:pPr>
            <a:r>
              <a:rPr lang="en-US" sz="1050" b="1" dirty="0">
                <a:solidFill>
                  <a:srgbClr val="020618"/>
                </a:solidFill>
                <a:latin typeface="Space Grotesk" pitchFamily="34" charset="0"/>
                <a:ea typeface="Space Grotesk" pitchFamily="34" charset="-122"/>
                <a:cs typeface="Space Grotesk" pitchFamily="34" charset="-120"/>
              </a:rPr>
              <a:t>settings</a:t>
            </a:r>
            <a:endParaRPr lang="en-US" sz="1050" dirty="0"/>
          </a:p>
        </p:txBody>
      </p:sp>
      <p:sp>
        <p:nvSpPr>
          <p:cNvPr id="33" name="Text 28"/>
          <p:cNvSpPr txBox="1"/>
          <p:nvPr/>
        </p:nvSpPr>
        <p:spPr>
          <a:xfrm>
            <a:off x="7086600" y="3922776"/>
            <a:ext cx="4279392" cy="283464"/>
          </a:xfrm>
          <a:prstGeom prst="rect">
            <a:avLst/>
          </a:prstGeom>
          <a:noFill/>
          <a:ln/>
        </p:spPr>
        <p:txBody>
          <a:bodyPr wrap="square" lIns="0" tIns="0" rIns="0" bIns="0" rtlCol="0" anchor="ctr"/>
          <a:lstStyle/>
          <a:p>
            <a:pPr indent="0" marL="0">
              <a:buNone/>
            </a:pPr>
            <a:r>
              <a:rPr lang="en-US" sz="1000" dirty="0">
                <a:solidFill>
                  <a:srgbClr val="020618"/>
                </a:solidFill>
                <a:latin typeface="DM Sans" pitchFamily="34" charset="0"/>
                <a:ea typeface="DM Sans" pitchFamily="34" charset="-122"/>
                <a:cs typeface="DM Sans" pitchFamily="34" charset="-120"/>
              </a:rPr>
              <a:t>GetItem · PutItem</a:t>
            </a:r>
            <a:endParaRPr lang="en-US" sz="1000" dirty="0"/>
          </a:p>
        </p:txBody>
      </p:sp>
      <p:sp>
        <p:nvSpPr>
          <p:cNvPr id="34" name="Text 29"/>
          <p:cNvSpPr txBox="1"/>
          <p:nvPr/>
        </p:nvSpPr>
        <p:spPr>
          <a:xfrm>
            <a:off x="5577840" y="4224528"/>
            <a:ext cx="5879592" cy="256032"/>
          </a:xfrm>
          <a:prstGeom prst="rect">
            <a:avLst/>
          </a:prstGeom>
          <a:noFill/>
          <a:ln/>
        </p:spPr>
        <p:txBody>
          <a:bodyPr wrap="square" lIns="0" tIns="0" rIns="0" bIns="0" rtlCol="0" anchor="ctr"/>
          <a:lstStyle/>
          <a:p>
            <a:pPr indent="0" marL="0">
              <a:buNone/>
            </a:pPr>
            <a:r>
              <a:rPr lang="en-US" sz="950" i="1" dirty="0">
                <a:solidFill>
                  <a:srgbClr val="62748E"/>
                </a:solidFill>
                <a:latin typeface="DM Sans" pitchFamily="34" charset="0"/>
                <a:ea typeface="DM Sans" pitchFamily="34" charset="-122"/>
                <a:cs typeface="DM Sans" pitchFamily="34" charset="-120"/>
              </a:rPr>
              <a:t>No users table (Cognito handles accounts) and no permission to create or delete tables.</a:t>
            </a:r>
            <a:endParaRPr lang="en-US" sz="950" dirty="0"/>
          </a:p>
        </p:txBody>
      </p:sp>
      <p:sp>
        <p:nvSpPr>
          <p:cNvPr id="35" name="Shape 30"/>
          <p:cNvSpPr/>
          <p:nvPr/>
        </p:nvSpPr>
        <p:spPr>
          <a:xfrm>
            <a:off x="548640" y="4800600"/>
            <a:ext cx="2788920" cy="1645920"/>
          </a:xfrm>
          <a:prstGeom prst="roundRect">
            <a:avLst>
              <a:gd name="adj" fmla="val 8889"/>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6" name="Shape 31"/>
          <p:cNvSpPr/>
          <p:nvPr/>
        </p:nvSpPr>
        <p:spPr>
          <a:xfrm>
            <a:off x="713232" y="4946904"/>
            <a:ext cx="384048" cy="384048"/>
          </a:xfrm>
          <a:prstGeom prst="ellipse">
            <a:avLst/>
          </a:prstGeom>
          <a:solidFill>
            <a:srgbClr val="009689"/>
          </a:solidFill>
          <a:ln w="12700">
            <a:solidFill>
              <a:srgbClr val="009689"/>
            </a:solidFill>
            <a:prstDash val="solid"/>
          </a:ln>
        </p:spPr>
      </p:sp>
      <p:pic>
        <p:nvPicPr>
          <p:cNvPr id="37" name="Image 3" descr="preencoded.png">    </p:cNvPr>
          <p:cNvPicPr>
            <a:picLocks noChangeAspect="1"/>
          </p:cNvPicPr>
          <p:nvPr/>
        </p:nvPicPr>
        <p:blipFill>
          <a:blip r:embed="rId4"/>
          <a:stretch>
            <a:fillRect/>
          </a:stretch>
        </p:blipFill>
        <p:spPr>
          <a:xfrm>
            <a:off x="809244" y="5042916"/>
            <a:ext cx="192024" cy="192024"/>
          </a:xfrm>
          <a:prstGeom prst="rect">
            <a:avLst/>
          </a:prstGeom>
        </p:spPr>
      </p:pic>
      <p:sp>
        <p:nvSpPr>
          <p:cNvPr id="38" name="Text 32"/>
          <p:cNvSpPr txBox="1"/>
          <p:nvPr/>
        </p:nvSpPr>
        <p:spPr>
          <a:xfrm>
            <a:off x="1188720" y="4946904"/>
            <a:ext cx="2057400" cy="384048"/>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S3 replication role</a:t>
            </a:r>
            <a:endParaRPr lang="en-US" sz="1250" dirty="0"/>
          </a:p>
        </p:txBody>
      </p:sp>
      <p:sp>
        <p:nvSpPr>
          <p:cNvPr id="39" name="Text 33"/>
          <p:cNvSpPr txBox="1"/>
          <p:nvPr/>
        </p:nvSpPr>
        <p:spPr>
          <a:xfrm>
            <a:off x="713232" y="5422392"/>
            <a:ext cx="2487168" cy="960120"/>
          </a:xfrm>
          <a:prstGeom prst="rect">
            <a:avLst/>
          </a:prstGeom>
          <a:noFill/>
          <a:ln/>
        </p:spPr>
        <p:txBody>
          <a:bodyPr wrap="square" lIns="0" tIns="0" rIns="0" bIns="0" rtlCol="0" anchor="t"/>
          <a:lstStyle/>
          <a:p>
            <a:pPr indent="0" marL="0">
              <a:buNone/>
            </a:pPr>
            <a:r>
              <a:rPr lang="en-US" sz="1000" dirty="0">
                <a:solidFill>
                  <a:srgbClr val="62748E"/>
                </a:solidFill>
                <a:latin typeface="DM Sans" pitchFamily="34" charset="0"/>
                <a:ea typeface="DM Sans" pitchFamily="34" charset="-122"/>
                <a:cs typeface="DM Sans" pitchFamily="34" charset="-120"/>
              </a:rPr>
              <a:t>Copies the dashboard and Terraform state buckets to Paris; can only read our buckets and write the copies.</a:t>
            </a:r>
            <a:endParaRPr lang="en-US" sz="1000" dirty="0"/>
          </a:p>
        </p:txBody>
      </p:sp>
      <p:sp>
        <p:nvSpPr>
          <p:cNvPr id="40" name="Shape 34"/>
          <p:cNvSpPr/>
          <p:nvPr/>
        </p:nvSpPr>
        <p:spPr>
          <a:xfrm>
            <a:off x="3566160" y="4800600"/>
            <a:ext cx="2788920" cy="1645920"/>
          </a:xfrm>
          <a:prstGeom prst="roundRect">
            <a:avLst>
              <a:gd name="adj" fmla="val 8889"/>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1" name="Shape 35"/>
          <p:cNvSpPr/>
          <p:nvPr/>
        </p:nvSpPr>
        <p:spPr>
          <a:xfrm>
            <a:off x="3730752" y="4946904"/>
            <a:ext cx="384048" cy="384048"/>
          </a:xfrm>
          <a:prstGeom prst="ellipse">
            <a:avLst/>
          </a:prstGeom>
          <a:solidFill>
            <a:srgbClr val="0F172B"/>
          </a:solidFill>
          <a:ln w="12700">
            <a:solidFill>
              <a:srgbClr val="0F172B"/>
            </a:solidFill>
            <a:prstDash val="solid"/>
          </a:ln>
        </p:spPr>
      </p:sp>
      <p:pic>
        <p:nvPicPr>
          <p:cNvPr id="42" name="Image 4" descr="preencoded.png">    </p:cNvPr>
          <p:cNvPicPr>
            <a:picLocks noChangeAspect="1"/>
          </p:cNvPicPr>
          <p:nvPr/>
        </p:nvPicPr>
        <p:blipFill>
          <a:blip r:embed="rId5"/>
          <a:stretch>
            <a:fillRect/>
          </a:stretch>
        </p:blipFill>
        <p:spPr>
          <a:xfrm>
            <a:off x="3826764" y="5042916"/>
            <a:ext cx="192024" cy="192024"/>
          </a:xfrm>
          <a:prstGeom prst="rect">
            <a:avLst/>
          </a:prstGeom>
        </p:spPr>
      </p:pic>
      <p:sp>
        <p:nvSpPr>
          <p:cNvPr id="43" name="Text 36"/>
          <p:cNvSpPr txBox="1"/>
          <p:nvPr/>
        </p:nvSpPr>
        <p:spPr>
          <a:xfrm>
            <a:off x="4206240" y="4946904"/>
            <a:ext cx="2057400" cy="384048"/>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GitHub Actions role</a:t>
            </a:r>
            <a:endParaRPr lang="en-US" sz="1250" dirty="0"/>
          </a:p>
        </p:txBody>
      </p:sp>
      <p:sp>
        <p:nvSpPr>
          <p:cNvPr id="44" name="Text 37"/>
          <p:cNvSpPr txBox="1"/>
          <p:nvPr/>
        </p:nvSpPr>
        <p:spPr>
          <a:xfrm>
            <a:off x="3730752" y="5422392"/>
            <a:ext cx="2487168" cy="960120"/>
          </a:xfrm>
          <a:prstGeom prst="rect">
            <a:avLst/>
          </a:prstGeom>
          <a:noFill/>
          <a:ln/>
        </p:spPr>
        <p:txBody>
          <a:bodyPr wrap="square" lIns="0" tIns="0" rIns="0" bIns="0" rtlCol="0" anchor="t"/>
          <a:lstStyle/>
          <a:p>
            <a:pPr indent="0" marL="0">
              <a:buNone/>
            </a:pPr>
            <a:r>
              <a:rPr lang="en-US" sz="1000" dirty="0">
                <a:solidFill>
                  <a:srgbClr val="62748E"/>
                </a:solidFill>
                <a:latin typeface="DM Sans" pitchFamily="34" charset="0"/>
                <a:ea typeface="DM Sans" pitchFamily="34" charset="-122"/>
                <a:cs typeface="DM Sans" pitchFamily="34" charset="-120"/>
              </a:rPr>
              <a:t>Lets the pipeline deploy: main branch only, temporary credentials, no stored keys.</a:t>
            </a:r>
            <a:endParaRPr lang="en-US" sz="1000" dirty="0"/>
          </a:p>
        </p:txBody>
      </p:sp>
      <p:sp>
        <p:nvSpPr>
          <p:cNvPr id="45" name="Shape 38"/>
          <p:cNvSpPr/>
          <p:nvPr/>
        </p:nvSpPr>
        <p:spPr>
          <a:xfrm>
            <a:off x="6583680" y="4800600"/>
            <a:ext cx="5056632" cy="1645920"/>
          </a:xfrm>
          <a:prstGeom prst="roundRect">
            <a:avLst>
              <a:gd name="adj" fmla="val 8889"/>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6" name="Text 39"/>
          <p:cNvSpPr txBox="1"/>
          <p:nvPr/>
        </p:nvSpPr>
        <p:spPr>
          <a:xfrm>
            <a:off x="6748272" y="4910328"/>
            <a:ext cx="4727448" cy="237744"/>
          </a:xfrm>
          <a:prstGeom prst="rect">
            <a:avLst/>
          </a:prstGeom>
          <a:noFill/>
          <a:ln/>
        </p:spPr>
        <p:txBody>
          <a:bodyPr wrap="square" lIns="0" tIns="0" rIns="0" bIns="0" rtlCol="0" anchor="ctr"/>
          <a:lstStyle/>
          <a:p>
            <a:pPr indent="0" marL="0">
              <a:buNone/>
            </a:pPr>
            <a:r>
              <a:rPr lang="en-US" sz="950" b="1" dirty="0">
                <a:solidFill>
                  <a:srgbClr val="62748E"/>
                </a:solidFill>
                <a:latin typeface="DM Sans" pitchFamily="34" charset="0"/>
                <a:ea typeface="DM Sans" pitchFamily="34" charset="-122"/>
                <a:cs typeface="DM Sans" pitchFamily="34" charset="-120"/>
              </a:rPr>
              <a:t>IAM console: our roles (cropped; DemoRoleForEC2 is not ours)</a:t>
            </a:r>
            <a:endParaRPr lang="en-US" sz="950" dirty="0"/>
          </a:p>
        </p:txBody>
      </p:sp>
      <p:pic>
        <p:nvPicPr>
          <p:cNvPr id="47" name="Image 5" descr="roles2.png">    </p:cNvPr>
          <p:cNvPicPr>
            <a:picLocks noChangeAspect="1"/>
          </p:cNvPicPr>
          <p:nvPr/>
        </p:nvPicPr>
        <p:blipFill>
          <a:blip r:embed="rId6"/>
          <a:stretch>
            <a:fillRect/>
          </a:stretch>
        </p:blipFill>
        <p:spPr>
          <a:xfrm>
            <a:off x="6748272" y="5318414"/>
            <a:ext cx="4727448" cy="902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IAM roles</dc:title>
  <dc:subject>PptxGenJS Presentation</dc:subject>
  <dc:creator>PptxGenJS</dc:creator>
  <cp:lastModifiedBy>PptxGenJS</cp:lastModifiedBy>
  <cp:revision>1</cp:revision>
  <dcterms:created xsi:type="dcterms:W3CDTF">2026-09-19T12:30:19Z</dcterms:created>
  <dcterms:modified xsi:type="dcterms:W3CDTF">2026-09-19T12:30:19Z</dcterms:modified>
</cp:coreProperties>
</file>