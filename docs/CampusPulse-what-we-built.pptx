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built the backend API in Go, the frontend dashboard in React with TypeScript, and a Go simulator that behaves like real campus sensors. Some of the API's endpoints: sensors post batches of readings to /events/batch with a device key; the dashboard reads rooms, statistics, energy and alerts; staff acknowledge alerts and update service requests; students submit requests; and admins change the alert thresholds.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we built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pieces of software, written by us: a Go API, a React dashboard and a Go sensor simulator.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206240" cy="1493520"/>
          </a:xfrm>
          <a:prstGeom prst="roundRect">
            <a:avLst>
              <a:gd name="adj" fmla="val 97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09928"/>
            <a:ext cx="512064" cy="512064"/>
          </a:xfrm>
          <a:prstGeom prst="ellipse">
            <a:avLst/>
          </a:prstGeom>
          <a:solidFill>
            <a:srgbClr val="F9B73F"/>
          </a:solidFill>
          <a:ln w="12700">
            <a:solidFill>
              <a:srgbClr val="F9B73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8379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91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Backend API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9842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350008"/>
            <a:ext cx="3803904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Runs on Lambda: sensor ingestion, rooms, alerts, service requests, energy and statistics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230880"/>
            <a:ext cx="4206240" cy="1493520"/>
          </a:xfrm>
          <a:prstGeom prst="roundRect">
            <a:avLst>
              <a:gd name="adj" fmla="val 97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49808" y="3432048"/>
            <a:ext cx="512064" cy="512064"/>
          </a:xfrm>
          <a:prstGeom prst="ellipse">
            <a:avLst/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56006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34137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417320" y="3706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 + TypeScript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749808" y="4072128"/>
            <a:ext cx="3803904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Overview, Operations and Energy pages, served through CloudFront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4953000"/>
            <a:ext cx="4206240" cy="1493520"/>
          </a:xfrm>
          <a:prstGeom prst="roundRect">
            <a:avLst>
              <a:gd name="adj" fmla="val 97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49808" y="5154168"/>
            <a:ext cx="512064" cy="512064"/>
          </a:xfrm>
          <a:prstGeom prst="ellipse">
            <a:avLst/>
          </a:prstGeom>
          <a:solidFill>
            <a:srgbClr val="F54900"/>
          </a:solidFill>
          <a:ln w="12700">
            <a:solidFill>
              <a:srgbClr val="F5490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528218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17320" y="51358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Sensor simulator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1417320" y="54284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749808" y="5794248"/>
            <a:ext cx="3803904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2061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Behaves like real campus sensors: occupancy, temperature, humidity, energy, doors, equipment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029200" y="1508760"/>
            <a:ext cx="6611112" cy="49377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B">
                <a:alpha val="8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5257800" y="167335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061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Some of our API endpoints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5138928" y="2148840"/>
            <a:ext cx="6391656" cy="378229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257800" y="2219083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257800" y="2219083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</a:t>
            </a:r>
            <a:endParaRPr 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6035040" y="2148840"/>
            <a:ext cx="2514600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06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/events/batch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8549640" y="2148840"/>
            <a:ext cx="2194560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Sensors send up to 25 readings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10451592" y="2148840"/>
            <a:ext cx="1024128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 key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5257800" y="2597312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5257800" y="259731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22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</a:t>
            </a:r>
            <a:endParaRPr lang="en-US" sz="950" dirty="0"/>
          </a:p>
        </p:txBody>
      </p:sp>
      <p:sp>
        <p:nvSpPr>
          <p:cNvPr id="32" name="Text 27"/>
          <p:cNvSpPr txBox="1"/>
          <p:nvPr/>
        </p:nvSpPr>
        <p:spPr>
          <a:xfrm>
            <a:off x="6035040" y="2527069"/>
            <a:ext cx="2514600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06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/rooms</a:t>
            </a:r>
            <a:endParaRPr lang="en-US" sz="1050" dirty="0"/>
          </a:p>
        </p:txBody>
      </p:sp>
      <p:sp>
        <p:nvSpPr>
          <p:cNvPr id="33" name="Text 28"/>
          <p:cNvSpPr txBox="1"/>
          <p:nvPr/>
        </p:nvSpPr>
        <p:spPr>
          <a:xfrm>
            <a:off x="8549640" y="2527069"/>
            <a:ext cx="2194560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Rooms with live readings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10451592" y="2527069"/>
            <a:ext cx="1024128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everyone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5138928" y="2905298"/>
            <a:ext cx="6391656" cy="378229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5257800" y="2975541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5257800" y="2975541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22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</a:t>
            </a:r>
            <a:endParaRPr lang="en-US" sz="950" dirty="0"/>
          </a:p>
        </p:txBody>
      </p:sp>
      <p:sp>
        <p:nvSpPr>
          <p:cNvPr id="38" name="Text 33"/>
          <p:cNvSpPr txBox="1"/>
          <p:nvPr/>
        </p:nvSpPr>
        <p:spPr>
          <a:xfrm>
            <a:off x="6035040" y="2905298"/>
            <a:ext cx="2514600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06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/rooms/{roomId}</a:t>
            </a:r>
            <a:endParaRPr lang="en-US" sz="1050" dirty="0"/>
          </a:p>
        </p:txBody>
      </p:sp>
      <p:sp>
        <p:nvSpPr>
          <p:cNvPr id="39" name="Text 34"/>
          <p:cNvSpPr txBox="1"/>
          <p:nvPr/>
        </p:nvSpPr>
        <p:spPr>
          <a:xfrm>
            <a:off x="8549640" y="2905298"/>
            <a:ext cx="2194560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room and its recent history</a:t>
            </a:r>
            <a:endParaRPr lang="en-US" sz="1000" dirty="0"/>
          </a:p>
        </p:txBody>
      </p:sp>
      <p:sp>
        <p:nvSpPr>
          <p:cNvPr id="40" name="Text 35"/>
          <p:cNvSpPr txBox="1"/>
          <p:nvPr/>
        </p:nvSpPr>
        <p:spPr>
          <a:xfrm>
            <a:off x="10451592" y="2905298"/>
            <a:ext cx="1024128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everyone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5257800" y="3353770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5257800" y="335377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22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</a:t>
            </a:r>
            <a:endParaRPr lang="en-US" sz="950" dirty="0"/>
          </a:p>
        </p:txBody>
      </p:sp>
      <p:sp>
        <p:nvSpPr>
          <p:cNvPr id="43" name="Text 38"/>
          <p:cNvSpPr txBox="1"/>
          <p:nvPr/>
        </p:nvSpPr>
        <p:spPr>
          <a:xfrm>
            <a:off x="6035040" y="3283527"/>
            <a:ext cx="2514600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06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/stats</a:t>
            </a:r>
            <a:endParaRPr lang="en-US" sz="1050" dirty="0"/>
          </a:p>
        </p:txBody>
      </p:sp>
      <p:sp>
        <p:nvSpPr>
          <p:cNvPr id="44" name="Text 39"/>
          <p:cNvSpPr txBox="1"/>
          <p:nvPr/>
        </p:nvSpPr>
        <p:spPr>
          <a:xfrm>
            <a:off x="8549640" y="3283527"/>
            <a:ext cx="2194560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Campus overview numbers</a:t>
            </a:r>
            <a:endParaRPr lang="en-US" sz="1000" dirty="0"/>
          </a:p>
        </p:txBody>
      </p:sp>
      <p:sp>
        <p:nvSpPr>
          <p:cNvPr id="45" name="Text 40"/>
          <p:cNvSpPr txBox="1"/>
          <p:nvPr/>
        </p:nvSpPr>
        <p:spPr>
          <a:xfrm>
            <a:off x="10451592" y="3283527"/>
            <a:ext cx="1024128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staff, admin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5138928" y="3661756"/>
            <a:ext cx="6391656" cy="378229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5257800" y="3731999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5257800" y="3731999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22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</a:t>
            </a:r>
            <a:endParaRPr lang="en-US" sz="950" dirty="0"/>
          </a:p>
        </p:txBody>
      </p:sp>
      <p:sp>
        <p:nvSpPr>
          <p:cNvPr id="49" name="Text 44"/>
          <p:cNvSpPr txBox="1"/>
          <p:nvPr/>
        </p:nvSpPr>
        <p:spPr>
          <a:xfrm>
            <a:off x="6035040" y="3661756"/>
            <a:ext cx="2514600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06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/stats/energy</a:t>
            </a:r>
            <a:endParaRPr lang="en-US" sz="1050" dirty="0"/>
          </a:p>
        </p:txBody>
      </p:sp>
      <p:sp>
        <p:nvSpPr>
          <p:cNvPr id="50" name="Text 45"/>
          <p:cNvSpPr txBox="1"/>
          <p:nvPr/>
        </p:nvSpPr>
        <p:spPr>
          <a:xfrm>
            <a:off x="8549640" y="3661756"/>
            <a:ext cx="2194560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Energy per building, per hour</a:t>
            </a:r>
            <a:endParaRPr lang="en-US" sz="1000" dirty="0"/>
          </a:p>
        </p:txBody>
      </p:sp>
      <p:sp>
        <p:nvSpPr>
          <p:cNvPr id="51" name="Text 46"/>
          <p:cNvSpPr txBox="1"/>
          <p:nvPr/>
        </p:nvSpPr>
        <p:spPr>
          <a:xfrm>
            <a:off x="10451592" y="3661756"/>
            <a:ext cx="1024128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staff, admin</a:t>
            </a:r>
            <a:endParaRPr lang="en-US" sz="950" dirty="0"/>
          </a:p>
        </p:txBody>
      </p:sp>
      <p:sp>
        <p:nvSpPr>
          <p:cNvPr id="52" name="Shape 47"/>
          <p:cNvSpPr/>
          <p:nvPr/>
        </p:nvSpPr>
        <p:spPr>
          <a:xfrm>
            <a:off x="5257800" y="4110228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5257800" y="41102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22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</a:t>
            </a:r>
            <a:endParaRPr lang="en-US" sz="950" dirty="0"/>
          </a:p>
        </p:txBody>
      </p:sp>
      <p:sp>
        <p:nvSpPr>
          <p:cNvPr id="54" name="Text 49"/>
          <p:cNvSpPr txBox="1"/>
          <p:nvPr/>
        </p:nvSpPr>
        <p:spPr>
          <a:xfrm>
            <a:off x="6035040" y="4039985"/>
            <a:ext cx="2514600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06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/alerts</a:t>
            </a:r>
            <a:endParaRPr lang="en-US" sz="1050" dirty="0"/>
          </a:p>
        </p:txBody>
      </p:sp>
      <p:sp>
        <p:nvSpPr>
          <p:cNvPr id="55" name="Text 50"/>
          <p:cNvSpPr txBox="1"/>
          <p:nvPr/>
        </p:nvSpPr>
        <p:spPr>
          <a:xfrm>
            <a:off x="8549640" y="4039985"/>
            <a:ext cx="2194560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and past alerts</a:t>
            </a:r>
            <a:endParaRPr lang="en-US" sz="1000" dirty="0"/>
          </a:p>
        </p:txBody>
      </p:sp>
      <p:sp>
        <p:nvSpPr>
          <p:cNvPr id="56" name="Text 51"/>
          <p:cNvSpPr txBox="1"/>
          <p:nvPr/>
        </p:nvSpPr>
        <p:spPr>
          <a:xfrm>
            <a:off x="10451592" y="4039985"/>
            <a:ext cx="1024128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staff, admin</a:t>
            </a:r>
            <a:endParaRPr lang="en-US" sz="950" dirty="0"/>
          </a:p>
        </p:txBody>
      </p:sp>
      <p:sp>
        <p:nvSpPr>
          <p:cNvPr id="57" name="Shape 52"/>
          <p:cNvSpPr/>
          <p:nvPr/>
        </p:nvSpPr>
        <p:spPr>
          <a:xfrm>
            <a:off x="5138928" y="4418215"/>
            <a:ext cx="6391656" cy="378229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5257800" y="4488457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F9B73F"/>
          </a:solidFill>
          <a:ln w="12700">
            <a:solidFill>
              <a:srgbClr val="F9B73F"/>
            </a:solidFill>
            <a:prstDash val="solid"/>
          </a:ln>
        </p:spPr>
      </p:sp>
      <p:sp>
        <p:nvSpPr>
          <p:cNvPr id="59" name="Text 54"/>
          <p:cNvSpPr txBox="1"/>
          <p:nvPr/>
        </p:nvSpPr>
        <p:spPr>
          <a:xfrm>
            <a:off x="5257800" y="4488457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624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PATCH</a:t>
            </a:r>
            <a:endParaRPr lang="en-US" sz="950" dirty="0"/>
          </a:p>
        </p:txBody>
      </p:sp>
      <p:sp>
        <p:nvSpPr>
          <p:cNvPr id="60" name="Text 55"/>
          <p:cNvSpPr txBox="1"/>
          <p:nvPr/>
        </p:nvSpPr>
        <p:spPr>
          <a:xfrm>
            <a:off x="6035040" y="4418215"/>
            <a:ext cx="2514600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06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/alerts/{alertId}</a:t>
            </a:r>
            <a:endParaRPr lang="en-US" sz="1050" dirty="0"/>
          </a:p>
        </p:txBody>
      </p:sp>
      <p:sp>
        <p:nvSpPr>
          <p:cNvPr id="61" name="Text 56"/>
          <p:cNvSpPr txBox="1"/>
          <p:nvPr/>
        </p:nvSpPr>
        <p:spPr>
          <a:xfrm>
            <a:off x="8549640" y="4418215"/>
            <a:ext cx="2194560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Acknowledge or resolve an alert</a:t>
            </a:r>
            <a:endParaRPr lang="en-US" sz="1000" dirty="0"/>
          </a:p>
        </p:txBody>
      </p:sp>
      <p:sp>
        <p:nvSpPr>
          <p:cNvPr id="62" name="Text 57"/>
          <p:cNvSpPr txBox="1"/>
          <p:nvPr/>
        </p:nvSpPr>
        <p:spPr>
          <a:xfrm>
            <a:off x="10451592" y="4418215"/>
            <a:ext cx="1024128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staff, admin</a:t>
            </a:r>
            <a:endParaRPr lang="en-US" sz="950" dirty="0"/>
          </a:p>
        </p:txBody>
      </p:sp>
      <p:sp>
        <p:nvSpPr>
          <p:cNvPr id="63" name="Shape 58"/>
          <p:cNvSpPr/>
          <p:nvPr/>
        </p:nvSpPr>
        <p:spPr>
          <a:xfrm>
            <a:off x="5257800" y="4866686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0F172B"/>
          </a:solidFill>
          <a:ln w="12700">
            <a:solidFill>
              <a:srgbClr val="0F172B"/>
            </a:solidFill>
            <a:prstDash val="solid"/>
          </a:ln>
        </p:spPr>
      </p:sp>
      <p:sp>
        <p:nvSpPr>
          <p:cNvPr id="64" name="Text 59"/>
          <p:cNvSpPr txBox="1"/>
          <p:nvPr/>
        </p:nvSpPr>
        <p:spPr>
          <a:xfrm>
            <a:off x="5257800" y="486668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</a:t>
            </a:r>
            <a:endParaRPr lang="en-US" sz="950" dirty="0"/>
          </a:p>
        </p:txBody>
      </p:sp>
      <p:sp>
        <p:nvSpPr>
          <p:cNvPr id="65" name="Text 60"/>
          <p:cNvSpPr txBox="1"/>
          <p:nvPr/>
        </p:nvSpPr>
        <p:spPr>
          <a:xfrm>
            <a:off x="6035040" y="4796444"/>
            <a:ext cx="2514600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06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/service-requests</a:t>
            </a:r>
            <a:endParaRPr lang="en-US" sz="1050" dirty="0"/>
          </a:p>
        </p:txBody>
      </p:sp>
      <p:sp>
        <p:nvSpPr>
          <p:cNvPr id="66" name="Text 61"/>
          <p:cNvSpPr txBox="1"/>
          <p:nvPr/>
        </p:nvSpPr>
        <p:spPr>
          <a:xfrm>
            <a:off x="8549640" y="4796444"/>
            <a:ext cx="2194560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Submit a request</a:t>
            </a:r>
            <a:endParaRPr lang="en-US" sz="1000" dirty="0"/>
          </a:p>
        </p:txBody>
      </p:sp>
      <p:sp>
        <p:nvSpPr>
          <p:cNvPr id="67" name="Text 62"/>
          <p:cNvSpPr txBox="1"/>
          <p:nvPr/>
        </p:nvSpPr>
        <p:spPr>
          <a:xfrm>
            <a:off x="10451592" y="4796444"/>
            <a:ext cx="1024128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students</a:t>
            </a:r>
            <a:endParaRPr lang="en-US" sz="950" dirty="0"/>
          </a:p>
        </p:txBody>
      </p:sp>
      <p:sp>
        <p:nvSpPr>
          <p:cNvPr id="68" name="Shape 63"/>
          <p:cNvSpPr/>
          <p:nvPr/>
        </p:nvSpPr>
        <p:spPr>
          <a:xfrm>
            <a:off x="5138928" y="5174673"/>
            <a:ext cx="6391656" cy="378229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5257800" y="5244915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F9B73F"/>
          </a:solidFill>
          <a:ln w="12700">
            <a:solidFill>
              <a:srgbClr val="F9B73F"/>
            </a:solidFill>
            <a:prstDash val="solid"/>
          </a:ln>
        </p:spPr>
      </p:sp>
      <p:sp>
        <p:nvSpPr>
          <p:cNvPr id="70" name="Text 65"/>
          <p:cNvSpPr txBox="1"/>
          <p:nvPr/>
        </p:nvSpPr>
        <p:spPr>
          <a:xfrm>
            <a:off x="5257800" y="5244915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624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PATCH</a:t>
            </a:r>
            <a:endParaRPr lang="en-US" sz="950" dirty="0"/>
          </a:p>
        </p:txBody>
      </p:sp>
      <p:sp>
        <p:nvSpPr>
          <p:cNvPr id="71" name="Text 66"/>
          <p:cNvSpPr txBox="1"/>
          <p:nvPr/>
        </p:nvSpPr>
        <p:spPr>
          <a:xfrm>
            <a:off x="6035040" y="5174673"/>
            <a:ext cx="2514600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06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/service-requests/{requestId}</a:t>
            </a:r>
            <a:endParaRPr lang="en-US" sz="1050" dirty="0"/>
          </a:p>
        </p:txBody>
      </p:sp>
      <p:sp>
        <p:nvSpPr>
          <p:cNvPr id="72" name="Text 67"/>
          <p:cNvSpPr txBox="1"/>
          <p:nvPr/>
        </p:nvSpPr>
        <p:spPr>
          <a:xfrm>
            <a:off x="8549640" y="5174673"/>
            <a:ext cx="2194560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 a request's status</a:t>
            </a:r>
            <a:endParaRPr lang="en-US" sz="1000" dirty="0"/>
          </a:p>
        </p:txBody>
      </p:sp>
      <p:sp>
        <p:nvSpPr>
          <p:cNvPr id="73" name="Text 68"/>
          <p:cNvSpPr txBox="1"/>
          <p:nvPr/>
        </p:nvSpPr>
        <p:spPr>
          <a:xfrm>
            <a:off x="10451592" y="5174673"/>
            <a:ext cx="1024128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staff, admin</a:t>
            </a:r>
            <a:endParaRPr lang="en-US" sz="950" dirty="0"/>
          </a:p>
        </p:txBody>
      </p:sp>
      <p:sp>
        <p:nvSpPr>
          <p:cNvPr id="74" name="Shape 69"/>
          <p:cNvSpPr/>
          <p:nvPr/>
        </p:nvSpPr>
        <p:spPr>
          <a:xfrm>
            <a:off x="5257800" y="5623144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009689"/>
          </a:solidFill>
          <a:ln w="12700">
            <a:solidFill>
              <a:srgbClr val="009689"/>
            </a:solidFill>
            <a:prstDash val="solid"/>
          </a:ln>
        </p:spPr>
      </p:sp>
      <p:sp>
        <p:nvSpPr>
          <p:cNvPr id="75" name="Text 70"/>
          <p:cNvSpPr txBox="1"/>
          <p:nvPr/>
        </p:nvSpPr>
        <p:spPr>
          <a:xfrm>
            <a:off x="5257800" y="562314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PUT</a:t>
            </a:r>
            <a:endParaRPr lang="en-US" sz="950" dirty="0"/>
          </a:p>
        </p:txBody>
      </p:sp>
      <p:sp>
        <p:nvSpPr>
          <p:cNvPr id="76" name="Text 71"/>
          <p:cNvSpPr txBox="1"/>
          <p:nvPr/>
        </p:nvSpPr>
        <p:spPr>
          <a:xfrm>
            <a:off x="6035040" y="5552902"/>
            <a:ext cx="2514600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06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/thresholds</a:t>
            </a:r>
            <a:endParaRPr lang="en-US" sz="1050" dirty="0"/>
          </a:p>
        </p:txBody>
      </p:sp>
      <p:sp>
        <p:nvSpPr>
          <p:cNvPr id="77" name="Text 72"/>
          <p:cNvSpPr txBox="1"/>
          <p:nvPr/>
        </p:nvSpPr>
        <p:spPr>
          <a:xfrm>
            <a:off x="8549640" y="5552902"/>
            <a:ext cx="2194560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Change the alert rules</a:t>
            </a:r>
            <a:endParaRPr lang="en-US" sz="1000" dirty="0"/>
          </a:p>
        </p:txBody>
      </p:sp>
      <p:sp>
        <p:nvSpPr>
          <p:cNvPr id="78" name="Text 73"/>
          <p:cNvSpPr txBox="1"/>
          <p:nvPr/>
        </p:nvSpPr>
        <p:spPr>
          <a:xfrm>
            <a:off x="10451592" y="5552902"/>
            <a:ext cx="1024128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</a:t>
            </a:r>
            <a:endParaRPr lang="en-US" sz="950" dirty="0"/>
          </a:p>
        </p:txBody>
      </p:sp>
      <p:sp>
        <p:nvSpPr>
          <p:cNvPr id="79" name="Shape 74"/>
          <p:cNvSpPr/>
          <p:nvPr/>
        </p:nvSpPr>
        <p:spPr>
          <a:xfrm>
            <a:off x="5138928" y="5931131"/>
            <a:ext cx="6391656" cy="378229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5257800" y="6001373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43C07A"/>
          </a:solidFill>
          <a:ln w="12700">
            <a:solidFill>
              <a:srgbClr val="43C07A"/>
            </a:solidFill>
            <a:prstDash val="solid"/>
          </a:ln>
        </p:spPr>
      </p:sp>
      <p:sp>
        <p:nvSpPr>
          <p:cNvPr id="81" name="Text 76"/>
          <p:cNvSpPr txBox="1"/>
          <p:nvPr/>
        </p:nvSpPr>
        <p:spPr>
          <a:xfrm>
            <a:off x="5257800" y="6001373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220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</a:t>
            </a:r>
            <a:endParaRPr lang="en-US" sz="950" dirty="0"/>
          </a:p>
        </p:txBody>
      </p:sp>
      <p:sp>
        <p:nvSpPr>
          <p:cNvPr id="82" name="Text 77"/>
          <p:cNvSpPr txBox="1"/>
          <p:nvPr/>
        </p:nvSpPr>
        <p:spPr>
          <a:xfrm>
            <a:off x="6035040" y="5931131"/>
            <a:ext cx="2514600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06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050" dirty="0"/>
          </a:p>
        </p:txBody>
      </p:sp>
      <p:sp>
        <p:nvSpPr>
          <p:cNvPr id="83" name="Text 78"/>
          <p:cNvSpPr txBox="1"/>
          <p:nvPr/>
        </p:nvSpPr>
        <p:spPr>
          <a:xfrm>
            <a:off x="8549640" y="5931131"/>
            <a:ext cx="2194560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 the API up?</a:t>
            </a:r>
            <a:endParaRPr lang="en-US" sz="1000" dirty="0"/>
          </a:p>
        </p:txBody>
      </p:sp>
      <p:sp>
        <p:nvSpPr>
          <p:cNvPr id="84" name="Text 79"/>
          <p:cNvSpPr txBox="1"/>
          <p:nvPr/>
        </p:nvSpPr>
        <p:spPr>
          <a:xfrm>
            <a:off x="10451592" y="5931131"/>
            <a:ext cx="1024128" cy="378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2748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CampusPulse what we built</dc:title>
  <dc:subject>PptxGenJS Presentation</dc:subject>
  <dc:creator>PptxGenJS</dc:creator>
  <cp:lastModifiedBy>PptxGenJS</cp:lastModifiedBy>
  <cp:revision>1</cp:revision>
  <dcterms:created xsi:type="dcterms:W3CDTF">2026-09-19T12:11:35Z</dcterms:created>
  <dcterms:modified xsi:type="dcterms:W3CDTF">2026-09-19T12:11:35Z</dcterms:modified>
</cp:coreProperties>
</file>