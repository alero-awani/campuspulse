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0" r:id="rId17"/>
    <p:sldId id="258" r:id="rId18"/>
  </p:sldIdLst>
  <p:sldSz cx="12192000" cy="6858000"/>
  <p:notesSz cx="6858000" cy="12192000"/>
  <p:embeddedFontLst>
    <p:embeddedFont>
      <p:font typeface="DM Sans" pitchFamily="34" charset="0"/>
      <p:regular r:id="rId22"/>
    </p:embeddedFont>
    <p:embeddedFont>
      <p:font typeface="DM Sans" pitchFamily="34" charset="-122"/>
      <p:regular r:id="rId23"/>
    </p:embeddedFont>
    <p:embeddedFont>
      <p:font typeface="DM Sans" pitchFamily="34" charset="-120"/>
      <p:regular r:id="rId24"/>
    </p:embeddedFont>
    <p:embeddedFont>
      <p:font typeface="Space Grotesk" pitchFamily="34" charset="0"/>
      <p:regular r:id="rId25"/>
    </p:embeddedFont>
    <p:embeddedFont>
      <p:font typeface="Space Grotesk" pitchFamily="34" charset="-122"/>
      <p:regular r:id="rId26"/>
    </p:embeddedFont>
    <p:embeddedFont>
      <p:font typeface="Space Grotesk" pitchFamily="34" charset="-12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 opens: what CampusPulse is, the tech stack, and how users sign in with Cognito. Then Alero (architecture, data, disaster recovery), then Tanushka (IAM, monitoring, CI/CD, cost).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request path left to right: CloudFront serves the dashboard from a private S3 bucket; Cognito signs users in; API Gateway checks every token and forwards to the Lambda in private subnets; the Lambda reaches DynamoDB through the gateway endpoint. Bottom row: monitoring, IAM and cost. Right: the Paris recovery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Tanushka: walk the table; close with the $5 budget alert as evidence of cost control. Other choices: ARM Lambdas (cheaper), 7-day log retention, events expire after 30 days, events table not replicated.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Alero: scalability and high availability. Tanushka / Om: security points. Key line: API Gateway checks who you are; our code checks what you're allowed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7.png"/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2.png"/><Relationship Id="rId4" Type="http://schemas.openxmlformats.org/officeDocument/2006/relationships/image" Target="../media/image18.png"/><Relationship Id="rId3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8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0.png"/><Relationship Id="rId11" Type="http://schemas.openxmlformats.org/officeDocument/2006/relationships/image" Target="../media/image11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15.png"/><Relationship Id="rId6" Type="http://schemas.openxmlformats.org/officeDocument/2006/relationships/image" Target="../media/image36.png"/><Relationship Id="rId5" Type="http://schemas.openxmlformats.org/officeDocument/2006/relationships/image" Target="../media/image62.png"/><Relationship Id="rId4" Type="http://schemas.openxmlformats.org/officeDocument/2006/relationships/image" Target="../media/image17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297680" cy="310896"/>
          </a:xfrm>
          <a:prstGeom prst="roundRect">
            <a:avLst>
              <a:gd name="adj" fmla="val 50000"/>
            </a:avLst>
          </a:prstGeom>
          <a:solidFill>
            <a:srgbClr val="1D293D"/>
          </a:solidFill>
          <a:ln w="9525">
            <a:solidFill>
              <a:srgbClr val="1D29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Data &amp; Cloud Computing  ·  Final Project S2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CampusPulse 2026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cloud-native smart campus operations platform for NorthBridge University, serverless on AWS and built entirely as code.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9525">
            <a:solidFill>
              <a:srgbClr val="43C0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38328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serverless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33832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77440" y="3383280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49040" y="33832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338328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 + React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12080" y="3383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338328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43800" y="1280160"/>
            <a:ext cx="1920240" cy="1234440"/>
          </a:xfrm>
          <a:prstGeom prst="roundRect">
            <a:avLst>
              <a:gd name="adj" fmla="val 11852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44968" y="14630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7744968" y="20299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rooms monitored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646920" y="1280160"/>
            <a:ext cx="1920240" cy="1234440"/>
          </a:xfrm>
          <a:prstGeom prst="roundRect">
            <a:avLst>
              <a:gd name="adj" fmla="val 11852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48088" y="14630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9848088" y="20299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DynamoDB tables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43800" y="2697480"/>
            <a:ext cx="1920240" cy="1234440"/>
          </a:xfrm>
          <a:prstGeom prst="roundRect">
            <a:avLst>
              <a:gd name="adj" fmla="val 11852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44968" y="28803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744968" y="344728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regions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646920" y="2697480"/>
            <a:ext cx="1920240" cy="1234440"/>
          </a:xfrm>
          <a:prstGeom prst="roundRect">
            <a:avLst>
              <a:gd name="adj" fmla="val 11852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48088" y="28803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 $0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9848088" y="344728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526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4892040"/>
            <a:ext cx="3474720" cy="1188720"/>
          </a:xfrm>
          <a:prstGeom prst="roundRect">
            <a:avLst>
              <a:gd name="adj" fmla="val 12308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8680" y="5166360"/>
            <a:ext cx="640080" cy="64008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532638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691640" y="511149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Om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691640" y="55138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and secure sign-in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4343400" y="4892040"/>
            <a:ext cx="3474720" cy="1188720"/>
          </a:xfrm>
          <a:prstGeom prst="roundRect">
            <a:avLst>
              <a:gd name="adj" fmla="val 12308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0" y="5166360"/>
            <a:ext cx="640080" cy="64008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532638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394960" y="511149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Alero</a:t>
            </a:r>
            <a:endParaRPr lang="en-US" sz="2000" dirty="0"/>
          </a:p>
        </p:txBody>
      </p:sp>
      <p:sp>
        <p:nvSpPr>
          <p:cNvPr id="38" name="Text 33"/>
          <p:cNvSpPr txBox="1"/>
          <p:nvPr/>
        </p:nvSpPr>
        <p:spPr>
          <a:xfrm>
            <a:off x="5394960" y="55138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Architecture, data and disaster recovery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8046720" y="4892040"/>
            <a:ext cx="3474720" cy="1188720"/>
          </a:xfrm>
          <a:prstGeom prst="roundRect">
            <a:avLst>
              <a:gd name="adj" fmla="val 12308"/>
            </a:avLst>
          </a:prstGeom>
          <a:solidFill>
            <a:srgbClr val="1D293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275320" y="5166360"/>
            <a:ext cx="640080" cy="64008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340" y="5326380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098280" y="511149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Tanushka</a:t>
            </a:r>
            <a:endParaRPr lang="en-US" sz="2000" dirty="0"/>
          </a:p>
        </p:txBody>
      </p:sp>
      <p:sp>
        <p:nvSpPr>
          <p:cNvPr id="43" name="Text 37"/>
          <p:cNvSpPr txBox="1"/>
          <p:nvPr/>
        </p:nvSpPr>
        <p:spPr>
          <a:xfrm>
            <a:off x="9098280" y="55138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1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Security, monitoring, CI/CD and cost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4620" y="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2000" b="1" dirty="0">
              <a:solidFill>
                <a:srgbClr val="020618"/>
              </a:solidFill>
              <a:latin typeface="Space Grotesk" pitchFamily="34" charset="0"/>
              <a:ea typeface="Space Grotesk" pitchFamily="34" charset="-122"/>
              <a:cs typeface="Space Grotesk" pitchFamily="34" charset="-120"/>
            </a:endParaRPr>
          </a:p>
        </p:txBody>
      </p:sp>
      <p:pic>
        <p:nvPicPr>
          <p:cNvPr id="8" name="Picture 7" descr="architecture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20" y="443230"/>
            <a:ext cx="1126744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data moves through the app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a sensor reading to the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48640" cy="548640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8308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93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in 24 campus rooms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49631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30 s: occupancy, temperature and energy readings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07792" y="2468880"/>
            <a:ext cx="5029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834640" y="2011680"/>
            <a:ext cx="649224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25,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key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83864" y="1600200"/>
            <a:ext cx="228600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1801368"/>
            <a:ext cx="548640" cy="54864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9385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52544" y="178308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352544" y="2093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entry point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685032" y="249631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Limits the traffic and passes each batch to the Lambda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43016" y="2468880"/>
            <a:ext cx="5029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5769864" y="2011680"/>
            <a:ext cx="649224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19088" y="1600200"/>
            <a:ext cx="228600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20256" y="1801368"/>
            <a:ext cx="548640" cy="54864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193852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287768" y="178308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87768" y="2093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function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620256" y="249631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Checks, stores and alerts (steps below)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778240" y="2468880"/>
            <a:ext cx="5029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8705088" y="2011680"/>
            <a:ext cx="649224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privately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9354312" y="1600200"/>
            <a:ext cx="228600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555480" y="1801368"/>
            <a:ext cx="548640" cy="54864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93852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222992" y="178308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10222992" y="20939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database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9555480" y="249631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Reached privately, never over the internet; copied to Paris within seconds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3749040"/>
            <a:ext cx="818388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562088" y="3383280"/>
            <a:ext cx="0" cy="32004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6" name="Text 30"/>
          <p:cNvSpPr txBox="1"/>
          <p:nvPr/>
        </p:nvSpPr>
        <p:spPr>
          <a:xfrm>
            <a:off x="822960" y="3931920"/>
            <a:ext cx="7635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Inside the Lambda, for each reading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822960" y="4439412"/>
            <a:ext cx="310896" cy="310896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22960" y="44394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1280160" y="4407408"/>
            <a:ext cx="7178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the device key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822960" y="4814316"/>
            <a:ext cx="310896" cy="310896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22960" y="48143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1280160" y="4782312"/>
            <a:ext cx="7178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the reading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822960" y="5189220"/>
            <a:ext cx="310896" cy="310896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22960" y="51892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280160" y="5157216"/>
            <a:ext cx="7178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 it once in DynamoDB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822960" y="5564124"/>
            <a:ext cx="310896" cy="310896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822960" y="55641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1280160" y="5532120"/>
            <a:ext cx="7178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the room's live values or energy totals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822960" y="5939028"/>
            <a:ext cx="310896" cy="310896"/>
          </a:xfrm>
          <a:prstGeom prst="ellipse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822960" y="59390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1280160" y="5907024"/>
            <a:ext cx="7178040" cy="374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Raise an alert if a rule is broken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9354312" y="3749040"/>
            <a:ext cx="2286000" cy="265176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10497312" y="3383280"/>
            <a:ext cx="0" cy="32004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54" name="Shape 48"/>
          <p:cNvSpPr/>
          <p:nvPr/>
        </p:nvSpPr>
        <p:spPr>
          <a:xfrm>
            <a:off x="9555480" y="3950208"/>
            <a:ext cx="548640" cy="54864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087368"/>
            <a:ext cx="274320" cy="274320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10222992" y="3950208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7" name="Text 50"/>
          <p:cNvSpPr txBox="1"/>
          <p:nvPr/>
        </p:nvSpPr>
        <p:spPr>
          <a:xfrm>
            <a:off x="9555480" y="4663440"/>
            <a:ext cx="1920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 sign in through Cognito and see it all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sign-in with Cognito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 manages accounts and passwords, so our backend never handles one. No public sign-up: only admins create accounts.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 USER SIGNS 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29968"/>
            <a:ext cx="420624" cy="42062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13512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3120" y="20299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54203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Click Sign 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346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the CampusPulse dashboard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15184" y="2578608"/>
            <a:ext cx="14859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8638" y="184708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01518" y="2029968"/>
            <a:ext cx="420624" cy="420624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74" y="213512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73118" y="20299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001518" y="254203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Cognito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001518" y="28346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browser opens Cognito's sign-in page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85182" y="2578608"/>
            <a:ext cx="14859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088636" y="184708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71516" y="2029968"/>
            <a:ext cx="420624" cy="420624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13512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43116" y="20299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271516" y="254203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password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271516" y="28346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 checks the email and password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155180" y="2578608"/>
            <a:ext cx="14859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358634" y="184708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541514" y="2029968"/>
            <a:ext cx="420624" cy="42062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670" y="213512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13114" y="20299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541514" y="254203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One-time code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541514" y="28346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 sends the user back with a code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425178" y="2578608"/>
            <a:ext cx="14859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9628632" y="1847088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11512" y="2029968"/>
            <a:ext cx="420624" cy="420624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668" y="2135124"/>
            <a:ext cx="210312" cy="2103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1183112" y="20299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811512" y="254203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9811512" y="28346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Swapped for a 1-hour token with the user's group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35844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COGNITO GROUPS, CARRIED IN THE TOKEN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48640" y="3931920"/>
            <a:ext cx="681228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4297680"/>
            <a:ext cx="228600" cy="2286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325880" y="426567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325880" y="4265676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2468880" y="4023360"/>
            <a:ext cx="4709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the rooms and their live readings · Submit service requests · See only their own requests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731520" y="4800600"/>
            <a:ext cx="6446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31520" y="4960620"/>
            <a:ext cx="457200" cy="45720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5074920"/>
            <a:ext cx="228600" cy="22860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1325880" y="504291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325880" y="5042916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</a:t>
            </a:r>
            <a:endParaRPr lang="en-US" sz="1100" dirty="0"/>
          </a:p>
        </p:txBody>
      </p:sp>
      <p:sp>
        <p:nvSpPr>
          <p:cNvPr id="51" name="Text 42"/>
          <p:cNvSpPr txBox="1"/>
          <p:nvPr/>
        </p:nvSpPr>
        <p:spPr>
          <a:xfrm>
            <a:off x="2468880" y="4800600"/>
            <a:ext cx="4709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a student can see · Statistics, energy and sensor events · View and acknowledge alerts · Manage all requests</a:t>
            </a:r>
            <a:endParaRPr lang="en-US" sz="1150" dirty="0"/>
          </a:p>
        </p:txBody>
      </p:sp>
      <p:sp>
        <p:nvSpPr>
          <p:cNvPr id="52" name="Shape 43"/>
          <p:cNvSpPr/>
          <p:nvPr/>
        </p:nvSpPr>
        <p:spPr>
          <a:xfrm>
            <a:off x="731520" y="5577840"/>
            <a:ext cx="6446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731520" y="5737860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" y="5852160"/>
            <a:ext cx="228600" cy="228600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1325880" y="582015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1325880" y="5820156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2468880" y="5577840"/>
            <a:ext cx="4709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staff can do · Change the alert thresholds</a:t>
            </a:r>
            <a:endParaRPr lang="en-US" sz="1150" dirty="0"/>
          </a:p>
        </p:txBody>
      </p:sp>
      <p:sp>
        <p:nvSpPr>
          <p:cNvPr id="58" name="Shape 48"/>
          <p:cNvSpPr/>
          <p:nvPr/>
        </p:nvSpPr>
        <p:spPr>
          <a:xfrm>
            <a:off x="7635240" y="3931920"/>
            <a:ext cx="4005072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9" name="Text 49"/>
          <p:cNvSpPr txBox="1"/>
          <p:nvPr/>
        </p:nvSpPr>
        <p:spPr>
          <a:xfrm>
            <a:off x="7818120" y="406908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 console: Groups (3)</a:t>
            </a:r>
            <a:endParaRPr lang="en-US" sz="1050" dirty="0"/>
          </a:p>
        </p:txBody>
      </p:sp>
      <p:pic>
        <p:nvPicPr>
          <p:cNvPr id="60" name="Image 8" descr="groups-sh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4708461"/>
            <a:ext cx="3639312" cy="13272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CloudFront + S3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dashboard reaches users: fast, over HTTPS, with a backup copy, and a bucket nobody else can read.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512064" cy="51206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103120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33472" y="2377440"/>
            <a:ext cx="76809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560320" y="20848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35661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1737360"/>
            <a:ext cx="475488" cy="475488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8562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1960" y="1737360"/>
            <a:ext cx="2560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CloudFront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75888" y="2331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CDN: edge locations cache the files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 with the default certificate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Fails over to Paris on 5xx errors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2440" y="1554480"/>
            <a:ext cx="3547872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57032" y="1709928"/>
            <a:ext cx="457200" cy="45720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182422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42248" y="1664208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S3 · Virginia (primary)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842248" y="1965960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· only CloudFront can read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1810512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92440" y="2468880"/>
            <a:ext cx="3547872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57032" y="2624328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273862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42248" y="2578608"/>
            <a:ext cx="2359152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S3 · Paris (copy)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8842248" y="2880360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· only CloudFront can read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724912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114032" y="1938528"/>
            <a:ext cx="90525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28" name="Text 20"/>
          <p:cNvSpPr txBox="1"/>
          <p:nvPr/>
        </p:nvSpPr>
        <p:spPr>
          <a:xfrm>
            <a:off x="7040880" y="166420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7114032" y="2852928"/>
            <a:ext cx="90525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dash"/>
            <a:tailEnd type="triangle"/>
          </a:ln>
        </p:spPr>
      </p:sp>
      <p:sp>
        <p:nvSpPr>
          <p:cNvPr id="30" name="Text 22"/>
          <p:cNvSpPr txBox="1"/>
          <p:nvPr/>
        </p:nvSpPr>
        <p:spPr>
          <a:xfrm>
            <a:off x="7040880" y="257860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5xx errors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48640" y="3520440"/>
            <a:ext cx="11091672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777240" y="363016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Origins and origin group in the AWS console: both buckets use our Origin Access Control, and dashboard-failover switches on 500, 502, 503 and 504</a:t>
            </a:r>
            <a:endParaRPr lang="en-US" sz="1050" dirty="0"/>
          </a:p>
        </p:txBody>
      </p:sp>
      <p:pic>
        <p:nvPicPr>
          <p:cNvPr id="33" name="Image 6" descr="orig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854" y="3950208"/>
            <a:ext cx="9453243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single front door to our API: it routes every request and checks it before our code runs.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47672"/>
            <a:ext cx="530352" cy="530352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080260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9280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40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Cognito token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07792" y="2217420"/>
            <a:ext cx="58521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3017520"/>
            <a:ext cx="228600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3273552"/>
            <a:ext cx="530352" cy="530352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40614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2186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566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device key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07792" y="3543300"/>
            <a:ext cx="58521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566160" y="1691640"/>
            <a:ext cx="39319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67328" y="1874520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28" y="19888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43400" y="1874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3767328" y="249631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913632" y="2633472"/>
            <a:ext cx="137160" cy="13716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160520" y="249631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CORS  </a:t>
            </a: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our dashboard's address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767328" y="299923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913632" y="3136392"/>
            <a:ext cx="137160" cy="13716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160520" y="299923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check  </a:t>
            </a: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401 if invalid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767328" y="350215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913632" y="3639312"/>
            <a:ext cx="137160" cy="13716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160520" y="35021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  </a:t>
            </a: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20/s, bursts of 50 · 429 if over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571232" y="2880360"/>
            <a:ext cx="5029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7498080" y="25694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138160" y="1463040"/>
            <a:ext cx="3502152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8321040" y="1572768"/>
            <a:ext cx="3136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 for campuspulse-api (AWS console)</a:t>
            </a:r>
            <a:endParaRPr lang="en-US" sz="1050" dirty="0"/>
          </a:p>
        </p:txBody>
      </p:sp>
      <p:pic>
        <p:nvPicPr>
          <p:cNvPr id="33" name="Image 3" descr="rou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131" y="1874520"/>
            <a:ext cx="1680210" cy="22402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8640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49808" y="4681728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796028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658618" y="46817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49808" y="5212080"/>
            <a:ext cx="22014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49808" y="5532120"/>
            <a:ext cx="220141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 routes each request to our Lambda. Sensor and health routes are public; everything else needs a token.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3390138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591306" y="4681728"/>
            <a:ext cx="457200" cy="45720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606" y="4796028"/>
            <a:ext cx="228600" cy="2286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500116" y="46817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3591306" y="5212080"/>
            <a:ext cx="22014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 check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3591306" y="5532120"/>
            <a:ext cx="220141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dashboard sends its Cognito token with every call. Missing or expired tokens are rejected before our code runs.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231636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32804" y="4681728"/>
            <a:ext cx="457200" cy="45720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796028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341614" y="46817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6432804" y="5212080"/>
            <a:ext cx="22014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6432804" y="5532120"/>
            <a:ext cx="220141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requests per second, with bursts of 50. Extra requests are refused, protecting the backend and our costs.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9073134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9274302" y="4681728"/>
            <a:ext cx="457200" cy="45720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8602" y="4796028"/>
            <a:ext cx="228600" cy="228600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11183112" y="46817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9274302" y="5212080"/>
            <a:ext cx="220141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CORS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9274302" y="5532120"/>
            <a:ext cx="220141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Browsers may only call the API from our CloudFront address (and localhost, for development).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 and network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Lambda function, running in private subnets inside our own VPC, with no internet access.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487168"/>
            <a:ext cx="512064" cy="51206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15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286000"/>
            <a:ext cx="1097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87168" y="2743200"/>
            <a:ext cx="54864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395728" y="245059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invokes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08960" y="146304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9050">
            <a:solidFill>
              <a:srgbClr val="00968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55448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  10.0.0.0/16</a:t>
            </a: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no internet gateway, no NAT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920240"/>
            <a:ext cx="2395728" cy="20574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2011680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subnet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24942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us-east-1a · 10.0.1.0/24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11880" y="2788920"/>
            <a:ext cx="502920" cy="50292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291465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06240" y="27889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16168" y="1920240"/>
            <a:ext cx="2395728" cy="20574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53328" y="2011680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subnet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053328" y="224942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us-east-1b · 10.0.2.0/24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36208" y="2788920"/>
            <a:ext cx="502920" cy="50292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938" y="291465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30568" y="278892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429000" y="2670048"/>
            <a:ext cx="4745736" cy="749808"/>
          </a:xfrm>
          <a:prstGeom prst="roundRect">
            <a:avLst>
              <a:gd name="adj" fmla="val 14634"/>
            </a:avLst>
          </a:prstGeom>
          <a:ln w="15875">
            <a:solidFill>
              <a:srgbClr val="E6293F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3291840" y="3474720"/>
            <a:ext cx="5020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29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group: nothing in · HTTPS out to DynamoDB only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202168" y="2743200"/>
            <a:ext cx="54864" cy="0"/>
          </a:xfrm>
          <a:prstGeom prst="line">
            <a:avLst/>
          </a:prstGeom>
          <a:noFill/>
          <a:ln w="22225">
            <a:solidFill>
              <a:srgbClr val="009689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8293608" y="2487168"/>
            <a:ext cx="512064" cy="51206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615184"/>
            <a:ext cx="256032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882128" y="3090672"/>
            <a:ext cx="133502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0968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882128" y="3090672"/>
            <a:ext cx="13350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Gateway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tables only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860536" y="2743200"/>
            <a:ext cx="731520" cy="0"/>
          </a:xfrm>
          <a:prstGeom prst="line">
            <a:avLst/>
          </a:prstGeom>
          <a:noFill/>
          <a:ln w="22225">
            <a:solidFill>
              <a:srgbClr val="009689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8805672" y="2450592"/>
            <a:ext cx="804672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68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646920" y="2286000"/>
            <a:ext cx="199339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11512" y="2487168"/>
            <a:ext cx="512064" cy="51206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261518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424160" y="2286000"/>
            <a:ext cx="1188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548640" y="4434840"/>
            <a:ext cx="667512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49808" y="464286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49808" y="464286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1188720" y="4572000"/>
            <a:ext cx="24231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Lambda function</a:t>
            </a:r>
            <a:endParaRPr lang="en-US" sz="1250" dirty="0"/>
          </a:p>
        </p:txBody>
      </p:sp>
      <p:sp>
        <p:nvSpPr>
          <p:cNvPr id="41" name="Text 34"/>
          <p:cNvSpPr txBox="1"/>
          <p:nvPr/>
        </p:nvSpPr>
        <p:spPr>
          <a:xfrm>
            <a:off x="3657600" y="4572000"/>
            <a:ext cx="3429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Go API, compiled into a single file called bootstrap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49808" y="507720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49808" y="507720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1188720" y="5006340"/>
            <a:ext cx="24231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private subnets</a:t>
            </a:r>
            <a:endParaRPr lang="en-US" sz="1250" dirty="0"/>
          </a:p>
        </p:txBody>
      </p:sp>
      <p:sp>
        <p:nvSpPr>
          <p:cNvPr id="45" name="Text 38"/>
          <p:cNvSpPr txBox="1"/>
          <p:nvPr/>
        </p:nvSpPr>
        <p:spPr>
          <a:xfrm>
            <a:off x="3657600" y="5006340"/>
            <a:ext cx="3429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internet access; if one zone fails, Lambda runs in the other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49808" y="551154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49808" y="551154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188720" y="5440680"/>
            <a:ext cx="24231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 gateway endpoint</a:t>
            </a:r>
            <a:endParaRPr lang="en-US" sz="1250" dirty="0"/>
          </a:p>
        </p:txBody>
      </p:sp>
      <p:sp>
        <p:nvSpPr>
          <p:cNvPr id="49" name="Text 42"/>
          <p:cNvSpPr txBox="1"/>
          <p:nvPr/>
        </p:nvSpPr>
        <p:spPr>
          <a:xfrm>
            <a:off x="3657600" y="5440680"/>
            <a:ext cx="3429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Free, private route to the database; allows only our tables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749808" y="5945886"/>
            <a:ext cx="292608" cy="292608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749808" y="594588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5"/>
          <p:cNvSpPr txBox="1"/>
          <p:nvPr/>
        </p:nvSpPr>
        <p:spPr>
          <a:xfrm>
            <a:off x="1188720" y="5875020"/>
            <a:ext cx="242316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group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3657600" y="5875020"/>
            <a:ext cx="3429000" cy="434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can connect in; only HTTPS out to DynamoDB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7498080" y="4434840"/>
            <a:ext cx="4142232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5" name="Text 48"/>
          <p:cNvSpPr txBox="1"/>
          <p:nvPr/>
        </p:nvSpPr>
        <p:spPr>
          <a:xfrm>
            <a:off x="7680960" y="4544568"/>
            <a:ext cx="3776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console: triggered by API Gateway</a:t>
            </a:r>
            <a:endParaRPr lang="en-US" sz="1050" dirty="0"/>
          </a:p>
        </p:txBody>
      </p:sp>
      <p:pic>
        <p:nvPicPr>
          <p:cNvPr id="56" name="Image 5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213139"/>
            <a:ext cx="3776472" cy="958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 tables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tables, one for each kind of data, covering every use case in our setup.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242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63677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192938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sensor reading, deleted automatically after 30 days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064" y="150876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4944" y="1709928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244" y="18242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6736" y="163677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rooms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126736" y="192938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room's details and latest occupancy, temperature and humidity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5488" y="150876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8368" y="1709928"/>
            <a:ext cx="457200" cy="457200"/>
          </a:xfrm>
          <a:prstGeom prst="ellipse">
            <a:avLst/>
          </a:prstGeom>
          <a:solidFill>
            <a:srgbClr val="E6293F"/>
          </a:solidFill>
          <a:ln w="12700">
            <a:solidFill>
              <a:srgbClr val="E6293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668" y="182422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0160" y="163677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900160" y="192938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problem detected, and whether staff acknowledged or resolved it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269748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2898648"/>
            <a:ext cx="457200" cy="45720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01294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53312" y="282549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service-requests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353312" y="311810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Students' requests, with their priority, status and history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2064" y="269748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4944" y="2898648"/>
            <a:ext cx="457200" cy="45720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244" y="301294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6736" y="282549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aggregates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126736" y="311810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Running totals, like energy per building each hour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5488" y="2697480"/>
            <a:ext cx="3544824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8368" y="2898648"/>
            <a:ext cx="457200" cy="45720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668" y="3012948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0160" y="2825496"/>
            <a:ext cx="2584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900160" y="3118104"/>
            <a:ext cx="2584704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rules, like temperature limits, changed without redeploying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023360"/>
            <a:ext cx="708660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731520" y="413308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Tables (6) in the AWS console: every table except events is copied to 1 other Region (Paris)</a:t>
            </a:r>
            <a:endParaRPr lang="en-US" sz="1050" dirty="0"/>
          </a:p>
        </p:txBody>
      </p:sp>
      <p:pic>
        <p:nvPicPr>
          <p:cNvPr id="36" name="Image 6" descr="tab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96" y="4453128"/>
            <a:ext cx="6058688" cy="192024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909560" y="4023360"/>
            <a:ext cx="3730752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8110728" y="4224528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028" y="4338828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686800" y="4224528"/>
            <a:ext cx="28163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separate tables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8110728" y="4846320"/>
            <a:ext cx="3328416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API permissions, table by table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the tables worth keeping are copied to Paris for disaster recovery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service scales automatically. We only set limits, to protect the backend and our costs.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7967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Lambda: one copy of our function per request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228600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" y="2377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Quiet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261518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few requests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23544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008376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289304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3008376"/>
            <a:ext cx="164592" cy="1645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655064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3008376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020824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3008376"/>
            <a:ext cx="164592" cy="16459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386584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3008376"/>
            <a:ext cx="164592" cy="16459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23544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392424"/>
            <a:ext cx="164592" cy="164592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289304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3392424"/>
            <a:ext cx="164592" cy="16459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1655064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3392424"/>
            <a:ext cx="164592" cy="164592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020824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3392424"/>
            <a:ext cx="164592" cy="16459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2386584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3392424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86968" y="36301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copy running</a:t>
            </a:r>
            <a:endParaRPr lang="en-US" sz="1050" dirty="0"/>
          </a:p>
        </p:txBody>
      </p:sp>
      <p:sp>
        <p:nvSpPr>
          <p:cNvPr id="32" name="Shape 19"/>
          <p:cNvSpPr/>
          <p:nvPr/>
        </p:nvSpPr>
        <p:spPr>
          <a:xfrm>
            <a:off x="2907792" y="3131820"/>
            <a:ext cx="2743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3" name="Shape 20"/>
          <p:cNvSpPr/>
          <p:nvPr/>
        </p:nvSpPr>
        <p:spPr>
          <a:xfrm>
            <a:off x="3236976" y="228600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3374136" y="2377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Traffic spike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3374136" y="261518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requests at once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3410712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008376"/>
            <a:ext cx="164592" cy="164592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3776472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008376"/>
            <a:ext cx="164592" cy="164592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4142232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08376"/>
            <a:ext cx="164592" cy="164592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4507992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008376"/>
            <a:ext cx="164592" cy="164592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4873752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008376"/>
            <a:ext cx="164592" cy="164592"/>
          </a:xfrm>
          <a:prstGeom prst="rect">
            <a:avLst/>
          </a:prstGeom>
        </p:spPr>
      </p:pic>
      <p:sp>
        <p:nvSpPr>
          <p:cNvPr id="46" name="Shape 28"/>
          <p:cNvSpPr/>
          <p:nvPr/>
        </p:nvSpPr>
        <p:spPr>
          <a:xfrm>
            <a:off x="3410712" y="3328416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3392424"/>
            <a:ext cx="164592" cy="164592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3776472" y="3328416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392424"/>
            <a:ext cx="164592" cy="164592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4142232" y="3328416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392424"/>
            <a:ext cx="164592" cy="164592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4507992" y="3328416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392424"/>
            <a:ext cx="164592" cy="164592"/>
          </a:xfrm>
          <a:prstGeom prst="rect">
            <a:avLst/>
          </a:prstGeom>
        </p:spPr>
      </p:pic>
      <p:sp>
        <p:nvSpPr>
          <p:cNvPr id="54" name="Shape 32"/>
          <p:cNvSpPr/>
          <p:nvPr/>
        </p:nvSpPr>
        <p:spPr>
          <a:xfrm>
            <a:off x="4873752" y="3328416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392424"/>
            <a:ext cx="164592" cy="164592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3374136" y="36301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copies, our current limit</a:t>
            </a:r>
            <a:endParaRPr lang="en-US" sz="1050" dirty="0"/>
          </a:p>
        </p:txBody>
      </p:sp>
      <p:sp>
        <p:nvSpPr>
          <p:cNvPr id="57" name="Shape 34"/>
          <p:cNvSpPr/>
          <p:nvPr/>
        </p:nvSpPr>
        <p:spPr>
          <a:xfrm>
            <a:off x="5394960" y="3131820"/>
            <a:ext cx="2743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58" name="Shape 35"/>
          <p:cNvSpPr/>
          <p:nvPr/>
        </p:nvSpPr>
        <p:spPr>
          <a:xfrm>
            <a:off x="5724144" y="2286000"/>
            <a:ext cx="2103120" cy="1691640"/>
          </a:xfrm>
          <a:prstGeom prst="roundRect">
            <a:avLst>
              <a:gd name="adj" fmla="val 648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36"/>
          <p:cNvSpPr txBox="1"/>
          <p:nvPr/>
        </p:nvSpPr>
        <p:spPr>
          <a:xfrm>
            <a:off x="5861304" y="2377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 to normal</a:t>
            </a:r>
            <a:endParaRPr lang="en-US" sz="1200" dirty="0"/>
          </a:p>
        </p:txBody>
      </p:sp>
      <p:sp>
        <p:nvSpPr>
          <p:cNvPr id="60" name="Text 37"/>
          <p:cNvSpPr txBox="1"/>
          <p:nvPr/>
        </p:nvSpPr>
        <p:spPr>
          <a:xfrm>
            <a:off x="5861304" y="261518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traffic drops</a:t>
            </a:r>
            <a:endParaRPr lang="en-US" sz="1000" dirty="0"/>
          </a:p>
        </p:txBody>
      </p:sp>
      <p:sp>
        <p:nvSpPr>
          <p:cNvPr id="61" name="Shape 38"/>
          <p:cNvSpPr/>
          <p:nvPr/>
        </p:nvSpPr>
        <p:spPr>
          <a:xfrm>
            <a:off x="5897880" y="2944368"/>
            <a:ext cx="292608" cy="292608"/>
          </a:xfrm>
          <a:prstGeom prst="ellipse">
            <a:avLst/>
          </a:prstGeom>
          <a:solidFill>
            <a:srgbClr val="F9B73F"/>
          </a:solidFill>
          <a:ln w="9525">
            <a:solidFill>
              <a:srgbClr val="F9B73F"/>
            </a:solidFill>
            <a:prstDash val="solid"/>
          </a:ln>
        </p:spPr>
      </p:sp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3008376"/>
            <a:ext cx="164592" cy="164592"/>
          </a:xfrm>
          <a:prstGeom prst="rect">
            <a:avLst/>
          </a:prstGeom>
        </p:spPr>
      </p:pic>
      <p:sp>
        <p:nvSpPr>
          <p:cNvPr id="63" name="Shape 39"/>
          <p:cNvSpPr/>
          <p:nvPr/>
        </p:nvSpPr>
        <p:spPr>
          <a:xfrm>
            <a:off x="6263640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008376"/>
            <a:ext cx="164592" cy="164592"/>
          </a:xfrm>
          <a:prstGeom prst="rect">
            <a:avLst/>
          </a:prstGeom>
        </p:spPr>
      </p:pic>
      <p:sp>
        <p:nvSpPr>
          <p:cNvPr id="65" name="Shape 40"/>
          <p:cNvSpPr/>
          <p:nvPr/>
        </p:nvSpPr>
        <p:spPr>
          <a:xfrm>
            <a:off x="6629400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008376"/>
            <a:ext cx="164592" cy="164592"/>
          </a:xfrm>
          <a:prstGeom prst="rect">
            <a:avLst/>
          </a:prstGeom>
        </p:spPr>
      </p:pic>
      <p:sp>
        <p:nvSpPr>
          <p:cNvPr id="67" name="Shape 41"/>
          <p:cNvSpPr/>
          <p:nvPr/>
        </p:nvSpPr>
        <p:spPr>
          <a:xfrm>
            <a:off x="6995160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68" name="Image 2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3008376"/>
            <a:ext cx="164592" cy="164592"/>
          </a:xfrm>
          <a:prstGeom prst="rect">
            <a:avLst/>
          </a:prstGeom>
        </p:spPr>
      </p:pic>
      <p:sp>
        <p:nvSpPr>
          <p:cNvPr id="69" name="Shape 42"/>
          <p:cNvSpPr/>
          <p:nvPr/>
        </p:nvSpPr>
        <p:spPr>
          <a:xfrm>
            <a:off x="7360920" y="2944368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70" name="Image 2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3008376"/>
            <a:ext cx="164592" cy="164592"/>
          </a:xfrm>
          <a:prstGeom prst="rect">
            <a:avLst/>
          </a:prstGeom>
        </p:spPr>
      </p:pic>
      <p:sp>
        <p:nvSpPr>
          <p:cNvPr id="71" name="Shape 43"/>
          <p:cNvSpPr/>
          <p:nvPr/>
        </p:nvSpPr>
        <p:spPr>
          <a:xfrm>
            <a:off x="5897880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72" name="Image 2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3392424"/>
            <a:ext cx="164592" cy="164592"/>
          </a:xfrm>
          <a:prstGeom prst="rect">
            <a:avLst/>
          </a:prstGeom>
        </p:spPr>
      </p:pic>
      <p:sp>
        <p:nvSpPr>
          <p:cNvPr id="73" name="Shape 44"/>
          <p:cNvSpPr/>
          <p:nvPr/>
        </p:nvSpPr>
        <p:spPr>
          <a:xfrm>
            <a:off x="6263640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74" name="Image 2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392424"/>
            <a:ext cx="164592" cy="164592"/>
          </a:xfrm>
          <a:prstGeom prst="rect">
            <a:avLst/>
          </a:prstGeom>
        </p:spPr>
      </p:pic>
      <p:sp>
        <p:nvSpPr>
          <p:cNvPr id="75" name="Shape 45"/>
          <p:cNvSpPr/>
          <p:nvPr/>
        </p:nvSpPr>
        <p:spPr>
          <a:xfrm>
            <a:off x="6629400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76" name="Image 2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392424"/>
            <a:ext cx="164592" cy="164592"/>
          </a:xfrm>
          <a:prstGeom prst="rect">
            <a:avLst/>
          </a:prstGeom>
        </p:spPr>
      </p:pic>
      <p:sp>
        <p:nvSpPr>
          <p:cNvPr id="77" name="Shape 46"/>
          <p:cNvSpPr/>
          <p:nvPr/>
        </p:nvSpPr>
        <p:spPr>
          <a:xfrm>
            <a:off x="6995160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78" name="Image 2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3392424"/>
            <a:ext cx="164592" cy="164592"/>
          </a:xfrm>
          <a:prstGeom prst="rect">
            <a:avLst/>
          </a:prstGeom>
        </p:spPr>
      </p:pic>
      <p:sp>
        <p:nvSpPr>
          <p:cNvPr id="79" name="Shape 47"/>
          <p:cNvSpPr/>
          <p:nvPr/>
        </p:nvSpPr>
        <p:spPr>
          <a:xfrm>
            <a:off x="7360920" y="33284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80" name="Image 3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3392424"/>
            <a:ext cx="164592" cy="164592"/>
          </a:xfrm>
          <a:prstGeom prst="rect">
            <a:avLst/>
          </a:prstGeom>
        </p:spPr>
      </p:pic>
      <p:sp>
        <p:nvSpPr>
          <p:cNvPr id="81" name="Text 48"/>
          <p:cNvSpPr txBox="1"/>
          <p:nvPr/>
        </p:nvSpPr>
        <p:spPr>
          <a:xfrm>
            <a:off x="5861304" y="363016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 copies disappear</a:t>
            </a:r>
            <a:endParaRPr lang="en-US" sz="1050" dirty="0"/>
          </a:p>
        </p:txBody>
      </p:sp>
      <p:sp>
        <p:nvSpPr>
          <p:cNvPr id="82" name="Text 49"/>
          <p:cNvSpPr txBox="1"/>
          <p:nvPr/>
        </p:nvSpPr>
        <p:spPr>
          <a:xfrm>
            <a:off x="8101584" y="2286000"/>
            <a:ext cx="3355848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is kept in memory between requests, so any copy can handle any request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small compiled Go program: a new copy starts in well under a second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copies at once is AWS's default for new accounts; it can be raised to 1,000 for free</a:t>
            </a:r>
            <a:endParaRPr lang="en-US" sz="1100" dirty="0"/>
          </a:p>
        </p:txBody>
      </p:sp>
      <p:sp>
        <p:nvSpPr>
          <p:cNvPr id="83" name="Shape 50"/>
          <p:cNvSpPr/>
          <p:nvPr/>
        </p:nvSpPr>
        <p:spPr>
          <a:xfrm>
            <a:off x="548640" y="4434840"/>
            <a:ext cx="256717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84" name="Shape 51"/>
          <p:cNvSpPr/>
          <p:nvPr/>
        </p:nvSpPr>
        <p:spPr>
          <a:xfrm>
            <a:off x="731520" y="4617720"/>
            <a:ext cx="420624" cy="42062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85" name="Image 3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722876"/>
            <a:ext cx="210312" cy="210312"/>
          </a:xfrm>
          <a:prstGeom prst="rect">
            <a:avLst/>
          </a:prstGeom>
        </p:spPr>
      </p:pic>
      <p:sp>
        <p:nvSpPr>
          <p:cNvPr id="86" name="Text 52"/>
          <p:cNvSpPr txBox="1"/>
          <p:nvPr/>
        </p:nvSpPr>
        <p:spPr>
          <a:xfrm>
            <a:off x="1280160" y="4617720"/>
            <a:ext cx="169849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87" name="Text 53"/>
          <p:cNvSpPr txBox="1"/>
          <p:nvPr/>
        </p:nvSpPr>
        <p:spPr>
          <a:xfrm>
            <a:off x="731520" y="5184648"/>
            <a:ext cx="2201418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Managed by AWS and scales on its own. We cap it at 20 requests/s (bursts of 50) to protect the backend and costs.</a:t>
            </a:r>
            <a:endParaRPr lang="en-US" sz="1200" dirty="0"/>
          </a:p>
        </p:txBody>
      </p:sp>
      <p:sp>
        <p:nvSpPr>
          <p:cNvPr id="88" name="Shape 54"/>
          <p:cNvSpPr/>
          <p:nvPr/>
        </p:nvSpPr>
        <p:spPr>
          <a:xfrm>
            <a:off x="3390138" y="4434840"/>
            <a:ext cx="256717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89" name="Shape 55"/>
          <p:cNvSpPr/>
          <p:nvPr/>
        </p:nvSpPr>
        <p:spPr>
          <a:xfrm>
            <a:off x="3573018" y="4617720"/>
            <a:ext cx="420624" cy="42062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90" name="Image 3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174" y="4722876"/>
            <a:ext cx="210312" cy="210312"/>
          </a:xfrm>
          <a:prstGeom prst="rect">
            <a:avLst/>
          </a:prstGeom>
        </p:spPr>
      </p:pic>
      <p:sp>
        <p:nvSpPr>
          <p:cNvPr id="91" name="Text 56"/>
          <p:cNvSpPr txBox="1"/>
          <p:nvPr/>
        </p:nvSpPr>
        <p:spPr>
          <a:xfrm>
            <a:off x="4121658" y="4617720"/>
            <a:ext cx="169849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DynamoDB</a:t>
            </a:r>
            <a:endParaRPr lang="en-US" sz="1400" dirty="0"/>
          </a:p>
        </p:txBody>
      </p:sp>
      <p:sp>
        <p:nvSpPr>
          <p:cNvPr id="92" name="Text 57"/>
          <p:cNvSpPr txBox="1"/>
          <p:nvPr/>
        </p:nvSpPr>
        <p:spPr>
          <a:xfrm>
            <a:off x="3573018" y="5184648"/>
            <a:ext cx="2201418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On-demand mode: capacity grows with reads and writes, with nothing to size. Running totals keep dashboard reads small.</a:t>
            </a:r>
            <a:endParaRPr lang="en-US" sz="1200" dirty="0"/>
          </a:p>
        </p:txBody>
      </p:sp>
      <p:sp>
        <p:nvSpPr>
          <p:cNvPr id="93" name="Shape 58"/>
          <p:cNvSpPr/>
          <p:nvPr/>
        </p:nvSpPr>
        <p:spPr>
          <a:xfrm>
            <a:off x="6231636" y="4434840"/>
            <a:ext cx="256717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94" name="Shape 59"/>
          <p:cNvSpPr/>
          <p:nvPr/>
        </p:nvSpPr>
        <p:spPr>
          <a:xfrm>
            <a:off x="6414516" y="4617720"/>
            <a:ext cx="420624" cy="420624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95" name="Image 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722876"/>
            <a:ext cx="210312" cy="210312"/>
          </a:xfrm>
          <a:prstGeom prst="rect">
            <a:avLst/>
          </a:prstGeom>
        </p:spPr>
      </p:pic>
      <p:sp>
        <p:nvSpPr>
          <p:cNvPr id="96" name="Text 60"/>
          <p:cNvSpPr txBox="1"/>
          <p:nvPr/>
        </p:nvSpPr>
        <p:spPr>
          <a:xfrm>
            <a:off x="6963156" y="4617720"/>
            <a:ext cx="169849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CloudFront</a:t>
            </a:r>
            <a:endParaRPr lang="en-US" sz="1400" dirty="0"/>
          </a:p>
        </p:txBody>
      </p:sp>
      <p:sp>
        <p:nvSpPr>
          <p:cNvPr id="97" name="Text 61"/>
          <p:cNvSpPr txBox="1"/>
          <p:nvPr/>
        </p:nvSpPr>
        <p:spPr>
          <a:xfrm>
            <a:off x="6414516" y="5184648"/>
            <a:ext cx="2201418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Serves the dashboard from edge locations and caches it, so more users barely add load on S3.</a:t>
            </a:r>
            <a:endParaRPr lang="en-US" sz="1200" dirty="0"/>
          </a:p>
        </p:txBody>
      </p:sp>
      <p:sp>
        <p:nvSpPr>
          <p:cNvPr id="98" name="Shape 62"/>
          <p:cNvSpPr/>
          <p:nvPr/>
        </p:nvSpPr>
        <p:spPr>
          <a:xfrm>
            <a:off x="9073134" y="4434840"/>
            <a:ext cx="2567178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99" name="Shape 63"/>
          <p:cNvSpPr/>
          <p:nvPr/>
        </p:nvSpPr>
        <p:spPr>
          <a:xfrm>
            <a:off x="9256014" y="4617720"/>
            <a:ext cx="420624" cy="420624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100" name="Image 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70" y="4722876"/>
            <a:ext cx="210312" cy="210312"/>
          </a:xfrm>
          <a:prstGeom prst="rect">
            <a:avLst/>
          </a:prstGeom>
        </p:spPr>
      </p:pic>
      <p:sp>
        <p:nvSpPr>
          <p:cNvPr id="101" name="Text 64"/>
          <p:cNvSpPr txBox="1"/>
          <p:nvPr/>
        </p:nvSpPr>
        <p:spPr>
          <a:xfrm>
            <a:off x="9804654" y="4617720"/>
            <a:ext cx="169849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Cognito</a:t>
            </a:r>
            <a:endParaRPr lang="en-US" sz="1400" dirty="0"/>
          </a:p>
        </p:txBody>
      </p:sp>
      <p:sp>
        <p:nvSpPr>
          <p:cNvPr id="102" name="Text 65"/>
          <p:cNvSpPr txBox="1"/>
          <p:nvPr/>
        </p:nvSpPr>
        <p:spPr>
          <a:xfrm>
            <a:off x="9256014" y="5184648"/>
            <a:ext cx="2201418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Managed sign-in that scales on its own, free up to 10,000 monthly users.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Disaster recovery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continuously copied to Paris; everything else can be rebuilt from Terraform.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4344" cy="82296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47088"/>
            <a:ext cx="164592" cy="164592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50876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Seconds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508760"/>
            <a:ext cx="13197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RPO: how much data we could lose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508760"/>
            <a:ext cx="3514344" cy="82296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847088"/>
            <a:ext cx="164592" cy="164592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0224" y="150876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1 hour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394704" y="1508760"/>
            <a:ext cx="13197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RTO: time to be running again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508760"/>
            <a:ext cx="3514344" cy="82296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4568" y="1847088"/>
            <a:ext cx="164592" cy="164592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28888" y="1508760"/>
            <a:ext cx="1508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 days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183368" y="1508760"/>
            <a:ext cx="131978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point-in-time recovery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679192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70632"/>
            <a:ext cx="182880" cy="1828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88720" y="2606040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2606040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Point-in-time recovery (35 days) and live replicas of 5 tables in Paris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191256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3264408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55848"/>
            <a:ext cx="182880" cy="1828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3191256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017520" y="3191256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 S3 bucket, with every file copied to a bucket in Paris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3776472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85800" y="3849624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188720" y="377647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CloudFront failover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3017520" y="3776472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Virginia bucket returns 5xx errors, CloudFront serves the Paris copy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361688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5800" y="4434840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26280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88720" y="4361688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Terraform state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3017520" y="4361688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Versioned, encrypted S3 bucket, replicated to Paris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8640" y="4946904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685800" y="5020056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11496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188720" y="4946904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3017520" y="4946904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Defined in Terraform: rebuilt in Paris with one terraform apply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548640" y="5532120"/>
            <a:ext cx="6309360" cy="5120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85800" y="5605272"/>
            <a:ext cx="365760" cy="36576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96712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188720" y="5532120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</a:t>
            </a:r>
            <a:endParaRPr lang="en-US" sz="1250" dirty="0"/>
          </a:p>
        </p:txBody>
      </p:sp>
      <p:sp>
        <p:nvSpPr>
          <p:cNvPr id="45" name="Text 37"/>
          <p:cNvSpPr txBox="1"/>
          <p:nvPr/>
        </p:nvSpPr>
        <p:spPr>
          <a:xfrm>
            <a:off x="3017520" y="5532120"/>
            <a:ext cx="3703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GitHub; deployed by the CI/CD pipeline</a:t>
            </a:r>
            <a:endParaRPr lang="en-US" sz="105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6135624"/>
            <a:ext cx="6309360" cy="3566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Limit: the API and Cognito run only in us-east-1, so a full region outage means redeploying with Terraform in Paris, where the data is already waiting.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7132320" y="2606040"/>
            <a:ext cx="4507992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8" name="Text 40"/>
          <p:cNvSpPr txBox="1"/>
          <p:nvPr/>
        </p:nvSpPr>
        <p:spPr>
          <a:xfrm>
            <a:off x="7315200" y="274320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S3 console: each bucket has a copy in Paris</a:t>
            </a:r>
            <a:endParaRPr lang="en-US" sz="1050" dirty="0"/>
          </a:p>
        </p:txBody>
      </p:sp>
      <p:pic>
        <p:nvPicPr>
          <p:cNvPr id="49" name="Image 6" descr="bucke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108960"/>
            <a:ext cx="4142232" cy="1344003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7315200" y="4727283"/>
            <a:ext cx="4142232" cy="438912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7406640" y="4791291"/>
            <a:ext cx="310896" cy="310896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4869015"/>
            <a:ext cx="155448" cy="155448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7818120" y="472728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bucket</a:t>
            </a:r>
            <a:endParaRPr lang="en-US" sz="1150" dirty="0"/>
          </a:p>
        </p:txBody>
      </p:sp>
      <p:sp>
        <p:nvSpPr>
          <p:cNvPr id="54" name="Text 44"/>
          <p:cNvSpPr txBox="1"/>
          <p:nvPr/>
        </p:nvSpPr>
        <p:spPr>
          <a:xfrm>
            <a:off x="9646920" y="4727283"/>
            <a:ext cx="167335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Virginia  →  Paris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7315200" y="5275923"/>
            <a:ext cx="4142232" cy="438912"/>
          </a:xfrm>
          <a:prstGeom prst="roundRect">
            <a:avLst>
              <a:gd name="adj" fmla="val 208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7406640" y="5339931"/>
            <a:ext cx="310896" cy="310896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5417655"/>
            <a:ext cx="155448" cy="155448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7818120" y="5275923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Terraform state bucket</a:t>
            </a:r>
            <a:endParaRPr lang="en-US" sz="1150" dirty="0"/>
          </a:p>
        </p:txBody>
      </p:sp>
      <p:sp>
        <p:nvSpPr>
          <p:cNvPr id="59" name="Text 48"/>
          <p:cNvSpPr txBox="1"/>
          <p:nvPr/>
        </p:nvSpPr>
        <p:spPr>
          <a:xfrm>
            <a:off x="9646920" y="5275923"/>
            <a:ext cx="167335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Virginia  →  Paris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IAM roles: least privilege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part of the platform gets its own role, with only the permissions it needs.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54380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6420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Lambda role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93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campuspulse-api-lambda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7086600" cy="310896"/>
          </a:xfrm>
          <a:prstGeom prst="roundRect">
            <a:avLst>
              <a:gd name="adj" fmla="val 29412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2331720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DynamoDB table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331720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Allowed actions (nothing else)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642616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642616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PutItem · Query</a:t>
            </a: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never edit or delete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2944368"/>
            <a:ext cx="70866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2944368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rooms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944368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· GetItem · UpdateItem</a:t>
            </a: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never create or delete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246120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3246120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GetItem · PutItem · UpdateItem · DeleteItem · ConditionCheckItem · Query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" y="3547872"/>
            <a:ext cx="70866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3547872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service-requests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560320" y="3547872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GetItem · PutItem · UpdateItem · Query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3849624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aggregates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3849624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UpdateItem · Query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77240" y="4151376"/>
            <a:ext cx="70866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" y="4151376"/>
            <a:ext cx="1600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settings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560320" y="4151376"/>
            <a:ext cx="52120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GetItem · PutItem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77240" y="4507992"/>
            <a:ext cx="274320" cy="274320"/>
          </a:xfrm>
          <a:prstGeom prst="ellipse">
            <a:avLst/>
          </a:prstGeom>
          <a:solidFill>
            <a:srgbClr val="E6293F"/>
          </a:solidFill>
          <a:ln w="12700">
            <a:solidFill>
              <a:srgbClr val="E6293F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4576572"/>
            <a:ext cx="137160" cy="1371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161288" y="4489704"/>
            <a:ext cx="6629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users table: Cognito handles accounts. No permission to create or delete tables.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366760" y="1463040"/>
            <a:ext cx="3273552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595360" y="1691640"/>
            <a:ext cx="548640" cy="54864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82880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281160" y="166420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S3 replication role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9281160" y="199339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campuspulse-s3-replication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595360" y="2304288"/>
            <a:ext cx="281635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by S3 to copy the dashboard and Terraform state buckets to Paris for disaster recovery. It can only read our source buckets and write the copies.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366760" y="3291840"/>
            <a:ext cx="3273552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595360" y="3520440"/>
            <a:ext cx="548640" cy="54864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3657600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281160" y="349300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Actions role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9281160" y="382219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github-actions-campuspulse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8595360" y="4133088"/>
            <a:ext cx="281635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the CI/CD pipeline deploy. Only the main branch of our repository can use it, with temporary credentials instead of stored keys.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548640" y="5047488"/>
            <a:ext cx="11091672" cy="1444752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3" name="Text 37"/>
          <p:cNvSpPr txBox="1"/>
          <p:nvPr/>
        </p:nvSpPr>
        <p:spPr>
          <a:xfrm>
            <a:off x="777240" y="52303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IAM console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777240" y="5504688"/>
            <a:ext cx="2743200" cy="896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three roles and who is trusted to use each one (cropped). DemoRoleForEC2 is not part of CampusPulse.</a:t>
            </a:r>
            <a:endParaRPr lang="en-US" sz="1050" dirty="0"/>
          </a:p>
        </p:txBody>
      </p:sp>
      <p:pic>
        <p:nvPicPr>
          <p:cNvPr id="45" name="Image 4" descr="role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947" y="5184648"/>
            <a:ext cx="6128205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CloudWatch dashboard tracks the health of the whole platform on one page, and 7 alarms email the team.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033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618488"/>
            <a:ext cx="347472" cy="347472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705356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618488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log line per request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2002536"/>
            <a:ext cx="34655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API prints the route, the role and how long it took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0300" y="2377440"/>
            <a:ext cx="0" cy="18288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2532888"/>
            <a:ext cx="37033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" y="2642616"/>
            <a:ext cx="347472" cy="347472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729484"/>
            <a:ext cx="173736" cy="1737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97280" y="2642616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CloudWatch Logs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76656" y="3026664"/>
            <a:ext cx="34655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sends the lines automatically; kept for 7 days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400300" y="3401568"/>
            <a:ext cx="0" cy="18288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48640" y="3557016"/>
            <a:ext cx="37033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" y="3666744"/>
            <a:ext cx="347472" cy="347472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753612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" y="3666744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76656" y="4050792"/>
            <a:ext cx="34655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ones from log lines, like AlertsRaised; AWS measures errors and latency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428750" y="4425696"/>
            <a:ext cx="0" cy="18288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3371850" y="4425696"/>
            <a:ext cx="0" cy="18288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4581144"/>
            <a:ext cx="17602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6656" y="4690872"/>
            <a:ext cx="347472" cy="347472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777740"/>
            <a:ext cx="173736" cy="1737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97280" y="4690872"/>
            <a:ext cx="11201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76656" y="5074920"/>
            <a:ext cx="15224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from the metrics with Terraform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491740" y="4581144"/>
            <a:ext cx="17602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619756" y="4690872"/>
            <a:ext cx="347472" cy="347472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24" y="4777740"/>
            <a:ext cx="173736" cy="17373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040380" y="4690872"/>
            <a:ext cx="11201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alarms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2619756" y="5074920"/>
            <a:ext cx="15224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 errors, slow responses, failed readings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371850" y="5449824"/>
            <a:ext cx="0" cy="18288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548640" y="5605272"/>
            <a:ext cx="3703320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76656" y="5715000"/>
            <a:ext cx="347472" cy="347472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5801868"/>
            <a:ext cx="173736" cy="1737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7280" y="571500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Email through SNS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676656" y="6099048"/>
            <a:ext cx="34655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an alarm fires, and again when it recovers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526280" y="1508760"/>
            <a:ext cx="7114032" cy="1963481"/>
          </a:xfrm>
          <a:prstGeom prst="roundRect">
            <a:avLst>
              <a:gd name="adj" fmla="val 74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4709160" y="1618488"/>
            <a:ext cx="6748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CloudWatch dashboard: API requests and errors, and response time</a:t>
            </a:r>
            <a:endParaRPr lang="en-US" sz="1050" dirty="0"/>
          </a:p>
        </p:txBody>
      </p:sp>
      <p:pic>
        <p:nvPicPr>
          <p:cNvPr id="41" name="Image 6" descr="cw-d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920240"/>
            <a:ext cx="6748272" cy="1414841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4526280" y="3700841"/>
            <a:ext cx="7114032" cy="2554177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4709160" y="3810569"/>
            <a:ext cx="67482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Recent alarms: both OK, with the 3-second latency threshold shown</a:t>
            </a:r>
            <a:endParaRPr lang="en-US" sz="1050" dirty="0"/>
          </a:p>
        </p:txBody>
      </p:sp>
      <p:pic>
        <p:nvPicPr>
          <p:cNvPr id="44" name="Image 7" descr="cw-alar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112321"/>
            <a:ext cx="6748272" cy="20055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CI/CD with GitHub Actions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platform deploys itself: checks on every pull request, a full deployment on every merge into 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037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7967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91640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pull request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65192" y="175564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65192" y="17556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access to AWS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" y="2286000"/>
            <a:ext cx="1984248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24140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4672" y="276148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the Go tests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70632" y="269748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008376" y="2286000"/>
            <a:ext cx="1984248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24140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63240" y="276148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the Terraform configuration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0" y="269748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266944" y="2286000"/>
            <a:ext cx="1984248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241401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21808" y="276148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the dashboard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520440"/>
            <a:ext cx="69037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703320"/>
            <a:ext cx="420624" cy="42062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3808476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98448" y="3703320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merge into main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4965192" y="376732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965192" y="376732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Temporary AWS credentials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49808" y="4297680"/>
            <a:ext cx="1080821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914" y="442569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04672" y="4773168"/>
            <a:ext cx="971093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the Lambda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1867205" y="480060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2104949" y="4297680"/>
            <a:ext cx="1080821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055" y="4425696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159813" y="4773168"/>
            <a:ext cx="971093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Terraform plan, then apply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3222346" y="480060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3460090" y="4297680"/>
            <a:ext cx="1080821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4196" y="4425696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3514954" y="4773168"/>
            <a:ext cx="971093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the dashboard to S3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577486" y="480060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9" name="Shape 29"/>
          <p:cNvSpPr/>
          <p:nvPr/>
        </p:nvSpPr>
        <p:spPr>
          <a:xfrm>
            <a:off x="4815230" y="4297680"/>
            <a:ext cx="1080821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9337" y="4425696"/>
            <a:ext cx="292608" cy="29260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870094" y="4773168"/>
            <a:ext cx="971093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the CloudFront cache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5932627" y="4800600"/>
            <a:ext cx="201168" cy="0"/>
          </a:xfrm>
          <a:prstGeom prst="line">
            <a:avLst/>
          </a:prstGeom>
          <a:noFill/>
          <a:ln w="19050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43" name="Shape 32"/>
          <p:cNvSpPr/>
          <p:nvPr/>
        </p:nvSpPr>
        <p:spPr>
          <a:xfrm>
            <a:off x="6170371" y="4297680"/>
            <a:ext cx="1080821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4478" y="4425696"/>
            <a:ext cx="292608" cy="29260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225235" y="4773168"/>
            <a:ext cx="971093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the API's health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548640" y="5715000"/>
            <a:ext cx="69037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731520" y="5861304"/>
            <a:ext cx="438912" cy="438912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" y="5971032"/>
            <a:ext cx="219456" cy="219456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298448" y="5715000"/>
            <a:ext cx="5989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stored AWS keys. </a:t>
            </a: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gets a short-lived token (OIDC) to use the github-actions-campuspulse role, and only the main branch can use it.</a:t>
            </a:r>
            <a:endParaRPr lang="en-US" sz="1100" dirty="0"/>
          </a:p>
        </p:txBody>
      </p:sp>
      <p:sp>
        <p:nvSpPr>
          <p:cNvPr id="50" name="Shape 37"/>
          <p:cNvSpPr/>
          <p:nvPr/>
        </p:nvSpPr>
        <p:spPr>
          <a:xfrm>
            <a:off x="7726680" y="1508760"/>
            <a:ext cx="3913632" cy="493776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1" name="Text 38"/>
          <p:cNvSpPr txBox="1"/>
          <p:nvPr/>
        </p:nvSpPr>
        <p:spPr>
          <a:xfrm>
            <a:off x="7909560" y="1618488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deploy.yml: runs on push to main, signs in with OIDC</a:t>
            </a:r>
            <a:endParaRPr lang="en-US" sz="1050" dirty="0"/>
          </a:p>
        </p:txBody>
      </p:sp>
      <p:pic>
        <p:nvPicPr>
          <p:cNvPr id="52" name="Image 11" descr="workfl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8640" y="1938528"/>
            <a:ext cx="3809712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Cost optimization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service is pay-per-use or inside the AWS free tier.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44752"/>
            <a:ext cx="10945368" cy="329184"/>
          </a:xfrm>
          <a:prstGeom prst="roundRect">
            <a:avLst>
              <a:gd name="adj" fmla="val 33333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2331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44475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in 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44475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/ month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144475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88236"/>
            <a:ext cx="155448" cy="155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1773936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773936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(arm64)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1833372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1833372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177393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requests free, always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" y="2157984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2212848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272284"/>
            <a:ext cx="155448" cy="1554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34440" y="2157984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and sign-in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246120" y="215798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Gateway, Cognito (4 users)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132320" y="2217420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132320" y="2217420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2157984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1M calls free; 10,000 users free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77240" y="2596896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656332"/>
            <a:ext cx="155448" cy="15544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34440" y="2542032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246120" y="254203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DynamoDB tables + 5 Paris replicas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132320" y="2601468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132320" y="2601468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$0.20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641080" y="254203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per request; we use thousands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21792" y="2926080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77240" y="2980944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3040380"/>
            <a:ext cx="155448" cy="15544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234440" y="292608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Website and storage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3246120" y="292608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CloudFront, 4 S3 buckets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132320" y="2985516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7132320" y="2985516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$0.01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8641080" y="292608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TB free; under 10 MB stored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77240" y="3364992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424428"/>
            <a:ext cx="155448" cy="155448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234440" y="3310128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3" name="Text 36"/>
          <p:cNvSpPr txBox="1"/>
          <p:nvPr/>
        </p:nvSpPr>
        <p:spPr>
          <a:xfrm>
            <a:off x="3246120" y="3310128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Logs, 7 metrics, 7 alarms, dashboard, SNS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7132320" y="3369564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132320" y="3369564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46" name="Text 39"/>
          <p:cNvSpPr txBox="1"/>
          <p:nvPr/>
        </p:nvSpPr>
        <p:spPr>
          <a:xfrm>
            <a:off x="8641080" y="3310128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under the free limits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21792" y="3694176"/>
            <a:ext cx="10945368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3808476"/>
            <a:ext cx="155448" cy="155448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234440" y="3694176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</a:t>
            </a:r>
            <a:endParaRPr lang="en-US" sz="1300" dirty="0"/>
          </a:p>
        </p:txBody>
      </p:sp>
      <p:sp>
        <p:nvSpPr>
          <p:cNvPr id="51" name="Text 43"/>
          <p:cNvSpPr txBox="1"/>
          <p:nvPr/>
        </p:nvSpPr>
        <p:spPr>
          <a:xfrm>
            <a:off x="3246120" y="3694176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VPC, 2 subnets, gateway endpoint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7132320" y="3753612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132320" y="3753612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54" name="Text 46"/>
          <p:cNvSpPr txBox="1"/>
          <p:nvPr/>
        </p:nvSpPr>
        <p:spPr>
          <a:xfrm>
            <a:off x="8641080" y="3694176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VPCs and gateway endpoints are free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777240" y="4133088"/>
            <a:ext cx="274320" cy="27432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4192524"/>
            <a:ext cx="155448" cy="15544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1234440" y="4078224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and control</a:t>
            </a:r>
            <a:endParaRPr lang="en-US" sz="1300" dirty="0"/>
          </a:p>
        </p:txBody>
      </p:sp>
      <p:sp>
        <p:nvSpPr>
          <p:cNvPr id="58" name="Text 49"/>
          <p:cNvSpPr txBox="1"/>
          <p:nvPr/>
        </p:nvSpPr>
        <p:spPr>
          <a:xfrm>
            <a:off x="3246120" y="407822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IAM roles, OIDC, $5 budget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7132320" y="4137660"/>
            <a:ext cx="1005840" cy="265176"/>
          </a:xfrm>
          <a:prstGeom prst="roundRect">
            <a:avLst>
              <a:gd name="adj" fmla="val 55172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7132320" y="4137660"/>
            <a:ext cx="1005840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</a:t>
            </a:r>
            <a:endParaRPr lang="en-US" sz="1150" dirty="0"/>
          </a:p>
        </p:txBody>
      </p:sp>
      <p:sp>
        <p:nvSpPr>
          <p:cNvPr id="61" name="Text 52"/>
          <p:cNvSpPr txBox="1"/>
          <p:nvPr/>
        </p:nvSpPr>
        <p:spPr>
          <a:xfrm>
            <a:off x="8641080" y="4078224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free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621792" y="4535424"/>
            <a:ext cx="10945368" cy="420624"/>
          </a:xfrm>
          <a:prstGeom prst="roundRect">
            <a:avLst>
              <a:gd name="adj" fmla="val 2608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777240" y="4608576"/>
            <a:ext cx="274320" cy="27432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" y="4668012"/>
            <a:ext cx="155448" cy="155448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234440" y="4535424"/>
            <a:ext cx="1828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</a:t>
            </a:r>
            <a:endParaRPr lang="en-US" sz="1500" dirty="0"/>
          </a:p>
        </p:txBody>
      </p:sp>
      <p:sp>
        <p:nvSpPr>
          <p:cNvPr id="66" name="Text 56"/>
          <p:cNvSpPr txBox="1"/>
          <p:nvPr/>
        </p:nvSpPr>
        <p:spPr>
          <a:xfrm>
            <a:off x="7132320" y="4535424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$1 / month</a:t>
            </a:r>
            <a:endParaRPr lang="en-US" sz="1500" dirty="0"/>
          </a:p>
        </p:txBody>
      </p:sp>
      <p:sp>
        <p:nvSpPr>
          <p:cNvPr id="67" name="Text 57"/>
          <p:cNvSpPr txBox="1"/>
          <p:nvPr/>
        </p:nvSpPr>
        <p:spPr>
          <a:xfrm>
            <a:off x="8641080" y="4535424"/>
            <a:ext cx="2834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few cents, with a $5 budget alert</a:t>
            </a:r>
            <a:endParaRPr lang="en-US" sz="1200" dirty="0"/>
          </a:p>
        </p:txBody>
      </p:sp>
      <p:sp>
        <p:nvSpPr>
          <p:cNvPr id="68" name="Shape 58"/>
          <p:cNvSpPr/>
          <p:nvPr/>
        </p:nvSpPr>
        <p:spPr>
          <a:xfrm>
            <a:off x="548640" y="5193792"/>
            <a:ext cx="11091672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69" name="Text 59"/>
          <p:cNvSpPr txBox="1"/>
          <p:nvPr/>
        </p:nvSpPr>
        <p:spPr>
          <a:xfrm>
            <a:off x="777240" y="5330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AWS Budgets</a:t>
            </a:r>
            <a:endParaRPr lang="en-US" sz="1300" dirty="0"/>
          </a:p>
        </p:txBody>
      </p:sp>
      <p:sp>
        <p:nvSpPr>
          <p:cNvPr id="70" name="Text 60"/>
          <p:cNvSpPr txBox="1"/>
          <p:nvPr/>
        </p:nvSpPr>
        <p:spPr>
          <a:xfrm>
            <a:off x="777240" y="5605272"/>
            <a:ext cx="201168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campuspulse-monthly: $0.00 spent so far; AWS forecasts $2.94 for the month, under our $5 limit</a:t>
            </a:r>
            <a:endParaRPr lang="en-US" sz="1000" dirty="0"/>
          </a:p>
        </p:txBody>
      </p:sp>
      <p:pic>
        <p:nvPicPr>
          <p:cNvPr id="71" name="Image 8" descr="bud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4491" y="5303520"/>
            <a:ext cx="8656093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Conclusion: Built to scale, stay up, and stay secure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502920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468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Lambda runs more copies of the function as requests rise, and removes them when traffic drops, with no configuration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send 25 readings per request; the Lambda processes up to 8 at once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DynamoDB on-demand scales with traffic, and running totals avoid scanning raw data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 throttles at 20 requests per second (bursts of 50) to cap cost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20440" cy="502920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645920"/>
            <a:ext cx="685800" cy="68580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468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availability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017520"/>
            <a:ext cx="301752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Lambda runs in private subnets across two availability zones; if one fails, the other takes over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DynamoDB stores every item in three availability zones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function keeps no state, so any copy can serve any request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CloudFront serves from edge locations, with automatic failover to the Paris copy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20440" cy="502920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B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45920"/>
            <a:ext cx="685800" cy="6858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210" y="18173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4688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017520"/>
            <a:ext cx="301752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Cognito hosted sign-in: no public sign-up, one-hour tokens, passwords never touch our code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 verifies every token before our code runs; roles are enforced in the API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Least-privilege IAM: the Lambda's DynamoDB actions are listed table by table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Private subnets with no internet; private S3 behind CloudFront; HTTPS and encryption at rest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10583</Words>
  <Application>WPS Presentation</Application>
  <PresentationFormat>On-screen Show (16:9)</PresentationFormat>
  <Paragraphs>643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DM Sans</vt:lpstr>
      <vt:lpstr>DM Sans</vt:lpstr>
      <vt:lpstr>DM Sans</vt:lpstr>
      <vt:lpstr>Space Grotesk</vt:lpstr>
      <vt:lpstr>Space Grotesk</vt:lpstr>
      <vt:lpstr>Space Grotesk</vt:lpstr>
      <vt:lpstr>DM Sans Bold</vt:lpstr>
      <vt:lpstr>Calibri</vt:lpstr>
      <vt:lpstr>Helvetica Neue</vt:lpstr>
      <vt:lpstr>MS PGothic</vt:lpstr>
      <vt:lpstr>Arial Unicode MS</vt:lpstr>
      <vt:lpstr>Microsoft YaHei</vt:lpstr>
      <vt:lpstr>汉仪旗黑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2026</dc:title>
  <dc:creator>PptxGenJS</dc:creator>
  <dc:subject>PptxGenJS Presentation</dc:subject>
  <cp:lastModifiedBy>a</cp:lastModifiedBy>
  <cp:revision>14</cp:revision>
  <dcterms:created xsi:type="dcterms:W3CDTF">2026-09-19T10:28:39Z</dcterms:created>
  <dcterms:modified xsi:type="dcterms:W3CDTF">2026-09-19T10:28:39Z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B65E0A04B25066A0604CAE6AD3139CFE_42</vt:lpwstr>
  </property>
  <property fmtid="{D5CDD505-2E9C-101B-9397-08002B2CF9AE}" pid="3" name="KSOProductBuildVer">
    <vt:lpwstr>1033-12.1.28496.28496</vt:lpwstr>
  </property>
</Properties>
</file>