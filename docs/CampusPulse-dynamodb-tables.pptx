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covered all the use cases for our setup, we created separate tables, one for each kind of data, six in total. Events stores every sensor reading we receive, and deletes them automatically after 30 days. Rooms holds each room's details and its latest occupancy, temperature and humidity, which is what the Rooms table on the dashboard shows. Alerts keeps every problem the system detects, and whether staff have acknowledged or resolved it. Service-requests holds the students' requests, with their priority, status and history. Aggregates keeps running totals, like energy used per building each hour, so the dashboard doesn't have to add up thousands of readings every time. Settings stores the alert rules, like the temperature limits, so an admin can change them without redeploying. Keeping them separate also lets us give the API exact permissions per table, and copy only the tables worth keeping to Paris for disaster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DynamoDB tables</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Six tables, one for each kind of data, covering every use case in our setup.</a:t>
            </a:r>
            <a:endParaRPr lang="en-US" sz="1400" dirty="0"/>
          </a:p>
        </p:txBody>
      </p:sp>
      <p:sp>
        <p:nvSpPr>
          <p:cNvPr id="4" name="Shape 2"/>
          <p:cNvSpPr/>
          <p:nvPr/>
        </p:nvSpPr>
        <p:spPr>
          <a:xfrm>
            <a:off x="548640" y="150876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31520" y="1709928"/>
            <a:ext cx="457200" cy="457200"/>
          </a:xfrm>
          <a:prstGeom prst="ellipse">
            <a:avLst/>
          </a:prstGeom>
          <a:solidFill>
            <a:srgbClr val="F54900"/>
          </a:solidFill>
          <a:ln w="12700">
            <a:solidFill>
              <a:srgbClr val="F54900"/>
            </a:solidFill>
            <a:prstDash val="solid"/>
          </a:ln>
        </p:spPr>
      </p:sp>
      <p:pic>
        <p:nvPicPr>
          <p:cNvPr id="6" name="Image 0" descr="preencoded.png">    </p:cNvPr>
          <p:cNvPicPr>
            <a:picLocks noChangeAspect="1"/>
          </p:cNvPicPr>
          <p:nvPr/>
        </p:nvPicPr>
        <p:blipFill>
          <a:blip r:embed="rId1"/>
          <a:stretch>
            <a:fillRect/>
          </a:stretch>
        </p:blipFill>
        <p:spPr>
          <a:xfrm>
            <a:off x="845820" y="1824228"/>
            <a:ext cx="228600" cy="228600"/>
          </a:xfrm>
          <a:prstGeom prst="rect">
            <a:avLst/>
          </a:prstGeom>
        </p:spPr>
      </p:pic>
      <p:sp>
        <p:nvSpPr>
          <p:cNvPr id="7" name="Text 4"/>
          <p:cNvSpPr txBox="1"/>
          <p:nvPr/>
        </p:nvSpPr>
        <p:spPr>
          <a:xfrm>
            <a:off x="1353312" y="163677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events</a:t>
            </a:r>
            <a:endParaRPr lang="en-US" sz="1400" dirty="0"/>
          </a:p>
        </p:txBody>
      </p:sp>
      <p:sp>
        <p:nvSpPr>
          <p:cNvPr id="8" name="Text 5"/>
          <p:cNvSpPr txBox="1"/>
          <p:nvPr/>
        </p:nvSpPr>
        <p:spPr>
          <a:xfrm>
            <a:off x="1353312" y="192938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Every sensor reading, deleted automatically after 30 days</a:t>
            </a:r>
            <a:endParaRPr lang="en-US" sz="1050" dirty="0"/>
          </a:p>
        </p:txBody>
      </p:sp>
      <p:sp>
        <p:nvSpPr>
          <p:cNvPr id="9" name="Shape 6"/>
          <p:cNvSpPr/>
          <p:nvPr/>
        </p:nvSpPr>
        <p:spPr>
          <a:xfrm>
            <a:off x="4322064" y="150876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0" name="Shape 7"/>
          <p:cNvSpPr/>
          <p:nvPr/>
        </p:nvSpPr>
        <p:spPr>
          <a:xfrm>
            <a:off x="4504944" y="1709928"/>
            <a:ext cx="457200" cy="457200"/>
          </a:xfrm>
          <a:prstGeom prst="ellipse">
            <a:avLst/>
          </a:prstGeom>
          <a:solidFill>
            <a:srgbClr val="0F172B"/>
          </a:solidFill>
          <a:ln w="12700">
            <a:solidFill>
              <a:srgbClr val="0F172B"/>
            </a:solidFill>
            <a:prstDash val="solid"/>
          </a:ln>
        </p:spPr>
      </p:sp>
      <p:pic>
        <p:nvPicPr>
          <p:cNvPr id="11" name="Image 1" descr="preencoded.png">    </p:cNvPr>
          <p:cNvPicPr>
            <a:picLocks noChangeAspect="1"/>
          </p:cNvPicPr>
          <p:nvPr/>
        </p:nvPicPr>
        <p:blipFill>
          <a:blip r:embed="rId2"/>
          <a:stretch>
            <a:fillRect/>
          </a:stretch>
        </p:blipFill>
        <p:spPr>
          <a:xfrm>
            <a:off x="4619244" y="1824228"/>
            <a:ext cx="228600" cy="228600"/>
          </a:xfrm>
          <a:prstGeom prst="rect">
            <a:avLst/>
          </a:prstGeom>
        </p:spPr>
      </p:pic>
      <p:sp>
        <p:nvSpPr>
          <p:cNvPr id="12" name="Text 8"/>
          <p:cNvSpPr txBox="1"/>
          <p:nvPr/>
        </p:nvSpPr>
        <p:spPr>
          <a:xfrm>
            <a:off x="5126736" y="163677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rooms</a:t>
            </a:r>
            <a:endParaRPr lang="en-US" sz="1400" dirty="0"/>
          </a:p>
        </p:txBody>
      </p:sp>
      <p:sp>
        <p:nvSpPr>
          <p:cNvPr id="13" name="Text 9"/>
          <p:cNvSpPr txBox="1"/>
          <p:nvPr/>
        </p:nvSpPr>
        <p:spPr>
          <a:xfrm>
            <a:off x="5126736" y="192938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Each room's details and latest occupancy, temperature and humidity</a:t>
            </a:r>
            <a:endParaRPr lang="en-US" sz="1050" dirty="0"/>
          </a:p>
        </p:txBody>
      </p:sp>
      <p:sp>
        <p:nvSpPr>
          <p:cNvPr id="14" name="Shape 10"/>
          <p:cNvSpPr/>
          <p:nvPr/>
        </p:nvSpPr>
        <p:spPr>
          <a:xfrm>
            <a:off x="8095488" y="150876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5" name="Shape 11"/>
          <p:cNvSpPr/>
          <p:nvPr/>
        </p:nvSpPr>
        <p:spPr>
          <a:xfrm>
            <a:off x="8278368" y="1709928"/>
            <a:ext cx="457200" cy="457200"/>
          </a:xfrm>
          <a:prstGeom prst="ellipse">
            <a:avLst/>
          </a:prstGeom>
          <a:solidFill>
            <a:srgbClr val="E6293F"/>
          </a:solidFill>
          <a:ln w="12700">
            <a:solidFill>
              <a:srgbClr val="E6293F"/>
            </a:solidFill>
            <a:prstDash val="solid"/>
          </a:ln>
        </p:spPr>
      </p:sp>
      <p:pic>
        <p:nvPicPr>
          <p:cNvPr id="16" name="Image 2" descr="preencoded.png">    </p:cNvPr>
          <p:cNvPicPr>
            <a:picLocks noChangeAspect="1"/>
          </p:cNvPicPr>
          <p:nvPr/>
        </p:nvPicPr>
        <p:blipFill>
          <a:blip r:embed="rId3"/>
          <a:stretch>
            <a:fillRect/>
          </a:stretch>
        </p:blipFill>
        <p:spPr>
          <a:xfrm>
            <a:off x="8392668" y="1824228"/>
            <a:ext cx="228600" cy="228600"/>
          </a:xfrm>
          <a:prstGeom prst="rect">
            <a:avLst/>
          </a:prstGeom>
        </p:spPr>
      </p:pic>
      <p:sp>
        <p:nvSpPr>
          <p:cNvPr id="17" name="Text 12"/>
          <p:cNvSpPr txBox="1"/>
          <p:nvPr/>
        </p:nvSpPr>
        <p:spPr>
          <a:xfrm>
            <a:off x="8900160" y="163677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alerts</a:t>
            </a:r>
            <a:endParaRPr lang="en-US" sz="1400" dirty="0"/>
          </a:p>
        </p:txBody>
      </p:sp>
      <p:sp>
        <p:nvSpPr>
          <p:cNvPr id="18" name="Text 13"/>
          <p:cNvSpPr txBox="1"/>
          <p:nvPr/>
        </p:nvSpPr>
        <p:spPr>
          <a:xfrm>
            <a:off x="8900160" y="192938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Every problem detected, and whether staff acknowledged or resolved it</a:t>
            </a:r>
            <a:endParaRPr lang="en-US" sz="1050" dirty="0"/>
          </a:p>
        </p:txBody>
      </p:sp>
      <p:sp>
        <p:nvSpPr>
          <p:cNvPr id="19" name="Shape 14"/>
          <p:cNvSpPr/>
          <p:nvPr/>
        </p:nvSpPr>
        <p:spPr>
          <a:xfrm>
            <a:off x="548640" y="269748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0" name="Shape 15"/>
          <p:cNvSpPr/>
          <p:nvPr/>
        </p:nvSpPr>
        <p:spPr>
          <a:xfrm>
            <a:off x="731520" y="2898648"/>
            <a:ext cx="457200" cy="457200"/>
          </a:xfrm>
          <a:prstGeom prst="ellipse">
            <a:avLst/>
          </a:prstGeom>
          <a:solidFill>
            <a:srgbClr val="F9B73F"/>
          </a:solidFill>
          <a:ln w="12700">
            <a:solidFill>
              <a:srgbClr val="F9B73F"/>
            </a:solidFill>
            <a:prstDash val="solid"/>
          </a:ln>
        </p:spPr>
      </p:sp>
      <p:pic>
        <p:nvPicPr>
          <p:cNvPr id="21" name="Image 3" descr="preencoded.png">    </p:cNvPr>
          <p:cNvPicPr>
            <a:picLocks noChangeAspect="1"/>
          </p:cNvPicPr>
          <p:nvPr/>
        </p:nvPicPr>
        <p:blipFill>
          <a:blip r:embed="rId4"/>
          <a:stretch>
            <a:fillRect/>
          </a:stretch>
        </p:blipFill>
        <p:spPr>
          <a:xfrm>
            <a:off x="845820" y="3012948"/>
            <a:ext cx="228600" cy="228600"/>
          </a:xfrm>
          <a:prstGeom prst="rect">
            <a:avLst/>
          </a:prstGeom>
        </p:spPr>
      </p:pic>
      <p:sp>
        <p:nvSpPr>
          <p:cNvPr id="22" name="Text 16"/>
          <p:cNvSpPr txBox="1"/>
          <p:nvPr/>
        </p:nvSpPr>
        <p:spPr>
          <a:xfrm>
            <a:off x="1353312" y="282549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service-requests</a:t>
            </a:r>
            <a:endParaRPr lang="en-US" sz="1400" dirty="0"/>
          </a:p>
        </p:txBody>
      </p:sp>
      <p:sp>
        <p:nvSpPr>
          <p:cNvPr id="23" name="Text 17"/>
          <p:cNvSpPr txBox="1"/>
          <p:nvPr/>
        </p:nvSpPr>
        <p:spPr>
          <a:xfrm>
            <a:off x="1353312" y="311810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Students' requests, with their priority, status and history</a:t>
            </a:r>
            <a:endParaRPr lang="en-US" sz="1050" dirty="0"/>
          </a:p>
        </p:txBody>
      </p:sp>
      <p:sp>
        <p:nvSpPr>
          <p:cNvPr id="24" name="Shape 18"/>
          <p:cNvSpPr/>
          <p:nvPr/>
        </p:nvSpPr>
        <p:spPr>
          <a:xfrm>
            <a:off x="4322064" y="269748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5" name="Shape 19"/>
          <p:cNvSpPr/>
          <p:nvPr/>
        </p:nvSpPr>
        <p:spPr>
          <a:xfrm>
            <a:off x="4504944" y="2898648"/>
            <a:ext cx="457200" cy="457200"/>
          </a:xfrm>
          <a:prstGeom prst="ellipse">
            <a:avLst/>
          </a:prstGeom>
          <a:solidFill>
            <a:srgbClr val="009689"/>
          </a:solidFill>
          <a:ln w="12700">
            <a:solidFill>
              <a:srgbClr val="009689"/>
            </a:solidFill>
            <a:prstDash val="solid"/>
          </a:ln>
        </p:spPr>
      </p:sp>
      <p:pic>
        <p:nvPicPr>
          <p:cNvPr id="26" name="Image 4" descr="preencoded.png">    </p:cNvPr>
          <p:cNvPicPr>
            <a:picLocks noChangeAspect="1"/>
          </p:cNvPicPr>
          <p:nvPr/>
        </p:nvPicPr>
        <p:blipFill>
          <a:blip r:embed="rId5"/>
          <a:stretch>
            <a:fillRect/>
          </a:stretch>
        </p:blipFill>
        <p:spPr>
          <a:xfrm>
            <a:off x="4619244" y="3012948"/>
            <a:ext cx="228600" cy="228600"/>
          </a:xfrm>
          <a:prstGeom prst="rect">
            <a:avLst/>
          </a:prstGeom>
        </p:spPr>
      </p:pic>
      <p:sp>
        <p:nvSpPr>
          <p:cNvPr id="27" name="Text 20"/>
          <p:cNvSpPr txBox="1"/>
          <p:nvPr/>
        </p:nvSpPr>
        <p:spPr>
          <a:xfrm>
            <a:off x="5126736" y="282549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aggregates</a:t>
            </a:r>
            <a:endParaRPr lang="en-US" sz="1400" dirty="0"/>
          </a:p>
        </p:txBody>
      </p:sp>
      <p:sp>
        <p:nvSpPr>
          <p:cNvPr id="28" name="Text 21"/>
          <p:cNvSpPr txBox="1"/>
          <p:nvPr/>
        </p:nvSpPr>
        <p:spPr>
          <a:xfrm>
            <a:off x="5126736" y="311810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Running totals, like energy per building each hour</a:t>
            </a:r>
            <a:endParaRPr lang="en-US" sz="1050" dirty="0"/>
          </a:p>
        </p:txBody>
      </p:sp>
      <p:sp>
        <p:nvSpPr>
          <p:cNvPr id="29" name="Shape 22"/>
          <p:cNvSpPr/>
          <p:nvPr/>
        </p:nvSpPr>
        <p:spPr>
          <a:xfrm>
            <a:off x="8095488" y="2697480"/>
            <a:ext cx="3544824" cy="1005840"/>
          </a:xfrm>
          <a:prstGeom prst="roundRect">
            <a:avLst>
              <a:gd name="adj" fmla="val 1454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0" name="Shape 23"/>
          <p:cNvSpPr/>
          <p:nvPr/>
        </p:nvSpPr>
        <p:spPr>
          <a:xfrm>
            <a:off x="8278368" y="2898648"/>
            <a:ext cx="457200" cy="457200"/>
          </a:xfrm>
          <a:prstGeom prst="ellipse">
            <a:avLst/>
          </a:prstGeom>
          <a:solidFill>
            <a:srgbClr val="43C07A"/>
          </a:solidFill>
          <a:ln w="12700">
            <a:solidFill>
              <a:srgbClr val="43C07A"/>
            </a:solidFill>
            <a:prstDash val="solid"/>
          </a:ln>
        </p:spPr>
      </p:sp>
      <p:pic>
        <p:nvPicPr>
          <p:cNvPr id="31" name="Image 5" descr="preencoded.png">    </p:cNvPr>
          <p:cNvPicPr>
            <a:picLocks noChangeAspect="1"/>
          </p:cNvPicPr>
          <p:nvPr/>
        </p:nvPicPr>
        <p:blipFill>
          <a:blip r:embed="rId6"/>
          <a:stretch>
            <a:fillRect/>
          </a:stretch>
        </p:blipFill>
        <p:spPr>
          <a:xfrm>
            <a:off x="8392668" y="3012948"/>
            <a:ext cx="228600" cy="228600"/>
          </a:xfrm>
          <a:prstGeom prst="rect">
            <a:avLst/>
          </a:prstGeom>
        </p:spPr>
      </p:pic>
      <p:sp>
        <p:nvSpPr>
          <p:cNvPr id="32" name="Text 24"/>
          <p:cNvSpPr txBox="1"/>
          <p:nvPr/>
        </p:nvSpPr>
        <p:spPr>
          <a:xfrm>
            <a:off x="8900160" y="2825496"/>
            <a:ext cx="2584704"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settings</a:t>
            </a:r>
            <a:endParaRPr lang="en-US" sz="1400" dirty="0"/>
          </a:p>
        </p:txBody>
      </p:sp>
      <p:sp>
        <p:nvSpPr>
          <p:cNvPr id="33" name="Text 25"/>
          <p:cNvSpPr txBox="1"/>
          <p:nvPr/>
        </p:nvSpPr>
        <p:spPr>
          <a:xfrm>
            <a:off x="8900160" y="3118104"/>
            <a:ext cx="2584704" cy="50292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Alert rules, like temperature limits, changed without redeploying</a:t>
            </a:r>
            <a:endParaRPr lang="en-US" sz="1050" dirty="0"/>
          </a:p>
        </p:txBody>
      </p:sp>
      <p:sp>
        <p:nvSpPr>
          <p:cNvPr id="34" name="Shape 26"/>
          <p:cNvSpPr/>
          <p:nvPr/>
        </p:nvSpPr>
        <p:spPr>
          <a:xfrm>
            <a:off x="548640" y="4023360"/>
            <a:ext cx="7086600" cy="2468880"/>
          </a:xfrm>
          <a:prstGeom prst="roundRect">
            <a:avLst>
              <a:gd name="adj" fmla="val 5926"/>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5" name="Text 27"/>
          <p:cNvSpPr txBox="1"/>
          <p:nvPr/>
        </p:nvSpPr>
        <p:spPr>
          <a:xfrm>
            <a:off x="731520" y="4133088"/>
            <a:ext cx="6720840"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Tables (6) in the AWS console: every table except events is copied to 1 other Region (Paris)</a:t>
            </a:r>
            <a:endParaRPr lang="en-US" sz="1050" dirty="0"/>
          </a:p>
        </p:txBody>
      </p:sp>
      <p:pic>
        <p:nvPicPr>
          <p:cNvPr id="36" name="Image 6" descr="tables.png">    </p:cNvPr>
          <p:cNvPicPr>
            <a:picLocks noChangeAspect="1"/>
          </p:cNvPicPr>
          <p:nvPr/>
        </p:nvPicPr>
        <p:blipFill>
          <a:blip r:embed="rId7"/>
          <a:stretch>
            <a:fillRect/>
          </a:stretch>
        </p:blipFill>
        <p:spPr>
          <a:xfrm>
            <a:off x="1062596" y="4453128"/>
            <a:ext cx="6058688" cy="1920240"/>
          </a:xfrm>
          <a:prstGeom prst="rect">
            <a:avLst/>
          </a:prstGeom>
        </p:spPr>
      </p:pic>
      <p:sp>
        <p:nvSpPr>
          <p:cNvPr id="37" name="Shape 28"/>
          <p:cNvSpPr/>
          <p:nvPr/>
        </p:nvSpPr>
        <p:spPr>
          <a:xfrm>
            <a:off x="7909560" y="4023360"/>
            <a:ext cx="3730752" cy="2468880"/>
          </a:xfrm>
          <a:prstGeom prst="roundRect">
            <a:avLst>
              <a:gd name="adj" fmla="val 5926"/>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8" name="Shape 29"/>
          <p:cNvSpPr/>
          <p:nvPr/>
        </p:nvSpPr>
        <p:spPr>
          <a:xfrm>
            <a:off x="8110728" y="4224528"/>
            <a:ext cx="457200" cy="457200"/>
          </a:xfrm>
          <a:prstGeom prst="ellipse">
            <a:avLst/>
          </a:prstGeom>
          <a:solidFill>
            <a:srgbClr val="0F172B"/>
          </a:solidFill>
          <a:ln w="12700">
            <a:solidFill>
              <a:srgbClr val="0F172B"/>
            </a:solidFill>
            <a:prstDash val="solid"/>
          </a:ln>
        </p:spPr>
      </p:sp>
      <p:pic>
        <p:nvPicPr>
          <p:cNvPr id="39" name="Image 7" descr="preencoded.png">    </p:cNvPr>
          <p:cNvPicPr>
            <a:picLocks noChangeAspect="1"/>
          </p:cNvPicPr>
          <p:nvPr/>
        </p:nvPicPr>
        <p:blipFill>
          <a:blip r:embed="rId8"/>
          <a:stretch>
            <a:fillRect/>
          </a:stretch>
        </p:blipFill>
        <p:spPr>
          <a:xfrm>
            <a:off x="8225028" y="4338828"/>
            <a:ext cx="228600" cy="228600"/>
          </a:xfrm>
          <a:prstGeom prst="rect">
            <a:avLst/>
          </a:prstGeom>
        </p:spPr>
      </p:pic>
      <p:sp>
        <p:nvSpPr>
          <p:cNvPr id="40" name="Text 30"/>
          <p:cNvSpPr txBox="1"/>
          <p:nvPr/>
        </p:nvSpPr>
        <p:spPr>
          <a:xfrm>
            <a:off x="8686800" y="4224528"/>
            <a:ext cx="2816352" cy="45720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Why separate tables</a:t>
            </a:r>
            <a:endParaRPr lang="en-US" sz="1500" dirty="0"/>
          </a:p>
        </p:txBody>
      </p:sp>
      <p:sp>
        <p:nvSpPr>
          <p:cNvPr id="41" name="Text 31"/>
          <p:cNvSpPr txBox="1"/>
          <p:nvPr/>
        </p:nvSpPr>
        <p:spPr>
          <a:xfrm>
            <a:off x="8110728" y="4846320"/>
            <a:ext cx="3328416" cy="15087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020618"/>
                </a:solidFill>
                <a:latin typeface="DM Sans" pitchFamily="34" charset="0"/>
                <a:ea typeface="DM Sans" pitchFamily="34" charset="-122"/>
                <a:cs typeface="DM Sans" pitchFamily="34" charset="-120"/>
              </a:rPr>
              <a:t>Exact API permissions, table by table</a:t>
            </a:r>
            <a:endParaRPr lang="en-US" sz="1250" dirty="0"/>
          </a:p>
          <a:p>
            <a:pPr marL="177800" indent="-177800">
              <a:spcAft>
                <a:spcPts val="800"/>
              </a:spcAft>
              <a:buSzPct val="100000"/>
              <a:buChar char="•"/>
            </a:pPr>
            <a:r>
              <a:rPr lang="en-US" sz="1250" dirty="0">
                <a:solidFill>
                  <a:srgbClr val="020618"/>
                </a:solidFill>
                <a:latin typeface="DM Sans" pitchFamily="34" charset="0"/>
                <a:ea typeface="DM Sans" pitchFamily="34" charset="-122"/>
                <a:cs typeface="DM Sans" pitchFamily="34" charset="-120"/>
              </a:rPr>
              <a:t>Only the tables worth keeping are copied to Paris for disaster recovery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DynamoDB tables</dc:title>
  <dc:subject>PptxGenJS Presentation</dc:subject>
  <dc:creator>PptxGenJS</dc:creator>
  <cp:lastModifiedBy>PptxGenJS</cp:lastModifiedBy>
  <cp:revision>1</cp:revision>
  <dcterms:created xsi:type="dcterms:W3CDTF">2026-09-19T10:04:02Z</dcterms:created>
  <dcterms:modified xsi:type="dcterms:W3CDTF">2026-09-19T10:04:02Z</dcterms:modified>
</cp:coreProperties>
</file>