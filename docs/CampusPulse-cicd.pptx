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built a GitHub Actions pipeline to deploy the platform automatically: every pull request runs the Go tests, checks the Terraform configuration and builds the dashboard, with no access to AWS, and every merge into main builds the Lambda, applies the Terraform plan, uploads the dashboard to S3, clears the CloudFront cache and checks the API's health endpoint, using temporary credentials instead of stored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CI/CD with GitHub Actions</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The platform deploys itself: checks on every pull request, a full deployment on every merge into main.</a:t>
            </a:r>
            <a:endParaRPr lang="en-US" sz="1400" dirty="0"/>
          </a:p>
        </p:txBody>
      </p:sp>
      <p:sp>
        <p:nvSpPr>
          <p:cNvPr id="4" name="Shape 2"/>
          <p:cNvSpPr/>
          <p:nvPr/>
        </p:nvSpPr>
        <p:spPr>
          <a:xfrm>
            <a:off x="548640" y="1508760"/>
            <a:ext cx="6903720" cy="1783080"/>
          </a:xfrm>
          <a:prstGeom prst="roundRect">
            <a:avLst>
              <a:gd name="adj" fmla="val 8205"/>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49808" y="1691640"/>
            <a:ext cx="420624" cy="420624"/>
          </a:xfrm>
          <a:prstGeom prst="ellipse">
            <a:avLst/>
          </a:prstGeom>
          <a:solidFill>
            <a:srgbClr val="009689"/>
          </a:solidFill>
          <a:ln w="12700">
            <a:solidFill>
              <a:srgbClr val="009689"/>
            </a:solidFill>
            <a:prstDash val="solid"/>
          </a:ln>
        </p:spPr>
      </p:sp>
      <p:pic>
        <p:nvPicPr>
          <p:cNvPr id="6" name="Image 0" descr="preencoded.png">    </p:cNvPr>
          <p:cNvPicPr>
            <a:picLocks noChangeAspect="1"/>
          </p:cNvPicPr>
          <p:nvPr/>
        </p:nvPicPr>
        <p:blipFill>
          <a:blip r:embed="rId1"/>
          <a:stretch>
            <a:fillRect/>
          </a:stretch>
        </p:blipFill>
        <p:spPr>
          <a:xfrm>
            <a:off x="854964" y="1796796"/>
            <a:ext cx="210312" cy="210312"/>
          </a:xfrm>
          <a:prstGeom prst="rect">
            <a:avLst/>
          </a:prstGeom>
        </p:spPr>
      </p:pic>
      <p:sp>
        <p:nvSpPr>
          <p:cNvPr id="7" name="Text 4"/>
          <p:cNvSpPr txBox="1"/>
          <p:nvPr/>
        </p:nvSpPr>
        <p:spPr>
          <a:xfrm>
            <a:off x="1298448" y="1691640"/>
            <a:ext cx="3657600" cy="42062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Every pull request</a:t>
            </a:r>
            <a:endParaRPr lang="en-US" sz="1500" dirty="0"/>
          </a:p>
        </p:txBody>
      </p:sp>
      <p:sp>
        <p:nvSpPr>
          <p:cNvPr id="8" name="Shape 5"/>
          <p:cNvSpPr/>
          <p:nvPr/>
        </p:nvSpPr>
        <p:spPr>
          <a:xfrm>
            <a:off x="4965192" y="1755648"/>
            <a:ext cx="2286000" cy="292608"/>
          </a:xfrm>
          <a:prstGeom prst="roundRect">
            <a:avLst>
              <a:gd name="adj" fmla="val 50000"/>
            </a:avLst>
          </a:prstGeom>
          <a:solidFill>
            <a:srgbClr val="F1F5F9"/>
          </a:solidFill>
          <a:ln w="12700">
            <a:solidFill>
              <a:srgbClr val="F1F5F9"/>
            </a:solidFill>
            <a:prstDash val="solid"/>
          </a:ln>
        </p:spPr>
      </p:sp>
      <p:sp>
        <p:nvSpPr>
          <p:cNvPr id="9" name="Text 6"/>
          <p:cNvSpPr txBox="1"/>
          <p:nvPr/>
        </p:nvSpPr>
        <p:spPr>
          <a:xfrm>
            <a:off x="4965192" y="1755648"/>
            <a:ext cx="2286000" cy="292608"/>
          </a:xfrm>
          <a:prstGeom prst="rect">
            <a:avLst/>
          </a:prstGeom>
          <a:noFill/>
          <a:ln/>
        </p:spPr>
        <p:txBody>
          <a:bodyPr wrap="square" lIns="0" tIns="0" rIns="0" bIns="0" rtlCol="0" anchor="ctr"/>
          <a:lstStyle/>
          <a:p>
            <a:pPr algn="ctr" indent="0" marL="0">
              <a:buNone/>
            </a:pPr>
            <a:r>
              <a:rPr lang="en-US" sz="1100" b="1" dirty="0">
                <a:solidFill>
                  <a:srgbClr val="0F172B"/>
                </a:solidFill>
                <a:latin typeface="DM Sans" pitchFamily="34" charset="0"/>
                <a:ea typeface="DM Sans" pitchFamily="34" charset="-122"/>
                <a:cs typeface="DM Sans" pitchFamily="34" charset="-120"/>
              </a:rPr>
              <a:t>No access to AWS</a:t>
            </a:r>
            <a:endParaRPr lang="en-US" sz="1100" dirty="0"/>
          </a:p>
        </p:txBody>
      </p:sp>
      <p:sp>
        <p:nvSpPr>
          <p:cNvPr id="10" name="Shape 7"/>
          <p:cNvSpPr/>
          <p:nvPr/>
        </p:nvSpPr>
        <p:spPr>
          <a:xfrm>
            <a:off x="749808" y="2286000"/>
            <a:ext cx="1984248" cy="822960"/>
          </a:xfrm>
          <a:prstGeom prst="roundRect">
            <a:avLst>
              <a:gd name="adj" fmla="val 11111"/>
            </a:avLst>
          </a:prstGeom>
          <a:solidFill>
            <a:srgbClr val="F1F5F9"/>
          </a:solidFill>
          <a:ln w="12700">
            <a:solidFill>
              <a:srgbClr val="F1F5F9"/>
            </a:solidFill>
            <a:prstDash val="solid"/>
          </a:ln>
        </p:spPr>
      </p:sp>
      <p:pic>
        <p:nvPicPr>
          <p:cNvPr id="11" name="Image 1" descr="preencoded.png">    </p:cNvPr>
          <p:cNvPicPr>
            <a:picLocks noChangeAspect="1"/>
          </p:cNvPicPr>
          <p:nvPr/>
        </p:nvPicPr>
        <p:blipFill>
          <a:blip r:embed="rId2"/>
          <a:stretch>
            <a:fillRect/>
          </a:stretch>
        </p:blipFill>
        <p:spPr>
          <a:xfrm>
            <a:off x="1595628" y="2414016"/>
            <a:ext cx="292608" cy="292608"/>
          </a:xfrm>
          <a:prstGeom prst="rect">
            <a:avLst/>
          </a:prstGeom>
        </p:spPr>
      </p:pic>
      <p:sp>
        <p:nvSpPr>
          <p:cNvPr id="12" name="Text 8"/>
          <p:cNvSpPr txBox="1"/>
          <p:nvPr/>
        </p:nvSpPr>
        <p:spPr>
          <a:xfrm>
            <a:off x="804672" y="2761488"/>
            <a:ext cx="1874520" cy="29260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Run the Go tests</a:t>
            </a:r>
            <a:endParaRPr lang="en-US" sz="1050" dirty="0"/>
          </a:p>
        </p:txBody>
      </p:sp>
      <p:sp>
        <p:nvSpPr>
          <p:cNvPr id="13" name="Shape 9"/>
          <p:cNvSpPr/>
          <p:nvPr/>
        </p:nvSpPr>
        <p:spPr>
          <a:xfrm>
            <a:off x="2770632" y="2697480"/>
            <a:ext cx="201168" cy="0"/>
          </a:xfrm>
          <a:prstGeom prst="line">
            <a:avLst/>
          </a:prstGeom>
          <a:noFill/>
          <a:ln w="19050">
            <a:solidFill>
              <a:srgbClr val="62748E"/>
            </a:solidFill>
            <a:prstDash val="solid"/>
            <a:tailEnd type="triangle"/>
          </a:ln>
        </p:spPr>
      </p:sp>
      <p:sp>
        <p:nvSpPr>
          <p:cNvPr id="14" name="Shape 10"/>
          <p:cNvSpPr/>
          <p:nvPr/>
        </p:nvSpPr>
        <p:spPr>
          <a:xfrm>
            <a:off x="3008376" y="2286000"/>
            <a:ext cx="1984248" cy="822960"/>
          </a:xfrm>
          <a:prstGeom prst="roundRect">
            <a:avLst>
              <a:gd name="adj" fmla="val 11111"/>
            </a:avLst>
          </a:prstGeom>
          <a:solidFill>
            <a:srgbClr val="F1F5F9"/>
          </a:solidFill>
          <a:ln w="12700">
            <a:solidFill>
              <a:srgbClr val="F1F5F9"/>
            </a:solidFill>
            <a:prstDash val="solid"/>
          </a:ln>
        </p:spPr>
      </p:sp>
      <p:pic>
        <p:nvPicPr>
          <p:cNvPr id="15" name="Image 2" descr="preencoded.png">    </p:cNvPr>
          <p:cNvPicPr>
            <a:picLocks noChangeAspect="1"/>
          </p:cNvPicPr>
          <p:nvPr/>
        </p:nvPicPr>
        <p:blipFill>
          <a:blip r:embed="rId3"/>
          <a:stretch>
            <a:fillRect/>
          </a:stretch>
        </p:blipFill>
        <p:spPr>
          <a:xfrm>
            <a:off x="3854196" y="2414016"/>
            <a:ext cx="292608" cy="292608"/>
          </a:xfrm>
          <a:prstGeom prst="rect">
            <a:avLst/>
          </a:prstGeom>
        </p:spPr>
      </p:pic>
      <p:sp>
        <p:nvSpPr>
          <p:cNvPr id="16" name="Text 11"/>
          <p:cNvSpPr txBox="1"/>
          <p:nvPr/>
        </p:nvSpPr>
        <p:spPr>
          <a:xfrm>
            <a:off x="3063240" y="2761488"/>
            <a:ext cx="1874520" cy="29260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Check the Terraform configuration</a:t>
            </a:r>
            <a:endParaRPr lang="en-US" sz="1050" dirty="0"/>
          </a:p>
        </p:txBody>
      </p:sp>
      <p:sp>
        <p:nvSpPr>
          <p:cNvPr id="17" name="Shape 12"/>
          <p:cNvSpPr/>
          <p:nvPr/>
        </p:nvSpPr>
        <p:spPr>
          <a:xfrm>
            <a:off x="5029200" y="2697480"/>
            <a:ext cx="201168" cy="0"/>
          </a:xfrm>
          <a:prstGeom prst="line">
            <a:avLst/>
          </a:prstGeom>
          <a:noFill/>
          <a:ln w="19050">
            <a:solidFill>
              <a:srgbClr val="62748E"/>
            </a:solidFill>
            <a:prstDash val="solid"/>
            <a:tailEnd type="triangle"/>
          </a:ln>
        </p:spPr>
      </p:sp>
      <p:sp>
        <p:nvSpPr>
          <p:cNvPr id="18" name="Shape 13"/>
          <p:cNvSpPr/>
          <p:nvPr/>
        </p:nvSpPr>
        <p:spPr>
          <a:xfrm>
            <a:off x="5266944" y="2286000"/>
            <a:ext cx="1984248" cy="822960"/>
          </a:xfrm>
          <a:prstGeom prst="roundRect">
            <a:avLst>
              <a:gd name="adj" fmla="val 11111"/>
            </a:avLst>
          </a:prstGeom>
          <a:solidFill>
            <a:srgbClr val="F1F5F9"/>
          </a:solidFill>
          <a:ln w="12700">
            <a:solidFill>
              <a:srgbClr val="F1F5F9"/>
            </a:solidFill>
            <a:prstDash val="solid"/>
          </a:ln>
        </p:spPr>
      </p:sp>
      <p:pic>
        <p:nvPicPr>
          <p:cNvPr id="19" name="Image 3" descr="preencoded.png">    </p:cNvPr>
          <p:cNvPicPr>
            <a:picLocks noChangeAspect="1"/>
          </p:cNvPicPr>
          <p:nvPr/>
        </p:nvPicPr>
        <p:blipFill>
          <a:blip r:embed="rId4"/>
          <a:stretch>
            <a:fillRect/>
          </a:stretch>
        </p:blipFill>
        <p:spPr>
          <a:xfrm>
            <a:off x="6112764" y="2414016"/>
            <a:ext cx="292608" cy="292608"/>
          </a:xfrm>
          <a:prstGeom prst="rect">
            <a:avLst/>
          </a:prstGeom>
        </p:spPr>
      </p:pic>
      <p:sp>
        <p:nvSpPr>
          <p:cNvPr id="20" name="Text 14"/>
          <p:cNvSpPr txBox="1"/>
          <p:nvPr/>
        </p:nvSpPr>
        <p:spPr>
          <a:xfrm>
            <a:off x="5321808" y="2761488"/>
            <a:ext cx="1874520" cy="29260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Build the dashboard</a:t>
            </a:r>
            <a:endParaRPr lang="en-US" sz="1050" dirty="0"/>
          </a:p>
        </p:txBody>
      </p:sp>
      <p:sp>
        <p:nvSpPr>
          <p:cNvPr id="21" name="Shape 15"/>
          <p:cNvSpPr/>
          <p:nvPr/>
        </p:nvSpPr>
        <p:spPr>
          <a:xfrm>
            <a:off x="548640" y="3520440"/>
            <a:ext cx="6903720" cy="1965960"/>
          </a:xfrm>
          <a:prstGeom prst="roundRect">
            <a:avLst>
              <a:gd name="adj" fmla="val 7442"/>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2" name="Shape 16"/>
          <p:cNvSpPr/>
          <p:nvPr/>
        </p:nvSpPr>
        <p:spPr>
          <a:xfrm>
            <a:off x="749808" y="3703320"/>
            <a:ext cx="420624" cy="420624"/>
          </a:xfrm>
          <a:prstGeom prst="ellipse">
            <a:avLst/>
          </a:prstGeom>
          <a:solidFill>
            <a:srgbClr val="0F172B"/>
          </a:solidFill>
          <a:ln w="12700">
            <a:solidFill>
              <a:srgbClr val="0F172B"/>
            </a:solidFill>
            <a:prstDash val="solid"/>
          </a:ln>
        </p:spPr>
      </p:sp>
      <p:pic>
        <p:nvPicPr>
          <p:cNvPr id="23" name="Image 4" descr="preencoded.png">    </p:cNvPr>
          <p:cNvPicPr>
            <a:picLocks noChangeAspect="1"/>
          </p:cNvPicPr>
          <p:nvPr/>
        </p:nvPicPr>
        <p:blipFill>
          <a:blip r:embed="rId5"/>
          <a:stretch>
            <a:fillRect/>
          </a:stretch>
        </p:blipFill>
        <p:spPr>
          <a:xfrm>
            <a:off x="854964" y="3808476"/>
            <a:ext cx="210312" cy="210312"/>
          </a:xfrm>
          <a:prstGeom prst="rect">
            <a:avLst/>
          </a:prstGeom>
        </p:spPr>
      </p:pic>
      <p:sp>
        <p:nvSpPr>
          <p:cNvPr id="24" name="Text 17"/>
          <p:cNvSpPr txBox="1"/>
          <p:nvPr/>
        </p:nvSpPr>
        <p:spPr>
          <a:xfrm>
            <a:off x="1298448" y="3703320"/>
            <a:ext cx="3657600" cy="420624"/>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Every merge into main</a:t>
            </a:r>
            <a:endParaRPr lang="en-US" sz="1500" dirty="0"/>
          </a:p>
        </p:txBody>
      </p:sp>
      <p:sp>
        <p:nvSpPr>
          <p:cNvPr id="25" name="Shape 18"/>
          <p:cNvSpPr/>
          <p:nvPr/>
        </p:nvSpPr>
        <p:spPr>
          <a:xfrm>
            <a:off x="4965192" y="3767328"/>
            <a:ext cx="2286000" cy="292608"/>
          </a:xfrm>
          <a:prstGeom prst="roundRect">
            <a:avLst>
              <a:gd name="adj" fmla="val 50000"/>
            </a:avLst>
          </a:prstGeom>
          <a:solidFill>
            <a:srgbClr val="43C07A"/>
          </a:solidFill>
          <a:ln w="12700">
            <a:solidFill>
              <a:srgbClr val="43C07A"/>
            </a:solidFill>
            <a:prstDash val="solid"/>
          </a:ln>
        </p:spPr>
      </p:sp>
      <p:sp>
        <p:nvSpPr>
          <p:cNvPr id="26" name="Text 19"/>
          <p:cNvSpPr txBox="1"/>
          <p:nvPr/>
        </p:nvSpPr>
        <p:spPr>
          <a:xfrm>
            <a:off x="4965192" y="3767328"/>
            <a:ext cx="2286000" cy="292608"/>
          </a:xfrm>
          <a:prstGeom prst="rect">
            <a:avLst/>
          </a:prstGeom>
          <a:noFill/>
          <a:ln/>
        </p:spPr>
        <p:txBody>
          <a:bodyPr wrap="square" lIns="0" tIns="0" rIns="0" bIns="0" rtlCol="0" anchor="ctr"/>
          <a:lstStyle/>
          <a:p>
            <a:pPr algn="ctr" indent="0" marL="0">
              <a:buNone/>
            </a:pPr>
            <a:r>
              <a:rPr lang="en-US" sz="1100" b="1" dirty="0">
                <a:solidFill>
                  <a:srgbClr val="00220D"/>
                </a:solidFill>
                <a:latin typeface="DM Sans" pitchFamily="34" charset="0"/>
                <a:ea typeface="DM Sans" pitchFamily="34" charset="-122"/>
                <a:cs typeface="DM Sans" pitchFamily="34" charset="-120"/>
              </a:rPr>
              <a:t>Temporary AWS credentials</a:t>
            </a:r>
            <a:endParaRPr lang="en-US" sz="1100" dirty="0"/>
          </a:p>
        </p:txBody>
      </p:sp>
      <p:sp>
        <p:nvSpPr>
          <p:cNvPr id="27" name="Shape 20"/>
          <p:cNvSpPr/>
          <p:nvPr/>
        </p:nvSpPr>
        <p:spPr>
          <a:xfrm>
            <a:off x="749808" y="4297680"/>
            <a:ext cx="1080821" cy="1005840"/>
          </a:xfrm>
          <a:prstGeom prst="roundRect">
            <a:avLst>
              <a:gd name="adj" fmla="val 9091"/>
            </a:avLst>
          </a:prstGeom>
          <a:solidFill>
            <a:srgbClr val="F1F5F9"/>
          </a:solidFill>
          <a:ln w="12700">
            <a:solidFill>
              <a:srgbClr val="F1F5F9"/>
            </a:solidFill>
            <a:prstDash val="solid"/>
          </a:ln>
        </p:spPr>
      </p:sp>
      <p:pic>
        <p:nvPicPr>
          <p:cNvPr id="28" name="Image 5" descr="preencoded.png">    </p:cNvPr>
          <p:cNvPicPr>
            <a:picLocks noChangeAspect="1"/>
          </p:cNvPicPr>
          <p:nvPr/>
        </p:nvPicPr>
        <p:blipFill>
          <a:blip r:embed="rId6"/>
          <a:stretch>
            <a:fillRect/>
          </a:stretch>
        </p:blipFill>
        <p:spPr>
          <a:xfrm>
            <a:off x="1143914" y="4425696"/>
            <a:ext cx="292608" cy="292608"/>
          </a:xfrm>
          <a:prstGeom prst="rect">
            <a:avLst/>
          </a:prstGeom>
        </p:spPr>
      </p:pic>
      <p:sp>
        <p:nvSpPr>
          <p:cNvPr id="29" name="Text 21"/>
          <p:cNvSpPr txBox="1"/>
          <p:nvPr/>
        </p:nvSpPr>
        <p:spPr>
          <a:xfrm>
            <a:off x="804672" y="4773168"/>
            <a:ext cx="971093" cy="47548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Build the Lambda</a:t>
            </a:r>
            <a:endParaRPr lang="en-US" sz="1050" dirty="0"/>
          </a:p>
        </p:txBody>
      </p:sp>
      <p:sp>
        <p:nvSpPr>
          <p:cNvPr id="30" name="Shape 22"/>
          <p:cNvSpPr/>
          <p:nvPr/>
        </p:nvSpPr>
        <p:spPr>
          <a:xfrm>
            <a:off x="1867205" y="4800600"/>
            <a:ext cx="201168" cy="0"/>
          </a:xfrm>
          <a:prstGeom prst="line">
            <a:avLst/>
          </a:prstGeom>
          <a:noFill/>
          <a:ln w="19050">
            <a:solidFill>
              <a:srgbClr val="62748E"/>
            </a:solidFill>
            <a:prstDash val="solid"/>
            <a:tailEnd type="triangle"/>
          </a:ln>
        </p:spPr>
      </p:sp>
      <p:sp>
        <p:nvSpPr>
          <p:cNvPr id="31" name="Shape 23"/>
          <p:cNvSpPr/>
          <p:nvPr/>
        </p:nvSpPr>
        <p:spPr>
          <a:xfrm>
            <a:off x="2104949" y="4297680"/>
            <a:ext cx="1080821" cy="1005840"/>
          </a:xfrm>
          <a:prstGeom prst="roundRect">
            <a:avLst>
              <a:gd name="adj" fmla="val 9091"/>
            </a:avLst>
          </a:prstGeom>
          <a:solidFill>
            <a:srgbClr val="F1F5F9"/>
          </a:solidFill>
          <a:ln w="12700">
            <a:solidFill>
              <a:srgbClr val="F1F5F9"/>
            </a:solidFill>
            <a:prstDash val="solid"/>
          </a:ln>
        </p:spPr>
      </p:sp>
      <p:pic>
        <p:nvPicPr>
          <p:cNvPr id="32" name="Image 6" descr="preencoded.png">    </p:cNvPr>
          <p:cNvPicPr>
            <a:picLocks noChangeAspect="1"/>
          </p:cNvPicPr>
          <p:nvPr/>
        </p:nvPicPr>
        <p:blipFill>
          <a:blip r:embed="rId7"/>
          <a:stretch>
            <a:fillRect/>
          </a:stretch>
        </p:blipFill>
        <p:spPr>
          <a:xfrm>
            <a:off x="2499055" y="4425696"/>
            <a:ext cx="292608" cy="292608"/>
          </a:xfrm>
          <a:prstGeom prst="rect">
            <a:avLst/>
          </a:prstGeom>
        </p:spPr>
      </p:pic>
      <p:sp>
        <p:nvSpPr>
          <p:cNvPr id="33" name="Text 24"/>
          <p:cNvSpPr txBox="1"/>
          <p:nvPr/>
        </p:nvSpPr>
        <p:spPr>
          <a:xfrm>
            <a:off x="2159813" y="4773168"/>
            <a:ext cx="971093" cy="47548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Terraform plan, then apply</a:t>
            </a:r>
            <a:endParaRPr lang="en-US" sz="1050" dirty="0"/>
          </a:p>
        </p:txBody>
      </p:sp>
      <p:sp>
        <p:nvSpPr>
          <p:cNvPr id="34" name="Shape 25"/>
          <p:cNvSpPr/>
          <p:nvPr/>
        </p:nvSpPr>
        <p:spPr>
          <a:xfrm>
            <a:off x="3222346" y="4800600"/>
            <a:ext cx="201168" cy="0"/>
          </a:xfrm>
          <a:prstGeom prst="line">
            <a:avLst/>
          </a:prstGeom>
          <a:noFill/>
          <a:ln w="19050">
            <a:solidFill>
              <a:srgbClr val="62748E"/>
            </a:solidFill>
            <a:prstDash val="solid"/>
            <a:tailEnd type="triangle"/>
          </a:ln>
        </p:spPr>
      </p:sp>
      <p:sp>
        <p:nvSpPr>
          <p:cNvPr id="35" name="Shape 26"/>
          <p:cNvSpPr/>
          <p:nvPr/>
        </p:nvSpPr>
        <p:spPr>
          <a:xfrm>
            <a:off x="3460090" y="4297680"/>
            <a:ext cx="1080821" cy="1005840"/>
          </a:xfrm>
          <a:prstGeom prst="roundRect">
            <a:avLst>
              <a:gd name="adj" fmla="val 9091"/>
            </a:avLst>
          </a:prstGeom>
          <a:solidFill>
            <a:srgbClr val="F1F5F9"/>
          </a:solidFill>
          <a:ln w="12700">
            <a:solidFill>
              <a:srgbClr val="F1F5F9"/>
            </a:solidFill>
            <a:prstDash val="solid"/>
          </a:ln>
        </p:spPr>
      </p:sp>
      <p:pic>
        <p:nvPicPr>
          <p:cNvPr id="36" name="Image 7" descr="preencoded.png">    </p:cNvPr>
          <p:cNvPicPr>
            <a:picLocks noChangeAspect="1"/>
          </p:cNvPicPr>
          <p:nvPr/>
        </p:nvPicPr>
        <p:blipFill>
          <a:blip r:embed="rId8"/>
          <a:stretch>
            <a:fillRect/>
          </a:stretch>
        </p:blipFill>
        <p:spPr>
          <a:xfrm>
            <a:off x="3854196" y="4425696"/>
            <a:ext cx="292608" cy="292608"/>
          </a:xfrm>
          <a:prstGeom prst="rect">
            <a:avLst/>
          </a:prstGeom>
        </p:spPr>
      </p:pic>
      <p:sp>
        <p:nvSpPr>
          <p:cNvPr id="37" name="Text 27"/>
          <p:cNvSpPr txBox="1"/>
          <p:nvPr/>
        </p:nvSpPr>
        <p:spPr>
          <a:xfrm>
            <a:off x="3514954" y="4773168"/>
            <a:ext cx="971093" cy="47548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Upload the dashboard to S3</a:t>
            </a:r>
            <a:endParaRPr lang="en-US" sz="1050" dirty="0"/>
          </a:p>
        </p:txBody>
      </p:sp>
      <p:sp>
        <p:nvSpPr>
          <p:cNvPr id="38" name="Shape 28"/>
          <p:cNvSpPr/>
          <p:nvPr/>
        </p:nvSpPr>
        <p:spPr>
          <a:xfrm>
            <a:off x="4577486" y="4800600"/>
            <a:ext cx="201168" cy="0"/>
          </a:xfrm>
          <a:prstGeom prst="line">
            <a:avLst/>
          </a:prstGeom>
          <a:noFill/>
          <a:ln w="19050">
            <a:solidFill>
              <a:srgbClr val="62748E"/>
            </a:solidFill>
            <a:prstDash val="solid"/>
            <a:tailEnd type="triangle"/>
          </a:ln>
        </p:spPr>
      </p:sp>
      <p:sp>
        <p:nvSpPr>
          <p:cNvPr id="39" name="Shape 29"/>
          <p:cNvSpPr/>
          <p:nvPr/>
        </p:nvSpPr>
        <p:spPr>
          <a:xfrm>
            <a:off x="4815230" y="4297680"/>
            <a:ext cx="1080821" cy="1005840"/>
          </a:xfrm>
          <a:prstGeom prst="roundRect">
            <a:avLst>
              <a:gd name="adj" fmla="val 9091"/>
            </a:avLst>
          </a:prstGeom>
          <a:solidFill>
            <a:srgbClr val="F1F5F9"/>
          </a:solidFill>
          <a:ln w="12700">
            <a:solidFill>
              <a:srgbClr val="F1F5F9"/>
            </a:solidFill>
            <a:prstDash val="solid"/>
          </a:ln>
        </p:spPr>
      </p:sp>
      <p:pic>
        <p:nvPicPr>
          <p:cNvPr id="40" name="Image 8" descr="preencoded.png">    </p:cNvPr>
          <p:cNvPicPr>
            <a:picLocks noChangeAspect="1"/>
          </p:cNvPicPr>
          <p:nvPr/>
        </p:nvPicPr>
        <p:blipFill>
          <a:blip r:embed="rId9"/>
          <a:stretch>
            <a:fillRect/>
          </a:stretch>
        </p:blipFill>
        <p:spPr>
          <a:xfrm>
            <a:off x="5209337" y="4425696"/>
            <a:ext cx="292608" cy="292608"/>
          </a:xfrm>
          <a:prstGeom prst="rect">
            <a:avLst/>
          </a:prstGeom>
        </p:spPr>
      </p:pic>
      <p:sp>
        <p:nvSpPr>
          <p:cNvPr id="41" name="Text 30"/>
          <p:cNvSpPr txBox="1"/>
          <p:nvPr/>
        </p:nvSpPr>
        <p:spPr>
          <a:xfrm>
            <a:off x="4870094" y="4773168"/>
            <a:ext cx="971093" cy="47548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Clear the CloudFront cache</a:t>
            </a:r>
            <a:endParaRPr lang="en-US" sz="1050" dirty="0"/>
          </a:p>
        </p:txBody>
      </p:sp>
      <p:sp>
        <p:nvSpPr>
          <p:cNvPr id="42" name="Shape 31"/>
          <p:cNvSpPr/>
          <p:nvPr/>
        </p:nvSpPr>
        <p:spPr>
          <a:xfrm>
            <a:off x="5932627" y="4800600"/>
            <a:ext cx="201168" cy="0"/>
          </a:xfrm>
          <a:prstGeom prst="line">
            <a:avLst/>
          </a:prstGeom>
          <a:noFill/>
          <a:ln w="19050">
            <a:solidFill>
              <a:srgbClr val="62748E"/>
            </a:solidFill>
            <a:prstDash val="solid"/>
            <a:tailEnd type="triangle"/>
          </a:ln>
        </p:spPr>
      </p:sp>
      <p:sp>
        <p:nvSpPr>
          <p:cNvPr id="43" name="Shape 32"/>
          <p:cNvSpPr/>
          <p:nvPr/>
        </p:nvSpPr>
        <p:spPr>
          <a:xfrm>
            <a:off x="6170371" y="4297680"/>
            <a:ext cx="1080821" cy="1005840"/>
          </a:xfrm>
          <a:prstGeom prst="roundRect">
            <a:avLst>
              <a:gd name="adj" fmla="val 9091"/>
            </a:avLst>
          </a:prstGeom>
          <a:solidFill>
            <a:srgbClr val="F1F5F9"/>
          </a:solidFill>
          <a:ln w="12700">
            <a:solidFill>
              <a:srgbClr val="F1F5F9"/>
            </a:solidFill>
            <a:prstDash val="solid"/>
          </a:ln>
        </p:spPr>
      </p:sp>
      <p:pic>
        <p:nvPicPr>
          <p:cNvPr id="44" name="Image 9" descr="preencoded.png">    </p:cNvPr>
          <p:cNvPicPr>
            <a:picLocks noChangeAspect="1"/>
          </p:cNvPicPr>
          <p:nvPr/>
        </p:nvPicPr>
        <p:blipFill>
          <a:blip r:embed="rId10"/>
          <a:stretch>
            <a:fillRect/>
          </a:stretch>
        </p:blipFill>
        <p:spPr>
          <a:xfrm>
            <a:off x="6564478" y="4425696"/>
            <a:ext cx="292608" cy="292608"/>
          </a:xfrm>
          <a:prstGeom prst="rect">
            <a:avLst/>
          </a:prstGeom>
        </p:spPr>
      </p:pic>
      <p:sp>
        <p:nvSpPr>
          <p:cNvPr id="45" name="Text 33"/>
          <p:cNvSpPr txBox="1"/>
          <p:nvPr/>
        </p:nvSpPr>
        <p:spPr>
          <a:xfrm>
            <a:off x="6225235" y="4773168"/>
            <a:ext cx="971093" cy="475488"/>
          </a:xfrm>
          <a:prstGeom prst="rect">
            <a:avLst/>
          </a:prstGeom>
          <a:noFill/>
          <a:ln/>
        </p:spPr>
        <p:txBody>
          <a:bodyPr wrap="square" lIns="0" tIns="0" rIns="0" bIns="0" rtlCol="0" anchor="t"/>
          <a:lstStyle/>
          <a:p>
            <a:pPr algn="ctr" indent="0" marL="0">
              <a:buNone/>
            </a:pPr>
            <a:r>
              <a:rPr lang="en-US" sz="1050" b="1" dirty="0">
                <a:solidFill>
                  <a:srgbClr val="020618"/>
                </a:solidFill>
                <a:latin typeface="DM Sans" pitchFamily="34" charset="0"/>
                <a:ea typeface="DM Sans" pitchFamily="34" charset="-122"/>
                <a:cs typeface="DM Sans" pitchFamily="34" charset="-120"/>
              </a:rPr>
              <a:t>Check the API's health</a:t>
            </a:r>
            <a:endParaRPr lang="en-US" sz="1050" dirty="0"/>
          </a:p>
        </p:txBody>
      </p:sp>
      <p:sp>
        <p:nvSpPr>
          <p:cNvPr id="46" name="Shape 34"/>
          <p:cNvSpPr/>
          <p:nvPr/>
        </p:nvSpPr>
        <p:spPr>
          <a:xfrm>
            <a:off x="548640" y="5715000"/>
            <a:ext cx="6903720" cy="731520"/>
          </a:xfrm>
          <a:prstGeom prst="roundRect">
            <a:avLst>
              <a:gd name="adj" fmla="val 17500"/>
            </a:avLst>
          </a:prstGeom>
          <a:solidFill>
            <a:srgbClr val="FFFFFF"/>
          </a:solidFill>
          <a:ln w="9525">
            <a:solidFill>
              <a:srgbClr val="E2E8F0"/>
            </a:solidFill>
            <a:prstDash val="solid"/>
          </a:ln>
        </p:spPr>
      </p:sp>
      <p:sp>
        <p:nvSpPr>
          <p:cNvPr id="47" name="Shape 35"/>
          <p:cNvSpPr/>
          <p:nvPr/>
        </p:nvSpPr>
        <p:spPr>
          <a:xfrm>
            <a:off x="731520" y="5861304"/>
            <a:ext cx="438912" cy="438912"/>
          </a:xfrm>
          <a:prstGeom prst="ellipse">
            <a:avLst/>
          </a:prstGeom>
          <a:solidFill>
            <a:srgbClr val="F9B73F"/>
          </a:solidFill>
          <a:ln w="12700">
            <a:solidFill>
              <a:srgbClr val="F9B73F"/>
            </a:solidFill>
            <a:prstDash val="solid"/>
          </a:ln>
        </p:spPr>
      </p:sp>
      <p:pic>
        <p:nvPicPr>
          <p:cNvPr id="48" name="Image 10" descr="preencoded.png">    </p:cNvPr>
          <p:cNvPicPr>
            <a:picLocks noChangeAspect="1"/>
          </p:cNvPicPr>
          <p:nvPr/>
        </p:nvPicPr>
        <p:blipFill>
          <a:blip r:embed="rId11"/>
          <a:stretch>
            <a:fillRect/>
          </a:stretch>
        </p:blipFill>
        <p:spPr>
          <a:xfrm>
            <a:off x="841248" y="5971032"/>
            <a:ext cx="219456" cy="219456"/>
          </a:xfrm>
          <a:prstGeom prst="rect">
            <a:avLst/>
          </a:prstGeom>
        </p:spPr>
      </p:pic>
      <p:sp>
        <p:nvSpPr>
          <p:cNvPr id="49" name="Text 36"/>
          <p:cNvSpPr txBox="1"/>
          <p:nvPr/>
        </p:nvSpPr>
        <p:spPr>
          <a:xfrm>
            <a:off x="1298448" y="5715000"/>
            <a:ext cx="5989320" cy="731520"/>
          </a:xfrm>
          <a:prstGeom prst="rect">
            <a:avLst/>
          </a:prstGeom>
          <a:noFill/>
          <a:ln/>
        </p:spPr>
        <p:txBody>
          <a:bodyPr wrap="square" lIns="0" tIns="0" rIns="0" bIns="0" rtlCol="0" anchor="ctr"/>
          <a:lstStyle/>
          <a:p>
            <a:pPr indent="0" marL="0">
              <a:buNone/>
            </a:pPr>
            <a:r>
              <a:rPr lang="en-US" sz="1100" b="1" dirty="0">
                <a:solidFill>
                  <a:srgbClr val="020618"/>
                </a:solidFill>
                <a:latin typeface="DM Sans" pitchFamily="34" charset="0"/>
                <a:ea typeface="DM Sans" pitchFamily="34" charset="-122"/>
                <a:cs typeface="DM Sans" pitchFamily="34" charset="-120"/>
              </a:rPr>
              <a:t>No stored AWS keys. </a:t>
            </a:r>
            <a:pPr indent="0" marL="0">
              <a:buNone/>
            </a:pPr>
            <a:r>
              <a:rPr lang="en-US" sz="1100" dirty="0">
                <a:solidFill>
                  <a:srgbClr val="62748E"/>
                </a:solidFill>
                <a:latin typeface="DM Sans" pitchFamily="34" charset="0"/>
                <a:ea typeface="DM Sans" pitchFamily="34" charset="-122"/>
                <a:cs typeface="DM Sans" pitchFamily="34" charset="-120"/>
              </a:rPr>
              <a:t>GitHub gets a short-lived token (OIDC) to use the github-actions-campuspulse role, and only the main branch can use it.</a:t>
            </a:r>
            <a:endParaRPr lang="en-US" sz="1100" dirty="0"/>
          </a:p>
        </p:txBody>
      </p:sp>
      <p:sp>
        <p:nvSpPr>
          <p:cNvPr id="50" name="Shape 37"/>
          <p:cNvSpPr/>
          <p:nvPr/>
        </p:nvSpPr>
        <p:spPr>
          <a:xfrm>
            <a:off x="7726680" y="1508760"/>
            <a:ext cx="3913632" cy="4937760"/>
          </a:xfrm>
          <a:prstGeom prst="roundRect">
            <a:avLst>
              <a:gd name="adj" fmla="val 373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1" name="Text 38"/>
          <p:cNvSpPr txBox="1"/>
          <p:nvPr/>
        </p:nvSpPr>
        <p:spPr>
          <a:xfrm>
            <a:off x="7909560" y="1618488"/>
            <a:ext cx="3547872"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deploy.yml: runs on push to main, signs in with OIDC</a:t>
            </a:r>
            <a:endParaRPr lang="en-US" sz="1050" dirty="0"/>
          </a:p>
        </p:txBody>
      </p:sp>
      <p:pic>
        <p:nvPicPr>
          <p:cNvPr id="52" name="Image 11" descr="workflow.png">    </p:cNvPr>
          <p:cNvPicPr>
            <a:picLocks noChangeAspect="1"/>
          </p:cNvPicPr>
          <p:nvPr/>
        </p:nvPicPr>
        <p:blipFill>
          <a:blip r:embed="rId12"/>
          <a:stretch>
            <a:fillRect/>
          </a:stretch>
        </p:blipFill>
        <p:spPr>
          <a:xfrm>
            <a:off x="7778640" y="1938528"/>
            <a:ext cx="3809712" cy="43708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CI/CD</dc:title>
  <dc:subject>PptxGenJS Presentation</dc:subject>
  <dc:creator>PptxGenJS</dc:creator>
  <cp:lastModifiedBy>PptxGenJS</cp:lastModifiedBy>
  <cp:revision>1</cp:revision>
  <dcterms:created xsi:type="dcterms:W3CDTF">2026-09-19T10:14:22Z</dcterms:created>
  <dcterms:modified xsi:type="dcterms:W3CDTF">2026-09-19T10:14:22Z</dcterms:modified>
</cp:coreProperties>
</file>