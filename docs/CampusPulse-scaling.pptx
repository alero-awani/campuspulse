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case of scaling, if there's a spike in traffic, Lambda handles it by running more copies of our function at the same time: each incoming request gets its own copy, and when the traffic drops, the extra copies disappear. Because our function keeps nothing in memory between requests, any copy can handle any request, and since it's one small compiled Go program, a new copy starts in well under a second. Right now our account allows 10 copies at once, which is AWS's default for new accounts and can be raised to 1,000 for free. The other services are managed by AWS and scale on their own: API Gateway, which we cap at 20 requests per second; DynamoDB in on-demand mode; CloudFront from its edge locations; and Cognito.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image" Target="../media/image-1-22.png"/><Relationship Id="rId23" Type="http://schemas.openxmlformats.org/officeDocument/2006/relationships/image" Target="../media/image-1-23.png"/><Relationship Id="rId24" Type="http://schemas.openxmlformats.org/officeDocument/2006/relationships/image" Target="../media/image-1-24.png"/><Relationship Id="rId25" Type="http://schemas.openxmlformats.org/officeDocument/2006/relationships/image" Target="../media/image-1-25.png"/><Relationship Id="rId26" Type="http://schemas.openxmlformats.org/officeDocument/2006/relationships/image" Target="../media/image-1-26.png"/><Relationship Id="rId27" Type="http://schemas.openxmlformats.org/officeDocument/2006/relationships/image" Target="../media/image-1-27.png"/><Relationship Id="rId28" Type="http://schemas.openxmlformats.org/officeDocument/2006/relationships/image" Target="../media/image-1-28.png"/><Relationship Id="rId29" Type="http://schemas.openxmlformats.org/officeDocument/2006/relationships/image" Target="../media/image-1-29.png"/><Relationship Id="rId30" Type="http://schemas.openxmlformats.org/officeDocument/2006/relationships/image" Target="../media/image-1-30.png"/><Relationship Id="rId31" Type="http://schemas.openxmlformats.org/officeDocument/2006/relationships/image" Target="../media/image-1-31.png"/><Relationship Id="rId32" Type="http://schemas.openxmlformats.org/officeDocument/2006/relationships/image" Target="../media/image-1-32.png"/><Relationship Id="rId33" Type="http://schemas.openxmlformats.org/officeDocument/2006/relationships/image" Target="../media/image-1-33.png"/><Relationship Id="rId34" Type="http://schemas.openxmlformats.org/officeDocument/2006/relationships/image" Target="../media/image-1-34.png"/><Relationship Id="rId35" Type="http://schemas.openxmlformats.org/officeDocument/2006/relationships/image" Target="../media/image-1-35.png"/><Relationship Id="rId36" Type="http://schemas.openxmlformats.org/officeDocument/2006/relationships/slideLayout" Target="../slideLayouts/slideLayout1.xml"/><Relationship Id="rId3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400" b="1" dirty="0">
                <a:solidFill>
                  <a:srgbClr val="020618"/>
                </a:solidFill>
                <a:latin typeface="Space Grotesk" pitchFamily="34" charset="0"/>
                <a:ea typeface="Space Grotesk" pitchFamily="34" charset="-122"/>
                <a:cs typeface="Space Grotesk" pitchFamily="34" charset="-120"/>
              </a:rPr>
              <a:t>Scaling</a:t>
            </a:r>
            <a:endParaRPr lang="en-US" sz="34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2748E"/>
                </a:solidFill>
                <a:latin typeface="DM Sans" pitchFamily="34" charset="0"/>
                <a:ea typeface="DM Sans" pitchFamily="34" charset="-122"/>
                <a:cs typeface="DM Sans" pitchFamily="34" charset="-120"/>
              </a:rPr>
              <a:t>Every service scales automatically. We only set limits, to protect the backend and our costs.</a:t>
            </a:r>
            <a:endParaRPr lang="en-US" sz="1400" dirty="0"/>
          </a:p>
        </p:txBody>
      </p:sp>
      <p:sp>
        <p:nvSpPr>
          <p:cNvPr id="4" name="Shape 2"/>
          <p:cNvSpPr/>
          <p:nvPr/>
        </p:nvSpPr>
        <p:spPr>
          <a:xfrm>
            <a:off x="548640" y="1508760"/>
            <a:ext cx="11091672" cy="2651760"/>
          </a:xfrm>
          <a:prstGeom prst="roundRect">
            <a:avLst>
              <a:gd name="adj" fmla="val 5517"/>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5" name="Shape 3"/>
          <p:cNvSpPr/>
          <p:nvPr/>
        </p:nvSpPr>
        <p:spPr>
          <a:xfrm>
            <a:off x="749808" y="1691640"/>
            <a:ext cx="420624" cy="420624"/>
          </a:xfrm>
          <a:prstGeom prst="ellipse">
            <a:avLst/>
          </a:prstGeom>
          <a:solidFill>
            <a:srgbClr val="F9B73F"/>
          </a:solidFill>
          <a:ln w="12700">
            <a:solidFill>
              <a:srgbClr val="F9B73F"/>
            </a:solidFill>
            <a:prstDash val="solid"/>
          </a:ln>
        </p:spPr>
      </p:sp>
      <p:pic>
        <p:nvPicPr>
          <p:cNvPr id="6" name="Image 0" descr="preencoded.png">    </p:cNvPr>
          <p:cNvPicPr>
            <a:picLocks noChangeAspect="1"/>
          </p:cNvPicPr>
          <p:nvPr/>
        </p:nvPicPr>
        <p:blipFill>
          <a:blip r:embed="rId1"/>
          <a:stretch>
            <a:fillRect/>
          </a:stretch>
        </p:blipFill>
        <p:spPr>
          <a:xfrm>
            <a:off x="854964" y="1796796"/>
            <a:ext cx="210312" cy="210312"/>
          </a:xfrm>
          <a:prstGeom prst="rect">
            <a:avLst/>
          </a:prstGeom>
        </p:spPr>
      </p:pic>
      <p:sp>
        <p:nvSpPr>
          <p:cNvPr id="7" name="Text 4"/>
          <p:cNvSpPr txBox="1"/>
          <p:nvPr/>
        </p:nvSpPr>
        <p:spPr>
          <a:xfrm>
            <a:off x="1298448" y="1691640"/>
            <a:ext cx="6400800" cy="420624"/>
          </a:xfrm>
          <a:prstGeom prst="rect">
            <a:avLst/>
          </a:prstGeom>
          <a:noFill/>
          <a:ln/>
        </p:spPr>
        <p:txBody>
          <a:bodyPr wrap="square" lIns="0" tIns="0" rIns="0" bIns="0" rtlCol="0" anchor="ctr"/>
          <a:lstStyle/>
          <a:p>
            <a:pPr indent="0" marL="0">
              <a:buNone/>
            </a:pPr>
            <a:r>
              <a:rPr lang="en-US" sz="1500" b="1" dirty="0">
                <a:solidFill>
                  <a:srgbClr val="020618"/>
                </a:solidFill>
                <a:latin typeface="Space Grotesk" pitchFamily="34" charset="0"/>
                <a:ea typeface="Space Grotesk" pitchFamily="34" charset="-122"/>
                <a:cs typeface="Space Grotesk" pitchFamily="34" charset="-120"/>
              </a:rPr>
              <a:t>Lambda: one copy of our function per request</a:t>
            </a:r>
            <a:endParaRPr lang="en-US" sz="1500" dirty="0"/>
          </a:p>
        </p:txBody>
      </p:sp>
      <p:sp>
        <p:nvSpPr>
          <p:cNvPr id="8" name="Shape 5"/>
          <p:cNvSpPr/>
          <p:nvPr/>
        </p:nvSpPr>
        <p:spPr>
          <a:xfrm>
            <a:off x="749808" y="2286000"/>
            <a:ext cx="2103120" cy="1691640"/>
          </a:xfrm>
          <a:prstGeom prst="roundRect">
            <a:avLst>
              <a:gd name="adj" fmla="val 6486"/>
            </a:avLst>
          </a:prstGeom>
          <a:solidFill>
            <a:srgbClr val="F1F5F9"/>
          </a:solidFill>
          <a:ln w="12700">
            <a:solidFill>
              <a:srgbClr val="F1F5F9"/>
            </a:solidFill>
            <a:prstDash val="solid"/>
          </a:ln>
        </p:spPr>
      </p:sp>
      <p:sp>
        <p:nvSpPr>
          <p:cNvPr id="9" name="Text 6"/>
          <p:cNvSpPr txBox="1"/>
          <p:nvPr/>
        </p:nvSpPr>
        <p:spPr>
          <a:xfrm>
            <a:off x="886968" y="2377440"/>
            <a:ext cx="1828800" cy="256032"/>
          </a:xfrm>
          <a:prstGeom prst="rect">
            <a:avLst/>
          </a:prstGeom>
          <a:noFill/>
          <a:ln/>
        </p:spPr>
        <p:txBody>
          <a:bodyPr wrap="square" lIns="0" tIns="0" rIns="0" bIns="0" rtlCol="0" anchor="ctr"/>
          <a:lstStyle/>
          <a:p>
            <a:pPr indent="0" marL="0">
              <a:buNone/>
            </a:pPr>
            <a:r>
              <a:rPr lang="en-US" sz="1200" b="1" dirty="0">
                <a:solidFill>
                  <a:srgbClr val="020618"/>
                </a:solidFill>
                <a:latin typeface="DM Sans" pitchFamily="34" charset="0"/>
                <a:ea typeface="DM Sans" pitchFamily="34" charset="-122"/>
                <a:cs typeface="DM Sans" pitchFamily="34" charset="-120"/>
              </a:rPr>
              <a:t>Quiet</a:t>
            </a:r>
            <a:endParaRPr lang="en-US" sz="1200" dirty="0"/>
          </a:p>
        </p:txBody>
      </p:sp>
      <p:sp>
        <p:nvSpPr>
          <p:cNvPr id="10" name="Text 7"/>
          <p:cNvSpPr txBox="1"/>
          <p:nvPr/>
        </p:nvSpPr>
        <p:spPr>
          <a:xfrm>
            <a:off x="886968" y="2615184"/>
            <a:ext cx="1828800" cy="228600"/>
          </a:xfrm>
          <a:prstGeom prst="rect">
            <a:avLst/>
          </a:prstGeom>
          <a:noFill/>
          <a:ln/>
        </p:spPr>
        <p:txBody>
          <a:bodyPr wrap="square" lIns="0" tIns="0" rIns="0" bIns="0" rtlCol="0" anchor="ctr"/>
          <a:lstStyle/>
          <a:p>
            <a:pPr indent="0" marL="0">
              <a:buNone/>
            </a:pPr>
            <a:r>
              <a:rPr lang="en-US" sz="1000" dirty="0">
                <a:solidFill>
                  <a:srgbClr val="62748E"/>
                </a:solidFill>
                <a:latin typeface="DM Sans" pitchFamily="34" charset="0"/>
                <a:ea typeface="DM Sans" pitchFamily="34" charset="-122"/>
                <a:cs typeface="DM Sans" pitchFamily="34" charset="-120"/>
              </a:rPr>
              <a:t>a few requests</a:t>
            </a:r>
            <a:endParaRPr lang="en-US" sz="1000" dirty="0"/>
          </a:p>
        </p:txBody>
      </p:sp>
      <p:sp>
        <p:nvSpPr>
          <p:cNvPr id="11" name="Shape 8"/>
          <p:cNvSpPr/>
          <p:nvPr/>
        </p:nvSpPr>
        <p:spPr>
          <a:xfrm>
            <a:off x="923544" y="2944368"/>
            <a:ext cx="292608" cy="292608"/>
          </a:xfrm>
          <a:prstGeom prst="ellipse">
            <a:avLst/>
          </a:prstGeom>
          <a:solidFill>
            <a:srgbClr val="F9B73F"/>
          </a:solidFill>
          <a:ln w="9525">
            <a:solidFill>
              <a:srgbClr val="F9B73F"/>
            </a:solidFill>
            <a:prstDash val="solid"/>
          </a:ln>
        </p:spPr>
      </p:sp>
      <p:pic>
        <p:nvPicPr>
          <p:cNvPr id="12" name="Image 1" descr="preencoded.png">    </p:cNvPr>
          <p:cNvPicPr>
            <a:picLocks noChangeAspect="1"/>
          </p:cNvPicPr>
          <p:nvPr/>
        </p:nvPicPr>
        <p:blipFill>
          <a:blip r:embed="rId2"/>
          <a:stretch>
            <a:fillRect/>
          </a:stretch>
        </p:blipFill>
        <p:spPr>
          <a:xfrm>
            <a:off x="987552" y="3008376"/>
            <a:ext cx="164592" cy="164592"/>
          </a:xfrm>
          <a:prstGeom prst="rect">
            <a:avLst/>
          </a:prstGeom>
        </p:spPr>
      </p:pic>
      <p:sp>
        <p:nvSpPr>
          <p:cNvPr id="13" name="Shape 9"/>
          <p:cNvSpPr/>
          <p:nvPr/>
        </p:nvSpPr>
        <p:spPr>
          <a:xfrm>
            <a:off x="1289304" y="2944368"/>
            <a:ext cx="292608" cy="292608"/>
          </a:xfrm>
          <a:prstGeom prst="ellipse">
            <a:avLst/>
          </a:prstGeom>
          <a:solidFill>
            <a:srgbClr val="FFFFFF"/>
          </a:solidFill>
          <a:ln w="9525">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1353312" y="3008376"/>
            <a:ext cx="164592" cy="164592"/>
          </a:xfrm>
          <a:prstGeom prst="rect">
            <a:avLst/>
          </a:prstGeom>
        </p:spPr>
      </p:pic>
      <p:sp>
        <p:nvSpPr>
          <p:cNvPr id="15" name="Shape 10"/>
          <p:cNvSpPr/>
          <p:nvPr/>
        </p:nvSpPr>
        <p:spPr>
          <a:xfrm>
            <a:off x="1655064" y="2944368"/>
            <a:ext cx="292608" cy="292608"/>
          </a:xfrm>
          <a:prstGeom prst="ellipse">
            <a:avLst/>
          </a:prstGeom>
          <a:solidFill>
            <a:srgbClr val="FFFFFF"/>
          </a:solidFill>
          <a:ln w="9525">
            <a:solidFill>
              <a:srgbClr val="E2E8F0"/>
            </a:solidFill>
            <a:prstDash val="solid"/>
          </a:ln>
        </p:spPr>
      </p:sp>
      <p:pic>
        <p:nvPicPr>
          <p:cNvPr id="16" name="Image 3" descr="preencoded.png">    </p:cNvPr>
          <p:cNvPicPr>
            <a:picLocks noChangeAspect="1"/>
          </p:cNvPicPr>
          <p:nvPr/>
        </p:nvPicPr>
        <p:blipFill>
          <a:blip r:embed="rId4"/>
          <a:stretch>
            <a:fillRect/>
          </a:stretch>
        </p:blipFill>
        <p:spPr>
          <a:xfrm>
            <a:off x="1719072" y="3008376"/>
            <a:ext cx="164592" cy="164592"/>
          </a:xfrm>
          <a:prstGeom prst="rect">
            <a:avLst/>
          </a:prstGeom>
        </p:spPr>
      </p:pic>
      <p:sp>
        <p:nvSpPr>
          <p:cNvPr id="17" name="Shape 11"/>
          <p:cNvSpPr/>
          <p:nvPr/>
        </p:nvSpPr>
        <p:spPr>
          <a:xfrm>
            <a:off x="2020824" y="2944368"/>
            <a:ext cx="292608" cy="292608"/>
          </a:xfrm>
          <a:prstGeom prst="ellipse">
            <a:avLst/>
          </a:prstGeom>
          <a:solidFill>
            <a:srgbClr val="FFFFFF"/>
          </a:solidFill>
          <a:ln w="9525">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2084832" y="3008376"/>
            <a:ext cx="164592" cy="164592"/>
          </a:xfrm>
          <a:prstGeom prst="rect">
            <a:avLst/>
          </a:prstGeom>
        </p:spPr>
      </p:pic>
      <p:sp>
        <p:nvSpPr>
          <p:cNvPr id="19" name="Shape 12"/>
          <p:cNvSpPr/>
          <p:nvPr/>
        </p:nvSpPr>
        <p:spPr>
          <a:xfrm>
            <a:off x="2386584" y="2944368"/>
            <a:ext cx="292608" cy="292608"/>
          </a:xfrm>
          <a:prstGeom prst="ellipse">
            <a:avLst/>
          </a:prstGeom>
          <a:solidFill>
            <a:srgbClr val="FFFFFF"/>
          </a:solidFill>
          <a:ln w="9525">
            <a:solidFill>
              <a:srgbClr val="E2E8F0"/>
            </a:solidFill>
            <a:prstDash val="solid"/>
          </a:ln>
        </p:spPr>
      </p:sp>
      <p:pic>
        <p:nvPicPr>
          <p:cNvPr id="20" name="Image 5" descr="preencoded.png">    </p:cNvPr>
          <p:cNvPicPr>
            <a:picLocks noChangeAspect="1"/>
          </p:cNvPicPr>
          <p:nvPr/>
        </p:nvPicPr>
        <p:blipFill>
          <a:blip r:embed="rId6"/>
          <a:stretch>
            <a:fillRect/>
          </a:stretch>
        </p:blipFill>
        <p:spPr>
          <a:xfrm>
            <a:off x="2450592" y="3008376"/>
            <a:ext cx="164592" cy="164592"/>
          </a:xfrm>
          <a:prstGeom prst="rect">
            <a:avLst/>
          </a:prstGeom>
        </p:spPr>
      </p:pic>
      <p:sp>
        <p:nvSpPr>
          <p:cNvPr id="21" name="Shape 13"/>
          <p:cNvSpPr/>
          <p:nvPr/>
        </p:nvSpPr>
        <p:spPr>
          <a:xfrm>
            <a:off x="923544" y="3328416"/>
            <a:ext cx="292608" cy="292608"/>
          </a:xfrm>
          <a:prstGeom prst="ellipse">
            <a:avLst/>
          </a:prstGeom>
          <a:solidFill>
            <a:srgbClr val="FFFFFF"/>
          </a:solidFill>
          <a:ln w="9525">
            <a:solidFill>
              <a:srgbClr val="E2E8F0"/>
            </a:solidFill>
            <a:prstDash val="solid"/>
          </a:ln>
        </p:spPr>
      </p:sp>
      <p:pic>
        <p:nvPicPr>
          <p:cNvPr id="22" name="Image 6" descr="preencoded.png">    </p:cNvPr>
          <p:cNvPicPr>
            <a:picLocks noChangeAspect="1"/>
          </p:cNvPicPr>
          <p:nvPr/>
        </p:nvPicPr>
        <p:blipFill>
          <a:blip r:embed="rId7"/>
          <a:stretch>
            <a:fillRect/>
          </a:stretch>
        </p:blipFill>
        <p:spPr>
          <a:xfrm>
            <a:off x="987552" y="3392424"/>
            <a:ext cx="164592" cy="164592"/>
          </a:xfrm>
          <a:prstGeom prst="rect">
            <a:avLst/>
          </a:prstGeom>
        </p:spPr>
      </p:pic>
      <p:sp>
        <p:nvSpPr>
          <p:cNvPr id="23" name="Shape 14"/>
          <p:cNvSpPr/>
          <p:nvPr/>
        </p:nvSpPr>
        <p:spPr>
          <a:xfrm>
            <a:off x="1289304" y="3328416"/>
            <a:ext cx="292608" cy="292608"/>
          </a:xfrm>
          <a:prstGeom prst="ellipse">
            <a:avLst/>
          </a:prstGeom>
          <a:solidFill>
            <a:srgbClr val="FFFFFF"/>
          </a:solidFill>
          <a:ln w="9525">
            <a:solidFill>
              <a:srgbClr val="E2E8F0"/>
            </a:solidFill>
            <a:prstDash val="solid"/>
          </a:ln>
        </p:spPr>
      </p:sp>
      <p:pic>
        <p:nvPicPr>
          <p:cNvPr id="24" name="Image 7" descr="preencoded.png">    </p:cNvPr>
          <p:cNvPicPr>
            <a:picLocks noChangeAspect="1"/>
          </p:cNvPicPr>
          <p:nvPr/>
        </p:nvPicPr>
        <p:blipFill>
          <a:blip r:embed="rId8"/>
          <a:stretch>
            <a:fillRect/>
          </a:stretch>
        </p:blipFill>
        <p:spPr>
          <a:xfrm>
            <a:off x="1353312" y="3392424"/>
            <a:ext cx="164592" cy="164592"/>
          </a:xfrm>
          <a:prstGeom prst="rect">
            <a:avLst/>
          </a:prstGeom>
        </p:spPr>
      </p:pic>
      <p:sp>
        <p:nvSpPr>
          <p:cNvPr id="25" name="Shape 15"/>
          <p:cNvSpPr/>
          <p:nvPr/>
        </p:nvSpPr>
        <p:spPr>
          <a:xfrm>
            <a:off x="1655064" y="3328416"/>
            <a:ext cx="292608" cy="292608"/>
          </a:xfrm>
          <a:prstGeom prst="ellipse">
            <a:avLst/>
          </a:prstGeom>
          <a:solidFill>
            <a:srgbClr val="FFFFFF"/>
          </a:solidFill>
          <a:ln w="9525">
            <a:solidFill>
              <a:srgbClr val="E2E8F0"/>
            </a:solidFill>
            <a:prstDash val="solid"/>
          </a:ln>
        </p:spPr>
      </p:sp>
      <p:pic>
        <p:nvPicPr>
          <p:cNvPr id="26" name="Image 8" descr="preencoded.png">    </p:cNvPr>
          <p:cNvPicPr>
            <a:picLocks noChangeAspect="1"/>
          </p:cNvPicPr>
          <p:nvPr/>
        </p:nvPicPr>
        <p:blipFill>
          <a:blip r:embed="rId9"/>
          <a:stretch>
            <a:fillRect/>
          </a:stretch>
        </p:blipFill>
        <p:spPr>
          <a:xfrm>
            <a:off x="1719072" y="3392424"/>
            <a:ext cx="164592" cy="164592"/>
          </a:xfrm>
          <a:prstGeom prst="rect">
            <a:avLst/>
          </a:prstGeom>
        </p:spPr>
      </p:pic>
      <p:sp>
        <p:nvSpPr>
          <p:cNvPr id="27" name="Shape 16"/>
          <p:cNvSpPr/>
          <p:nvPr/>
        </p:nvSpPr>
        <p:spPr>
          <a:xfrm>
            <a:off x="2020824" y="3328416"/>
            <a:ext cx="292608" cy="292608"/>
          </a:xfrm>
          <a:prstGeom prst="ellipse">
            <a:avLst/>
          </a:prstGeom>
          <a:solidFill>
            <a:srgbClr val="FFFFFF"/>
          </a:solidFill>
          <a:ln w="9525">
            <a:solidFill>
              <a:srgbClr val="E2E8F0"/>
            </a:solidFill>
            <a:prstDash val="solid"/>
          </a:ln>
        </p:spPr>
      </p:sp>
      <p:pic>
        <p:nvPicPr>
          <p:cNvPr id="28" name="Image 9" descr="preencoded.png">    </p:cNvPr>
          <p:cNvPicPr>
            <a:picLocks noChangeAspect="1"/>
          </p:cNvPicPr>
          <p:nvPr/>
        </p:nvPicPr>
        <p:blipFill>
          <a:blip r:embed="rId10"/>
          <a:stretch>
            <a:fillRect/>
          </a:stretch>
        </p:blipFill>
        <p:spPr>
          <a:xfrm>
            <a:off x="2084832" y="3392424"/>
            <a:ext cx="164592" cy="164592"/>
          </a:xfrm>
          <a:prstGeom prst="rect">
            <a:avLst/>
          </a:prstGeom>
        </p:spPr>
      </p:pic>
      <p:sp>
        <p:nvSpPr>
          <p:cNvPr id="29" name="Shape 17"/>
          <p:cNvSpPr/>
          <p:nvPr/>
        </p:nvSpPr>
        <p:spPr>
          <a:xfrm>
            <a:off x="2386584" y="3328416"/>
            <a:ext cx="292608" cy="292608"/>
          </a:xfrm>
          <a:prstGeom prst="ellipse">
            <a:avLst/>
          </a:prstGeom>
          <a:solidFill>
            <a:srgbClr val="FFFFFF"/>
          </a:solidFill>
          <a:ln w="9525">
            <a:solidFill>
              <a:srgbClr val="E2E8F0"/>
            </a:solidFill>
            <a:prstDash val="solid"/>
          </a:ln>
        </p:spPr>
      </p:sp>
      <p:pic>
        <p:nvPicPr>
          <p:cNvPr id="30" name="Image 10" descr="preencoded.png">    </p:cNvPr>
          <p:cNvPicPr>
            <a:picLocks noChangeAspect="1"/>
          </p:cNvPicPr>
          <p:nvPr/>
        </p:nvPicPr>
        <p:blipFill>
          <a:blip r:embed="rId11"/>
          <a:stretch>
            <a:fillRect/>
          </a:stretch>
        </p:blipFill>
        <p:spPr>
          <a:xfrm>
            <a:off x="2450592" y="3392424"/>
            <a:ext cx="164592" cy="164592"/>
          </a:xfrm>
          <a:prstGeom prst="rect">
            <a:avLst/>
          </a:prstGeom>
        </p:spPr>
      </p:pic>
      <p:sp>
        <p:nvSpPr>
          <p:cNvPr id="31" name="Text 18"/>
          <p:cNvSpPr txBox="1"/>
          <p:nvPr/>
        </p:nvSpPr>
        <p:spPr>
          <a:xfrm>
            <a:off x="886968" y="3630168"/>
            <a:ext cx="1828800" cy="256032"/>
          </a:xfrm>
          <a:prstGeom prst="rect">
            <a:avLst/>
          </a:prstGeom>
          <a:noFill/>
          <a:ln/>
        </p:spPr>
        <p:txBody>
          <a:bodyPr wrap="square" lIns="0" tIns="0" rIns="0" bIns="0" rtlCol="0" anchor="ctr"/>
          <a:lstStyle/>
          <a:p>
            <a:pPr indent="0" marL="0">
              <a:buNone/>
            </a:pPr>
            <a:r>
              <a:rPr lang="en-US" sz="1050" b="1" dirty="0">
                <a:solidFill>
                  <a:srgbClr val="020618"/>
                </a:solidFill>
                <a:latin typeface="DM Sans" pitchFamily="34" charset="0"/>
                <a:ea typeface="DM Sans" pitchFamily="34" charset="-122"/>
                <a:cs typeface="DM Sans" pitchFamily="34" charset="-120"/>
              </a:rPr>
              <a:t>1 copy running</a:t>
            </a:r>
            <a:endParaRPr lang="en-US" sz="1050" dirty="0"/>
          </a:p>
        </p:txBody>
      </p:sp>
      <p:sp>
        <p:nvSpPr>
          <p:cNvPr id="32" name="Shape 19"/>
          <p:cNvSpPr/>
          <p:nvPr/>
        </p:nvSpPr>
        <p:spPr>
          <a:xfrm>
            <a:off x="2907792" y="3131820"/>
            <a:ext cx="274320" cy="0"/>
          </a:xfrm>
          <a:prstGeom prst="line">
            <a:avLst/>
          </a:prstGeom>
          <a:noFill/>
          <a:ln w="22225">
            <a:solidFill>
              <a:srgbClr val="62748E"/>
            </a:solidFill>
            <a:prstDash val="solid"/>
            <a:tailEnd type="triangle"/>
          </a:ln>
        </p:spPr>
      </p:sp>
      <p:sp>
        <p:nvSpPr>
          <p:cNvPr id="33" name="Shape 20"/>
          <p:cNvSpPr/>
          <p:nvPr/>
        </p:nvSpPr>
        <p:spPr>
          <a:xfrm>
            <a:off x="3236976" y="2286000"/>
            <a:ext cx="2103120" cy="1691640"/>
          </a:xfrm>
          <a:prstGeom prst="roundRect">
            <a:avLst>
              <a:gd name="adj" fmla="val 6486"/>
            </a:avLst>
          </a:prstGeom>
          <a:solidFill>
            <a:srgbClr val="F1F5F9"/>
          </a:solidFill>
          <a:ln w="12700">
            <a:solidFill>
              <a:srgbClr val="F1F5F9"/>
            </a:solidFill>
            <a:prstDash val="solid"/>
          </a:ln>
        </p:spPr>
      </p:sp>
      <p:sp>
        <p:nvSpPr>
          <p:cNvPr id="34" name="Text 21"/>
          <p:cNvSpPr txBox="1"/>
          <p:nvPr/>
        </p:nvSpPr>
        <p:spPr>
          <a:xfrm>
            <a:off x="3374136" y="2377440"/>
            <a:ext cx="1828800" cy="256032"/>
          </a:xfrm>
          <a:prstGeom prst="rect">
            <a:avLst/>
          </a:prstGeom>
          <a:noFill/>
          <a:ln/>
        </p:spPr>
        <p:txBody>
          <a:bodyPr wrap="square" lIns="0" tIns="0" rIns="0" bIns="0" rtlCol="0" anchor="ctr"/>
          <a:lstStyle/>
          <a:p>
            <a:pPr indent="0" marL="0">
              <a:buNone/>
            </a:pPr>
            <a:r>
              <a:rPr lang="en-US" sz="1200" b="1" dirty="0">
                <a:solidFill>
                  <a:srgbClr val="020618"/>
                </a:solidFill>
                <a:latin typeface="DM Sans" pitchFamily="34" charset="0"/>
                <a:ea typeface="DM Sans" pitchFamily="34" charset="-122"/>
                <a:cs typeface="DM Sans" pitchFamily="34" charset="-120"/>
              </a:rPr>
              <a:t>Traffic spike</a:t>
            </a:r>
            <a:endParaRPr lang="en-US" sz="1200" dirty="0"/>
          </a:p>
        </p:txBody>
      </p:sp>
      <p:sp>
        <p:nvSpPr>
          <p:cNvPr id="35" name="Text 22"/>
          <p:cNvSpPr txBox="1"/>
          <p:nvPr/>
        </p:nvSpPr>
        <p:spPr>
          <a:xfrm>
            <a:off x="3374136" y="2615184"/>
            <a:ext cx="1828800" cy="228600"/>
          </a:xfrm>
          <a:prstGeom prst="rect">
            <a:avLst/>
          </a:prstGeom>
          <a:noFill/>
          <a:ln/>
        </p:spPr>
        <p:txBody>
          <a:bodyPr wrap="square" lIns="0" tIns="0" rIns="0" bIns="0" rtlCol="0" anchor="ctr"/>
          <a:lstStyle/>
          <a:p>
            <a:pPr indent="0" marL="0">
              <a:buNone/>
            </a:pPr>
            <a:r>
              <a:rPr lang="en-US" sz="1000" dirty="0">
                <a:solidFill>
                  <a:srgbClr val="62748E"/>
                </a:solidFill>
                <a:latin typeface="DM Sans" pitchFamily="34" charset="0"/>
                <a:ea typeface="DM Sans" pitchFamily="34" charset="-122"/>
                <a:cs typeface="DM Sans" pitchFamily="34" charset="-120"/>
              </a:rPr>
              <a:t>many requests at once</a:t>
            </a:r>
            <a:endParaRPr lang="en-US" sz="1000" dirty="0"/>
          </a:p>
        </p:txBody>
      </p:sp>
      <p:sp>
        <p:nvSpPr>
          <p:cNvPr id="36" name="Shape 23"/>
          <p:cNvSpPr/>
          <p:nvPr/>
        </p:nvSpPr>
        <p:spPr>
          <a:xfrm>
            <a:off x="3410712" y="2944368"/>
            <a:ext cx="292608" cy="292608"/>
          </a:xfrm>
          <a:prstGeom prst="ellipse">
            <a:avLst/>
          </a:prstGeom>
          <a:solidFill>
            <a:srgbClr val="F9B73F"/>
          </a:solidFill>
          <a:ln w="9525">
            <a:solidFill>
              <a:srgbClr val="F9B73F"/>
            </a:solidFill>
            <a:prstDash val="solid"/>
          </a:ln>
        </p:spPr>
      </p:sp>
      <p:pic>
        <p:nvPicPr>
          <p:cNvPr id="37" name="Image 11" descr="preencoded.png">    </p:cNvPr>
          <p:cNvPicPr>
            <a:picLocks noChangeAspect="1"/>
          </p:cNvPicPr>
          <p:nvPr/>
        </p:nvPicPr>
        <p:blipFill>
          <a:blip r:embed="rId12"/>
          <a:stretch>
            <a:fillRect/>
          </a:stretch>
        </p:blipFill>
        <p:spPr>
          <a:xfrm>
            <a:off x="3474720" y="3008376"/>
            <a:ext cx="164592" cy="164592"/>
          </a:xfrm>
          <a:prstGeom prst="rect">
            <a:avLst/>
          </a:prstGeom>
        </p:spPr>
      </p:pic>
      <p:sp>
        <p:nvSpPr>
          <p:cNvPr id="38" name="Shape 24"/>
          <p:cNvSpPr/>
          <p:nvPr/>
        </p:nvSpPr>
        <p:spPr>
          <a:xfrm>
            <a:off x="3776472" y="2944368"/>
            <a:ext cx="292608" cy="292608"/>
          </a:xfrm>
          <a:prstGeom prst="ellipse">
            <a:avLst/>
          </a:prstGeom>
          <a:solidFill>
            <a:srgbClr val="F9B73F"/>
          </a:solidFill>
          <a:ln w="9525">
            <a:solidFill>
              <a:srgbClr val="F9B73F"/>
            </a:solidFill>
            <a:prstDash val="solid"/>
          </a:ln>
        </p:spPr>
      </p:sp>
      <p:pic>
        <p:nvPicPr>
          <p:cNvPr id="39" name="Image 12" descr="preencoded.png">    </p:cNvPr>
          <p:cNvPicPr>
            <a:picLocks noChangeAspect="1"/>
          </p:cNvPicPr>
          <p:nvPr/>
        </p:nvPicPr>
        <p:blipFill>
          <a:blip r:embed="rId13"/>
          <a:stretch>
            <a:fillRect/>
          </a:stretch>
        </p:blipFill>
        <p:spPr>
          <a:xfrm>
            <a:off x="3840480" y="3008376"/>
            <a:ext cx="164592" cy="164592"/>
          </a:xfrm>
          <a:prstGeom prst="rect">
            <a:avLst/>
          </a:prstGeom>
        </p:spPr>
      </p:pic>
      <p:sp>
        <p:nvSpPr>
          <p:cNvPr id="40" name="Shape 25"/>
          <p:cNvSpPr/>
          <p:nvPr/>
        </p:nvSpPr>
        <p:spPr>
          <a:xfrm>
            <a:off x="4142232" y="2944368"/>
            <a:ext cx="292608" cy="292608"/>
          </a:xfrm>
          <a:prstGeom prst="ellipse">
            <a:avLst/>
          </a:prstGeom>
          <a:solidFill>
            <a:srgbClr val="F9B73F"/>
          </a:solidFill>
          <a:ln w="9525">
            <a:solidFill>
              <a:srgbClr val="F9B73F"/>
            </a:solidFill>
            <a:prstDash val="solid"/>
          </a:ln>
        </p:spPr>
      </p:sp>
      <p:pic>
        <p:nvPicPr>
          <p:cNvPr id="41" name="Image 13" descr="preencoded.png">    </p:cNvPr>
          <p:cNvPicPr>
            <a:picLocks noChangeAspect="1"/>
          </p:cNvPicPr>
          <p:nvPr/>
        </p:nvPicPr>
        <p:blipFill>
          <a:blip r:embed="rId14"/>
          <a:stretch>
            <a:fillRect/>
          </a:stretch>
        </p:blipFill>
        <p:spPr>
          <a:xfrm>
            <a:off x="4206240" y="3008376"/>
            <a:ext cx="164592" cy="164592"/>
          </a:xfrm>
          <a:prstGeom prst="rect">
            <a:avLst/>
          </a:prstGeom>
        </p:spPr>
      </p:pic>
      <p:sp>
        <p:nvSpPr>
          <p:cNvPr id="42" name="Shape 26"/>
          <p:cNvSpPr/>
          <p:nvPr/>
        </p:nvSpPr>
        <p:spPr>
          <a:xfrm>
            <a:off x="4507992" y="2944368"/>
            <a:ext cx="292608" cy="292608"/>
          </a:xfrm>
          <a:prstGeom prst="ellipse">
            <a:avLst/>
          </a:prstGeom>
          <a:solidFill>
            <a:srgbClr val="F9B73F"/>
          </a:solidFill>
          <a:ln w="9525">
            <a:solidFill>
              <a:srgbClr val="F9B73F"/>
            </a:solidFill>
            <a:prstDash val="solid"/>
          </a:ln>
        </p:spPr>
      </p:sp>
      <p:pic>
        <p:nvPicPr>
          <p:cNvPr id="43" name="Image 14" descr="preencoded.png">    </p:cNvPr>
          <p:cNvPicPr>
            <a:picLocks noChangeAspect="1"/>
          </p:cNvPicPr>
          <p:nvPr/>
        </p:nvPicPr>
        <p:blipFill>
          <a:blip r:embed="rId15"/>
          <a:stretch>
            <a:fillRect/>
          </a:stretch>
        </p:blipFill>
        <p:spPr>
          <a:xfrm>
            <a:off x="4572000" y="3008376"/>
            <a:ext cx="164592" cy="164592"/>
          </a:xfrm>
          <a:prstGeom prst="rect">
            <a:avLst/>
          </a:prstGeom>
        </p:spPr>
      </p:pic>
      <p:sp>
        <p:nvSpPr>
          <p:cNvPr id="44" name="Shape 27"/>
          <p:cNvSpPr/>
          <p:nvPr/>
        </p:nvSpPr>
        <p:spPr>
          <a:xfrm>
            <a:off x="4873752" y="2944368"/>
            <a:ext cx="292608" cy="292608"/>
          </a:xfrm>
          <a:prstGeom prst="ellipse">
            <a:avLst/>
          </a:prstGeom>
          <a:solidFill>
            <a:srgbClr val="F9B73F"/>
          </a:solidFill>
          <a:ln w="9525">
            <a:solidFill>
              <a:srgbClr val="F9B73F"/>
            </a:solidFill>
            <a:prstDash val="solid"/>
          </a:ln>
        </p:spPr>
      </p:sp>
      <p:pic>
        <p:nvPicPr>
          <p:cNvPr id="45" name="Image 15" descr="preencoded.png">    </p:cNvPr>
          <p:cNvPicPr>
            <a:picLocks noChangeAspect="1"/>
          </p:cNvPicPr>
          <p:nvPr/>
        </p:nvPicPr>
        <p:blipFill>
          <a:blip r:embed="rId16"/>
          <a:stretch>
            <a:fillRect/>
          </a:stretch>
        </p:blipFill>
        <p:spPr>
          <a:xfrm>
            <a:off x="4937760" y="3008376"/>
            <a:ext cx="164592" cy="164592"/>
          </a:xfrm>
          <a:prstGeom prst="rect">
            <a:avLst/>
          </a:prstGeom>
        </p:spPr>
      </p:pic>
      <p:sp>
        <p:nvSpPr>
          <p:cNvPr id="46" name="Shape 28"/>
          <p:cNvSpPr/>
          <p:nvPr/>
        </p:nvSpPr>
        <p:spPr>
          <a:xfrm>
            <a:off x="3410712" y="3328416"/>
            <a:ext cx="292608" cy="292608"/>
          </a:xfrm>
          <a:prstGeom prst="ellipse">
            <a:avLst/>
          </a:prstGeom>
          <a:solidFill>
            <a:srgbClr val="F9B73F"/>
          </a:solidFill>
          <a:ln w="9525">
            <a:solidFill>
              <a:srgbClr val="F9B73F"/>
            </a:solidFill>
            <a:prstDash val="solid"/>
          </a:ln>
        </p:spPr>
      </p:sp>
      <p:pic>
        <p:nvPicPr>
          <p:cNvPr id="47" name="Image 16" descr="preencoded.png">    </p:cNvPr>
          <p:cNvPicPr>
            <a:picLocks noChangeAspect="1"/>
          </p:cNvPicPr>
          <p:nvPr/>
        </p:nvPicPr>
        <p:blipFill>
          <a:blip r:embed="rId17"/>
          <a:stretch>
            <a:fillRect/>
          </a:stretch>
        </p:blipFill>
        <p:spPr>
          <a:xfrm>
            <a:off x="3474720" y="3392424"/>
            <a:ext cx="164592" cy="164592"/>
          </a:xfrm>
          <a:prstGeom prst="rect">
            <a:avLst/>
          </a:prstGeom>
        </p:spPr>
      </p:pic>
      <p:sp>
        <p:nvSpPr>
          <p:cNvPr id="48" name="Shape 29"/>
          <p:cNvSpPr/>
          <p:nvPr/>
        </p:nvSpPr>
        <p:spPr>
          <a:xfrm>
            <a:off x="3776472" y="3328416"/>
            <a:ext cx="292608" cy="292608"/>
          </a:xfrm>
          <a:prstGeom prst="ellipse">
            <a:avLst/>
          </a:prstGeom>
          <a:solidFill>
            <a:srgbClr val="F9B73F"/>
          </a:solidFill>
          <a:ln w="9525">
            <a:solidFill>
              <a:srgbClr val="F9B73F"/>
            </a:solidFill>
            <a:prstDash val="solid"/>
          </a:ln>
        </p:spPr>
      </p:sp>
      <p:pic>
        <p:nvPicPr>
          <p:cNvPr id="49" name="Image 17" descr="preencoded.png">    </p:cNvPr>
          <p:cNvPicPr>
            <a:picLocks noChangeAspect="1"/>
          </p:cNvPicPr>
          <p:nvPr/>
        </p:nvPicPr>
        <p:blipFill>
          <a:blip r:embed="rId18"/>
          <a:stretch>
            <a:fillRect/>
          </a:stretch>
        </p:blipFill>
        <p:spPr>
          <a:xfrm>
            <a:off x="3840480" y="3392424"/>
            <a:ext cx="164592" cy="164592"/>
          </a:xfrm>
          <a:prstGeom prst="rect">
            <a:avLst/>
          </a:prstGeom>
        </p:spPr>
      </p:pic>
      <p:sp>
        <p:nvSpPr>
          <p:cNvPr id="50" name="Shape 30"/>
          <p:cNvSpPr/>
          <p:nvPr/>
        </p:nvSpPr>
        <p:spPr>
          <a:xfrm>
            <a:off x="4142232" y="3328416"/>
            <a:ext cx="292608" cy="292608"/>
          </a:xfrm>
          <a:prstGeom prst="ellipse">
            <a:avLst/>
          </a:prstGeom>
          <a:solidFill>
            <a:srgbClr val="F9B73F"/>
          </a:solidFill>
          <a:ln w="9525">
            <a:solidFill>
              <a:srgbClr val="F9B73F"/>
            </a:solidFill>
            <a:prstDash val="solid"/>
          </a:ln>
        </p:spPr>
      </p:sp>
      <p:pic>
        <p:nvPicPr>
          <p:cNvPr id="51" name="Image 18" descr="preencoded.png">    </p:cNvPr>
          <p:cNvPicPr>
            <a:picLocks noChangeAspect="1"/>
          </p:cNvPicPr>
          <p:nvPr/>
        </p:nvPicPr>
        <p:blipFill>
          <a:blip r:embed="rId19"/>
          <a:stretch>
            <a:fillRect/>
          </a:stretch>
        </p:blipFill>
        <p:spPr>
          <a:xfrm>
            <a:off x="4206240" y="3392424"/>
            <a:ext cx="164592" cy="164592"/>
          </a:xfrm>
          <a:prstGeom prst="rect">
            <a:avLst/>
          </a:prstGeom>
        </p:spPr>
      </p:pic>
      <p:sp>
        <p:nvSpPr>
          <p:cNvPr id="52" name="Shape 31"/>
          <p:cNvSpPr/>
          <p:nvPr/>
        </p:nvSpPr>
        <p:spPr>
          <a:xfrm>
            <a:off x="4507992" y="3328416"/>
            <a:ext cx="292608" cy="292608"/>
          </a:xfrm>
          <a:prstGeom prst="ellipse">
            <a:avLst/>
          </a:prstGeom>
          <a:solidFill>
            <a:srgbClr val="F9B73F"/>
          </a:solidFill>
          <a:ln w="9525">
            <a:solidFill>
              <a:srgbClr val="F9B73F"/>
            </a:solidFill>
            <a:prstDash val="solid"/>
          </a:ln>
        </p:spPr>
      </p:sp>
      <p:pic>
        <p:nvPicPr>
          <p:cNvPr id="53" name="Image 19" descr="preencoded.png">    </p:cNvPr>
          <p:cNvPicPr>
            <a:picLocks noChangeAspect="1"/>
          </p:cNvPicPr>
          <p:nvPr/>
        </p:nvPicPr>
        <p:blipFill>
          <a:blip r:embed="rId20"/>
          <a:stretch>
            <a:fillRect/>
          </a:stretch>
        </p:blipFill>
        <p:spPr>
          <a:xfrm>
            <a:off x="4572000" y="3392424"/>
            <a:ext cx="164592" cy="164592"/>
          </a:xfrm>
          <a:prstGeom prst="rect">
            <a:avLst/>
          </a:prstGeom>
        </p:spPr>
      </p:pic>
      <p:sp>
        <p:nvSpPr>
          <p:cNvPr id="54" name="Shape 32"/>
          <p:cNvSpPr/>
          <p:nvPr/>
        </p:nvSpPr>
        <p:spPr>
          <a:xfrm>
            <a:off x="4873752" y="3328416"/>
            <a:ext cx="292608" cy="292608"/>
          </a:xfrm>
          <a:prstGeom prst="ellipse">
            <a:avLst/>
          </a:prstGeom>
          <a:solidFill>
            <a:srgbClr val="F9B73F"/>
          </a:solidFill>
          <a:ln w="9525">
            <a:solidFill>
              <a:srgbClr val="F9B73F"/>
            </a:solidFill>
            <a:prstDash val="solid"/>
          </a:ln>
        </p:spPr>
      </p:sp>
      <p:pic>
        <p:nvPicPr>
          <p:cNvPr id="55" name="Image 20" descr="preencoded.png">    </p:cNvPr>
          <p:cNvPicPr>
            <a:picLocks noChangeAspect="1"/>
          </p:cNvPicPr>
          <p:nvPr/>
        </p:nvPicPr>
        <p:blipFill>
          <a:blip r:embed="rId21"/>
          <a:stretch>
            <a:fillRect/>
          </a:stretch>
        </p:blipFill>
        <p:spPr>
          <a:xfrm>
            <a:off x="4937760" y="3392424"/>
            <a:ext cx="164592" cy="164592"/>
          </a:xfrm>
          <a:prstGeom prst="rect">
            <a:avLst/>
          </a:prstGeom>
        </p:spPr>
      </p:pic>
      <p:sp>
        <p:nvSpPr>
          <p:cNvPr id="56" name="Text 33"/>
          <p:cNvSpPr txBox="1"/>
          <p:nvPr/>
        </p:nvSpPr>
        <p:spPr>
          <a:xfrm>
            <a:off x="3374136" y="3630168"/>
            <a:ext cx="1828800" cy="256032"/>
          </a:xfrm>
          <a:prstGeom prst="rect">
            <a:avLst/>
          </a:prstGeom>
          <a:noFill/>
          <a:ln/>
        </p:spPr>
        <p:txBody>
          <a:bodyPr wrap="square" lIns="0" tIns="0" rIns="0" bIns="0" rtlCol="0" anchor="ctr"/>
          <a:lstStyle/>
          <a:p>
            <a:pPr indent="0" marL="0">
              <a:buNone/>
            </a:pPr>
            <a:r>
              <a:rPr lang="en-US" sz="1050" b="1" dirty="0">
                <a:solidFill>
                  <a:srgbClr val="462400"/>
                </a:solidFill>
                <a:latin typeface="DM Sans" pitchFamily="34" charset="0"/>
                <a:ea typeface="DM Sans" pitchFamily="34" charset="-122"/>
                <a:cs typeface="DM Sans" pitchFamily="34" charset="-120"/>
              </a:rPr>
              <a:t>10 copies, our current limit</a:t>
            </a:r>
            <a:endParaRPr lang="en-US" sz="1050" dirty="0"/>
          </a:p>
        </p:txBody>
      </p:sp>
      <p:sp>
        <p:nvSpPr>
          <p:cNvPr id="57" name="Shape 34"/>
          <p:cNvSpPr/>
          <p:nvPr/>
        </p:nvSpPr>
        <p:spPr>
          <a:xfrm>
            <a:off x="5394960" y="3131820"/>
            <a:ext cx="274320" cy="0"/>
          </a:xfrm>
          <a:prstGeom prst="line">
            <a:avLst/>
          </a:prstGeom>
          <a:noFill/>
          <a:ln w="22225">
            <a:solidFill>
              <a:srgbClr val="62748E"/>
            </a:solidFill>
            <a:prstDash val="solid"/>
            <a:tailEnd type="triangle"/>
          </a:ln>
        </p:spPr>
      </p:sp>
      <p:sp>
        <p:nvSpPr>
          <p:cNvPr id="58" name="Shape 35"/>
          <p:cNvSpPr/>
          <p:nvPr/>
        </p:nvSpPr>
        <p:spPr>
          <a:xfrm>
            <a:off x="5724144" y="2286000"/>
            <a:ext cx="2103120" cy="1691640"/>
          </a:xfrm>
          <a:prstGeom prst="roundRect">
            <a:avLst>
              <a:gd name="adj" fmla="val 6486"/>
            </a:avLst>
          </a:prstGeom>
          <a:solidFill>
            <a:srgbClr val="F1F5F9"/>
          </a:solidFill>
          <a:ln w="12700">
            <a:solidFill>
              <a:srgbClr val="F1F5F9"/>
            </a:solidFill>
            <a:prstDash val="solid"/>
          </a:ln>
        </p:spPr>
      </p:sp>
      <p:sp>
        <p:nvSpPr>
          <p:cNvPr id="59" name="Text 36"/>
          <p:cNvSpPr txBox="1"/>
          <p:nvPr/>
        </p:nvSpPr>
        <p:spPr>
          <a:xfrm>
            <a:off x="5861304" y="2377440"/>
            <a:ext cx="1828800" cy="256032"/>
          </a:xfrm>
          <a:prstGeom prst="rect">
            <a:avLst/>
          </a:prstGeom>
          <a:noFill/>
          <a:ln/>
        </p:spPr>
        <p:txBody>
          <a:bodyPr wrap="square" lIns="0" tIns="0" rIns="0" bIns="0" rtlCol="0" anchor="ctr"/>
          <a:lstStyle/>
          <a:p>
            <a:pPr indent="0" marL="0">
              <a:buNone/>
            </a:pPr>
            <a:r>
              <a:rPr lang="en-US" sz="1200" b="1" dirty="0">
                <a:solidFill>
                  <a:srgbClr val="020618"/>
                </a:solidFill>
                <a:latin typeface="DM Sans" pitchFamily="34" charset="0"/>
                <a:ea typeface="DM Sans" pitchFamily="34" charset="-122"/>
                <a:cs typeface="DM Sans" pitchFamily="34" charset="-120"/>
              </a:rPr>
              <a:t>Back to normal</a:t>
            </a:r>
            <a:endParaRPr lang="en-US" sz="1200" dirty="0"/>
          </a:p>
        </p:txBody>
      </p:sp>
      <p:sp>
        <p:nvSpPr>
          <p:cNvPr id="60" name="Text 37"/>
          <p:cNvSpPr txBox="1"/>
          <p:nvPr/>
        </p:nvSpPr>
        <p:spPr>
          <a:xfrm>
            <a:off x="5861304" y="2615184"/>
            <a:ext cx="1828800" cy="228600"/>
          </a:xfrm>
          <a:prstGeom prst="rect">
            <a:avLst/>
          </a:prstGeom>
          <a:noFill/>
          <a:ln/>
        </p:spPr>
        <p:txBody>
          <a:bodyPr wrap="square" lIns="0" tIns="0" rIns="0" bIns="0" rtlCol="0" anchor="ctr"/>
          <a:lstStyle/>
          <a:p>
            <a:pPr indent="0" marL="0">
              <a:buNone/>
            </a:pPr>
            <a:r>
              <a:rPr lang="en-US" sz="1000" dirty="0">
                <a:solidFill>
                  <a:srgbClr val="62748E"/>
                </a:solidFill>
                <a:latin typeface="DM Sans" pitchFamily="34" charset="0"/>
                <a:ea typeface="DM Sans" pitchFamily="34" charset="-122"/>
                <a:cs typeface="DM Sans" pitchFamily="34" charset="-120"/>
              </a:rPr>
              <a:t>traffic drops</a:t>
            </a:r>
            <a:endParaRPr lang="en-US" sz="1000" dirty="0"/>
          </a:p>
        </p:txBody>
      </p:sp>
      <p:sp>
        <p:nvSpPr>
          <p:cNvPr id="61" name="Shape 38"/>
          <p:cNvSpPr/>
          <p:nvPr/>
        </p:nvSpPr>
        <p:spPr>
          <a:xfrm>
            <a:off x="5897880" y="2944368"/>
            <a:ext cx="292608" cy="292608"/>
          </a:xfrm>
          <a:prstGeom prst="ellipse">
            <a:avLst/>
          </a:prstGeom>
          <a:solidFill>
            <a:srgbClr val="F9B73F"/>
          </a:solidFill>
          <a:ln w="9525">
            <a:solidFill>
              <a:srgbClr val="F9B73F"/>
            </a:solidFill>
            <a:prstDash val="solid"/>
          </a:ln>
        </p:spPr>
      </p:sp>
      <p:pic>
        <p:nvPicPr>
          <p:cNvPr id="62" name="Image 21" descr="preencoded.png">    </p:cNvPr>
          <p:cNvPicPr>
            <a:picLocks noChangeAspect="1"/>
          </p:cNvPicPr>
          <p:nvPr/>
        </p:nvPicPr>
        <p:blipFill>
          <a:blip r:embed="rId22"/>
          <a:stretch>
            <a:fillRect/>
          </a:stretch>
        </p:blipFill>
        <p:spPr>
          <a:xfrm>
            <a:off x="5961888" y="3008376"/>
            <a:ext cx="164592" cy="164592"/>
          </a:xfrm>
          <a:prstGeom prst="rect">
            <a:avLst/>
          </a:prstGeom>
        </p:spPr>
      </p:pic>
      <p:sp>
        <p:nvSpPr>
          <p:cNvPr id="63" name="Shape 39"/>
          <p:cNvSpPr/>
          <p:nvPr/>
        </p:nvSpPr>
        <p:spPr>
          <a:xfrm>
            <a:off x="6263640" y="2944368"/>
            <a:ext cx="292608" cy="292608"/>
          </a:xfrm>
          <a:prstGeom prst="ellipse">
            <a:avLst/>
          </a:prstGeom>
          <a:solidFill>
            <a:srgbClr val="FFFFFF"/>
          </a:solidFill>
          <a:ln w="9525">
            <a:solidFill>
              <a:srgbClr val="E2E8F0"/>
            </a:solidFill>
            <a:prstDash val="solid"/>
          </a:ln>
        </p:spPr>
      </p:sp>
      <p:pic>
        <p:nvPicPr>
          <p:cNvPr id="64" name="Image 22" descr="preencoded.png">    </p:cNvPr>
          <p:cNvPicPr>
            <a:picLocks noChangeAspect="1"/>
          </p:cNvPicPr>
          <p:nvPr/>
        </p:nvPicPr>
        <p:blipFill>
          <a:blip r:embed="rId23"/>
          <a:stretch>
            <a:fillRect/>
          </a:stretch>
        </p:blipFill>
        <p:spPr>
          <a:xfrm>
            <a:off x="6327648" y="3008376"/>
            <a:ext cx="164592" cy="164592"/>
          </a:xfrm>
          <a:prstGeom prst="rect">
            <a:avLst/>
          </a:prstGeom>
        </p:spPr>
      </p:pic>
      <p:sp>
        <p:nvSpPr>
          <p:cNvPr id="65" name="Shape 40"/>
          <p:cNvSpPr/>
          <p:nvPr/>
        </p:nvSpPr>
        <p:spPr>
          <a:xfrm>
            <a:off x="6629400" y="2944368"/>
            <a:ext cx="292608" cy="292608"/>
          </a:xfrm>
          <a:prstGeom prst="ellipse">
            <a:avLst/>
          </a:prstGeom>
          <a:solidFill>
            <a:srgbClr val="FFFFFF"/>
          </a:solidFill>
          <a:ln w="9525">
            <a:solidFill>
              <a:srgbClr val="E2E8F0"/>
            </a:solidFill>
            <a:prstDash val="solid"/>
          </a:ln>
        </p:spPr>
      </p:sp>
      <p:pic>
        <p:nvPicPr>
          <p:cNvPr id="66" name="Image 23" descr="preencoded.png">    </p:cNvPr>
          <p:cNvPicPr>
            <a:picLocks noChangeAspect="1"/>
          </p:cNvPicPr>
          <p:nvPr/>
        </p:nvPicPr>
        <p:blipFill>
          <a:blip r:embed="rId24"/>
          <a:stretch>
            <a:fillRect/>
          </a:stretch>
        </p:blipFill>
        <p:spPr>
          <a:xfrm>
            <a:off x="6693408" y="3008376"/>
            <a:ext cx="164592" cy="164592"/>
          </a:xfrm>
          <a:prstGeom prst="rect">
            <a:avLst/>
          </a:prstGeom>
        </p:spPr>
      </p:pic>
      <p:sp>
        <p:nvSpPr>
          <p:cNvPr id="67" name="Shape 41"/>
          <p:cNvSpPr/>
          <p:nvPr/>
        </p:nvSpPr>
        <p:spPr>
          <a:xfrm>
            <a:off x="6995160" y="2944368"/>
            <a:ext cx="292608" cy="292608"/>
          </a:xfrm>
          <a:prstGeom prst="ellipse">
            <a:avLst/>
          </a:prstGeom>
          <a:solidFill>
            <a:srgbClr val="FFFFFF"/>
          </a:solidFill>
          <a:ln w="9525">
            <a:solidFill>
              <a:srgbClr val="E2E8F0"/>
            </a:solidFill>
            <a:prstDash val="solid"/>
          </a:ln>
        </p:spPr>
      </p:sp>
      <p:pic>
        <p:nvPicPr>
          <p:cNvPr id="68" name="Image 24" descr="preencoded.png">    </p:cNvPr>
          <p:cNvPicPr>
            <a:picLocks noChangeAspect="1"/>
          </p:cNvPicPr>
          <p:nvPr/>
        </p:nvPicPr>
        <p:blipFill>
          <a:blip r:embed="rId25"/>
          <a:stretch>
            <a:fillRect/>
          </a:stretch>
        </p:blipFill>
        <p:spPr>
          <a:xfrm>
            <a:off x="7059168" y="3008376"/>
            <a:ext cx="164592" cy="164592"/>
          </a:xfrm>
          <a:prstGeom prst="rect">
            <a:avLst/>
          </a:prstGeom>
        </p:spPr>
      </p:pic>
      <p:sp>
        <p:nvSpPr>
          <p:cNvPr id="69" name="Shape 42"/>
          <p:cNvSpPr/>
          <p:nvPr/>
        </p:nvSpPr>
        <p:spPr>
          <a:xfrm>
            <a:off x="7360920" y="2944368"/>
            <a:ext cx="292608" cy="292608"/>
          </a:xfrm>
          <a:prstGeom prst="ellipse">
            <a:avLst/>
          </a:prstGeom>
          <a:solidFill>
            <a:srgbClr val="FFFFFF"/>
          </a:solidFill>
          <a:ln w="9525">
            <a:solidFill>
              <a:srgbClr val="E2E8F0"/>
            </a:solidFill>
            <a:prstDash val="solid"/>
          </a:ln>
        </p:spPr>
      </p:sp>
      <p:pic>
        <p:nvPicPr>
          <p:cNvPr id="70" name="Image 25" descr="preencoded.png">    </p:cNvPr>
          <p:cNvPicPr>
            <a:picLocks noChangeAspect="1"/>
          </p:cNvPicPr>
          <p:nvPr/>
        </p:nvPicPr>
        <p:blipFill>
          <a:blip r:embed="rId26"/>
          <a:stretch>
            <a:fillRect/>
          </a:stretch>
        </p:blipFill>
        <p:spPr>
          <a:xfrm>
            <a:off x="7424928" y="3008376"/>
            <a:ext cx="164592" cy="164592"/>
          </a:xfrm>
          <a:prstGeom prst="rect">
            <a:avLst/>
          </a:prstGeom>
        </p:spPr>
      </p:pic>
      <p:sp>
        <p:nvSpPr>
          <p:cNvPr id="71" name="Shape 43"/>
          <p:cNvSpPr/>
          <p:nvPr/>
        </p:nvSpPr>
        <p:spPr>
          <a:xfrm>
            <a:off x="5897880" y="3328416"/>
            <a:ext cx="292608" cy="292608"/>
          </a:xfrm>
          <a:prstGeom prst="ellipse">
            <a:avLst/>
          </a:prstGeom>
          <a:solidFill>
            <a:srgbClr val="FFFFFF"/>
          </a:solidFill>
          <a:ln w="9525">
            <a:solidFill>
              <a:srgbClr val="E2E8F0"/>
            </a:solidFill>
            <a:prstDash val="solid"/>
          </a:ln>
        </p:spPr>
      </p:sp>
      <p:pic>
        <p:nvPicPr>
          <p:cNvPr id="72" name="Image 26" descr="preencoded.png">    </p:cNvPr>
          <p:cNvPicPr>
            <a:picLocks noChangeAspect="1"/>
          </p:cNvPicPr>
          <p:nvPr/>
        </p:nvPicPr>
        <p:blipFill>
          <a:blip r:embed="rId27"/>
          <a:stretch>
            <a:fillRect/>
          </a:stretch>
        </p:blipFill>
        <p:spPr>
          <a:xfrm>
            <a:off x="5961888" y="3392424"/>
            <a:ext cx="164592" cy="164592"/>
          </a:xfrm>
          <a:prstGeom prst="rect">
            <a:avLst/>
          </a:prstGeom>
        </p:spPr>
      </p:pic>
      <p:sp>
        <p:nvSpPr>
          <p:cNvPr id="73" name="Shape 44"/>
          <p:cNvSpPr/>
          <p:nvPr/>
        </p:nvSpPr>
        <p:spPr>
          <a:xfrm>
            <a:off x="6263640" y="3328416"/>
            <a:ext cx="292608" cy="292608"/>
          </a:xfrm>
          <a:prstGeom prst="ellipse">
            <a:avLst/>
          </a:prstGeom>
          <a:solidFill>
            <a:srgbClr val="FFFFFF"/>
          </a:solidFill>
          <a:ln w="9525">
            <a:solidFill>
              <a:srgbClr val="E2E8F0"/>
            </a:solidFill>
            <a:prstDash val="solid"/>
          </a:ln>
        </p:spPr>
      </p:sp>
      <p:pic>
        <p:nvPicPr>
          <p:cNvPr id="74" name="Image 27" descr="preencoded.png">    </p:cNvPr>
          <p:cNvPicPr>
            <a:picLocks noChangeAspect="1"/>
          </p:cNvPicPr>
          <p:nvPr/>
        </p:nvPicPr>
        <p:blipFill>
          <a:blip r:embed="rId28"/>
          <a:stretch>
            <a:fillRect/>
          </a:stretch>
        </p:blipFill>
        <p:spPr>
          <a:xfrm>
            <a:off x="6327648" y="3392424"/>
            <a:ext cx="164592" cy="164592"/>
          </a:xfrm>
          <a:prstGeom prst="rect">
            <a:avLst/>
          </a:prstGeom>
        </p:spPr>
      </p:pic>
      <p:sp>
        <p:nvSpPr>
          <p:cNvPr id="75" name="Shape 45"/>
          <p:cNvSpPr/>
          <p:nvPr/>
        </p:nvSpPr>
        <p:spPr>
          <a:xfrm>
            <a:off x="6629400" y="3328416"/>
            <a:ext cx="292608" cy="292608"/>
          </a:xfrm>
          <a:prstGeom prst="ellipse">
            <a:avLst/>
          </a:prstGeom>
          <a:solidFill>
            <a:srgbClr val="FFFFFF"/>
          </a:solidFill>
          <a:ln w="9525">
            <a:solidFill>
              <a:srgbClr val="E2E8F0"/>
            </a:solidFill>
            <a:prstDash val="solid"/>
          </a:ln>
        </p:spPr>
      </p:sp>
      <p:pic>
        <p:nvPicPr>
          <p:cNvPr id="76" name="Image 28" descr="preencoded.png">    </p:cNvPr>
          <p:cNvPicPr>
            <a:picLocks noChangeAspect="1"/>
          </p:cNvPicPr>
          <p:nvPr/>
        </p:nvPicPr>
        <p:blipFill>
          <a:blip r:embed="rId29"/>
          <a:stretch>
            <a:fillRect/>
          </a:stretch>
        </p:blipFill>
        <p:spPr>
          <a:xfrm>
            <a:off x="6693408" y="3392424"/>
            <a:ext cx="164592" cy="164592"/>
          </a:xfrm>
          <a:prstGeom prst="rect">
            <a:avLst/>
          </a:prstGeom>
        </p:spPr>
      </p:pic>
      <p:sp>
        <p:nvSpPr>
          <p:cNvPr id="77" name="Shape 46"/>
          <p:cNvSpPr/>
          <p:nvPr/>
        </p:nvSpPr>
        <p:spPr>
          <a:xfrm>
            <a:off x="6995160" y="3328416"/>
            <a:ext cx="292608" cy="292608"/>
          </a:xfrm>
          <a:prstGeom prst="ellipse">
            <a:avLst/>
          </a:prstGeom>
          <a:solidFill>
            <a:srgbClr val="FFFFFF"/>
          </a:solidFill>
          <a:ln w="9525">
            <a:solidFill>
              <a:srgbClr val="E2E8F0"/>
            </a:solidFill>
            <a:prstDash val="solid"/>
          </a:ln>
        </p:spPr>
      </p:sp>
      <p:pic>
        <p:nvPicPr>
          <p:cNvPr id="78" name="Image 29" descr="preencoded.png">    </p:cNvPr>
          <p:cNvPicPr>
            <a:picLocks noChangeAspect="1"/>
          </p:cNvPicPr>
          <p:nvPr/>
        </p:nvPicPr>
        <p:blipFill>
          <a:blip r:embed="rId30"/>
          <a:stretch>
            <a:fillRect/>
          </a:stretch>
        </p:blipFill>
        <p:spPr>
          <a:xfrm>
            <a:off x="7059168" y="3392424"/>
            <a:ext cx="164592" cy="164592"/>
          </a:xfrm>
          <a:prstGeom prst="rect">
            <a:avLst/>
          </a:prstGeom>
        </p:spPr>
      </p:pic>
      <p:sp>
        <p:nvSpPr>
          <p:cNvPr id="79" name="Shape 47"/>
          <p:cNvSpPr/>
          <p:nvPr/>
        </p:nvSpPr>
        <p:spPr>
          <a:xfrm>
            <a:off x="7360920" y="3328416"/>
            <a:ext cx="292608" cy="292608"/>
          </a:xfrm>
          <a:prstGeom prst="ellipse">
            <a:avLst/>
          </a:prstGeom>
          <a:solidFill>
            <a:srgbClr val="FFFFFF"/>
          </a:solidFill>
          <a:ln w="9525">
            <a:solidFill>
              <a:srgbClr val="E2E8F0"/>
            </a:solidFill>
            <a:prstDash val="solid"/>
          </a:ln>
        </p:spPr>
      </p:sp>
      <p:pic>
        <p:nvPicPr>
          <p:cNvPr id="80" name="Image 30" descr="preencoded.png">    </p:cNvPr>
          <p:cNvPicPr>
            <a:picLocks noChangeAspect="1"/>
          </p:cNvPicPr>
          <p:nvPr/>
        </p:nvPicPr>
        <p:blipFill>
          <a:blip r:embed="rId31"/>
          <a:stretch>
            <a:fillRect/>
          </a:stretch>
        </p:blipFill>
        <p:spPr>
          <a:xfrm>
            <a:off x="7424928" y="3392424"/>
            <a:ext cx="164592" cy="164592"/>
          </a:xfrm>
          <a:prstGeom prst="rect">
            <a:avLst/>
          </a:prstGeom>
        </p:spPr>
      </p:pic>
      <p:sp>
        <p:nvSpPr>
          <p:cNvPr id="81" name="Text 48"/>
          <p:cNvSpPr txBox="1"/>
          <p:nvPr/>
        </p:nvSpPr>
        <p:spPr>
          <a:xfrm>
            <a:off x="5861304" y="3630168"/>
            <a:ext cx="1828800" cy="256032"/>
          </a:xfrm>
          <a:prstGeom prst="rect">
            <a:avLst/>
          </a:prstGeom>
          <a:noFill/>
          <a:ln/>
        </p:spPr>
        <p:txBody>
          <a:bodyPr wrap="square" lIns="0" tIns="0" rIns="0" bIns="0" rtlCol="0" anchor="ctr"/>
          <a:lstStyle/>
          <a:p>
            <a:pPr indent="0" marL="0">
              <a:buNone/>
            </a:pPr>
            <a:r>
              <a:rPr lang="en-US" sz="1050" b="1" dirty="0">
                <a:solidFill>
                  <a:srgbClr val="020618"/>
                </a:solidFill>
                <a:latin typeface="DM Sans" pitchFamily="34" charset="0"/>
                <a:ea typeface="DM Sans" pitchFamily="34" charset="-122"/>
                <a:cs typeface="DM Sans" pitchFamily="34" charset="-120"/>
              </a:rPr>
              <a:t>extra copies disappear</a:t>
            </a:r>
            <a:endParaRPr lang="en-US" sz="1050" dirty="0"/>
          </a:p>
        </p:txBody>
      </p:sp>
      <p:sp>
        <p:nvSpPr>
          <p:cNvPr id="82" name="Text 49"/>
          <p:cNvSpPr txBox="1"/>
          <p:nvPr/>
        </p:nvSpPr>
        <p:spPr>
          <a:xfrm>
            <a:off x="8101584" y="2286000"/>
            <a:ext cx="3355848" cy="1691640"/>
          </a:xfrm>
          <a:prstGeom prst="rect">
            <a:avLst/>
          </a:prstGeom>
          <a:noFill/>
          <a:ln/>
        </p:spPr>
        <p:txBody>
          <a:bodyPr wrap="square" lIns="0" tIns="0" rIns="0" bIns="0" rtlCol="0" anchor="t"/>
          <a:lstStyle/>
          <a:p>
            <a:pPr marL="152400" indent="-152400">
              <a:spcAft>
                <a:spcPts val="700"/>
              </a:spcAft>
              <a:buSzPct val="100000"/>
              <a:buChar char="•"/>
            </a:pPr>
            <a:r>
              <a:rPr lang="en-US" sz="1100" dirty="0">
                <a:solidFill>
                  <a:srgbClr val="020618"/>
                </a:solidFill>
                <a:latin typeface="DM Sans" pitchFamily="34" charset="0"/>
                <a:ea typeface="DM Sans" pitchFamily="34" charset="-122"/>
                <a:cs typeface="DM Sans" pitchFamily="34" charset="-120"/>
              </a:rPr>
              <a:t>Nothing is kept in memory between requests, so any copy can handle any request</a:t>
            </a:r>
            <a:endParaRPr lang="en-US" sz="1100" dirty="0"/>
          </a:p>
          <a:p>
            <a:pPr marL="152400" indent="-152400">
              <a:spcAft>
                <a:spcPts val="700"/>
              </a:spcAft>
              <a:buSzPct val="100000"/>
              <a:buChar char="•"/>
            </a:pPr>
            <a:r>
              <a:rPr lang="en-US" sz="1100" dirty="0">
                <a:solidFill>
                  <a:srgbClr val="020618"/>
                </a:solidFill>
                <a:latin typeface="DM Sans" pitchFamily="34" charset="0"/>
                <a:ea typeface="DM Sans" pitchFamily="34" charset="-122"/>
                <a:cs typeface="DM Sans" pitchFamily="34" charset="-120"/>
              </a:rPr>
              <a:t>One small compiled Go program: a new copy starts in well under a second</a:t>
            </a:r>
            <a:endParaRPr lang="en-US" sz="1100" dirty="0"/>
          </a:p>
          <a:p>
            <a:pPr marL="152400" indent="-152400">
              <a:spcAft>
                <a:spcPts val="700"/>
              </a:spcAft>
              <a:buSzPct val="100000"/>
              <a:buChar char="•"/>
            </a:pPr>
            <a:r>
              <a:rPr lang="en-US" sz="1100" dirty="0">
                <a:solidFill>
                  <a:srgbClr val="020618"/>
                </a:solidFill>
                <a:latin typeface="DM Sans" pitchFamily="34" charset="0"/>
                <a:ea typeface="DM Sans" pitchFamily="34" charset="-122"/>
                <a:cs typeface="DM Sans" pitchFamily="34" charset="-120"/>
              </a:rPr>
              <a:t>10 copies at once is AWS's default for new accounts; it can be raised to 1,000 for free</a:t>
            </a:r>
            <a:endParaRPr lang="en-US" sz="1100" dirty="0"/>
          </a:p>
        </p:txBody>
      </p:sp>
      <p:sp>
        <p:nvSpPr>
          <p:cNvPr id="83" name="Shape 50"/>
          <p:cNvSpPr/>
          <p:nvPr/>
        </p:nvSpPr>
        <p:spPr>
          <a:xfrm>
            <a:off x="548640" y="4434840"/>
            <a:ext cx="2567178" cy="2011680"/>
          </a:xfrm>
          <a:prstGeom prst="roundRect">
            <a:avLst>
              <a:gd name="adj" fmla="val 7273"/>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84" name="Shape 51"/>
          <p:cNvSpPr/>
          <p:nvPr/>
        </p:nvSpPr>
        <p:spPr>
          <a:xfrm>
            <a:off x="731520" y="4617720"/>
            <a:ext cx="420624" cy="420624"/>
          </a:xfrm>
          <a:prstGeom prst="ellipse">
            <a:avLst/>
          </a:prstGeom>
          <a:solidFill>
            <a:srgbClr val="0F172B"/>
          </a:solidFill>
          <a:ln w="12700">
            <a:solidFill>
              <a:srgbClr val="0F172B"/>
            </a:solidFill>
            <a:prstDash val="solid"/>
          </a:ln>
        </p:spPr>
      </p:sp>
      <p:pic>
        <p:nvPicPr>
          <p:cNvPr id="85" name="Image 31" descr="preencoded.png">    </p:cNvPr>
          <p:cNvPicPr>
            <a:picLocks noChangeAspect="1"/>
          </p:cNvPicPr>
          <p:nvPr/>
        </p:nvPicPr>
        <p:blipFill>
          <a:blip r:embed="rId32"/>
          <a:stretch>
            <a:fillRect/>
          </a:stretch>
        </p:blipFill>
        <p:spPr>
          <a:xfrm>
            <a:off x="836676" y="4722876"/>
            <a:ext cx="210312" cy="210312"/>
          </a:xfrm>
          <a:prstGeom prst="rect">
            <a:avLst/>
          </a:prstGeom>
        </p:spPr>
      </p:pic>
      <p:sp>
        <p:nvSpPr>
          <p:cNvPr id="86" name="Text 52"/>
          <p:cNvSpPr txBox="1"/>
          <p:nvPr/>
        </p:nvSpPr>
        <p:spPr>
          <a:xfrm>
            <a:off x="1280160" y="4617720"/>
            <a:ext cx="1698498" cy="420624"/>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API Gateway</a:t>
            </a:r>
            <a:endParaRPr lang="en-US" sz="1400" dirty="0"/>
          </a:p>
        </p:txBody>
      </p:sp>
      <p:sp>
        <p:nvSpPr>
          <p:cNvPr id="87" name="Text 53"/>
          <p:cNvSpPr txBox="1"/>
          <p:nvPr/>
        </p:nvSpPr>
        <p:spPr>
          <a:xfrm>
            <a:off x="731520" y="5184648"/>
            <a:ext cx="2201418" cy="1170432"/>
          </a:xfrm>
          <a:prstGeom prst="rect">
            <a:avLst/>
          </a:prstGeom>
          <a:noFill/>
          <a:ln/>
        </p:spPr>
        <p:txBody>
          <a:bodyPr wrap="square" lIns="0" tIns="0" rIns="0" bIns="0" rtlCol="0" anchor="t"/>
          <a:lstStyle/>
          <a:p>
            <a:pPr indent="0" marL="0">
              <a:buNone/>
            </a:pPr>
            <a:r>
              <a:rPr lang="en-US" sz="1200" dirty="0">
                <a:solidFill>
                  <a:srgbClr val="62748E"/>
                </a:solidFill>
                <a:latin typeface="DM Sans" pitchFamily="34" charset="0"/>
                <a:ea typeface="DM Sans" pitchFamily="34" charset="-122"/>
                <a:cs typeface="DM Sans" pitchFamily="34" charset="-120"/>
              </a:rPr>
              <a:t>Managed by AWS and scales on its own. We cap it at 20 requests/s (bursts of 50) to protect the backend and costs.</a:t>
            </a:r>
            <a:endParaRPr lang="en-US" sz="1200" dirty="0"/>
          </a:p>
        </p:txBody>
      </p:sp>
      <p:sp>
        <p:nvSpPr>
          <p:cNvPr id="88" name="Shape 54"/>
          <p:cNvSpPr/>
          <p:nvPr/>
        </p:nvSpPr>
        <p:spPr>
          <a:xfrm>
            <a:off x="3390138" y="4434840"/>
            <a:ext cx="2567178" cy="2011680"/>
          </a:xfrm>
          <a:prstGeom prst="roundRect">
            <a:avLst>
              <a:gd name="adj" fmla="val 7273"/>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89" name="Shape 55"/>
          <p:cNvSpPr/>
          <p:nvPr/>
        </p:nvSpPr>
        <p:spPr>
          <a:xfrm>
            <a:off x="3573018" y="4617720"/>
            <a:ext cx="420624" cy="420624"/>
          </a:xfrm>
          <a:prstGeom prst="ellipse">
            <a:avLst/>
          </a:prstGeom>
          <a:solidFill>
            <a:srgbClr val="009689"/>
          </a:solidFill>
          <a:ln w="12700">
            <a:solidFill>
              <a:srgbClr val="009689"/>
            </a:solidFill>
            <a:prstDash val="solid"/>
          </a:ln>
        </p:spPr>
      </p:sp>
      <p:pic>
        <p:nvPicPr>
          <p:cNvPr id="90" name="Image 32" descr="preencoded.png">    </p:cNvPr>
          <p:cNvPicPr>
            <a:picLocks noChangeAspect="1"/>
          </p:cNvPicPr>
          <p:nvPr/>
        </p:nvPicPr>
        <p:blipFill>
          <a:blip r:embed="rId33"/>
          <a:stretch>
            <a:fillRect/>
          </a:stretch>
        </p:blipFill>
        <p:spPr>
          <a:xfrm>
            <a:off x="3678174" y="4722876"/>
            <a:ext cx="210312" cy="210312"/>
          </a:xfrm>
          <a:prstGeom prst="rect">
            <a:avLst/>
          </a:prstGeom>
        </p:spPr>
      </p:pic>
      <p:sp>
        <p:nvSpPr>
          <p:cNvPr id="91" name="Text 56"/>
          <p:cNvSpPr txBox="1"/>
          <p:nvPr/>
        </p:nvSpPr>
        <p:spPr>
          <a:xfrm>
            <a:off x="4121658" y="4617720"/>
            <a:ext cx="1698498" cy="420624"/>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DynamoDB</a:t>
            </a:r>
            <a:endParaRPr lang="en-US" sz="1400" dirty="0"/>
          </a:p>
        </p:txBody>
      </p:sp>
      <p:sp>
        <p:nvSpPr>
          <p:cNvPr id="92" name="Text 57"/>
          <p:cNvSpPr txBox="1"/>
          <p:nvPr/>
        </p:nvSpPr>
        <p:spPr>
          <a:xfrm>
            <a:off x="3573018" y="5184648"/>
            <a:ext cx="2201418" cy="1170432"/>
          </a:xfrm>
          <a:prstGeom prst="rect">
            <a:avLst/>
          </a:prstGeom>
          <a:noFill/>
          <a:ln/>
        </p:spPr>
        <p:txBody>
          <a:bodyPr wrap="square" lIns="0" tIns="0" rIns="0" bIns="0" rtlCol="0" anchor="t"/>
          <a:lstStyle/>
          <a:p>
            <a:pPr indent="0" marL="0">
              <a:buNone/>
            </a:pPr>
            <a:r>
              <a:rPr lang="en-US" sz="1200" dirty="0">
                <a:solidFill>
                  <a:srgbClr val="62748E"/>
                </a:solidFill>
                <a:latin typeface="DM Sans" pitchFamily="34" charset="0"/>
                <a:ea typeface="DM Sans" pitchFamily="34" charset="-122"/>
                <a:cs typeface="DM Sans" pitchFamily="34" charset="-120"/>
              </a:rPr>
              <a:t>On-demand mode: capacity grows with reads and writes, with nothing to size. Running totals keep dashboard reads small.</a:t>
            </a:r>
            <a:endParaRPr lang="en-US" sz="1200" dirty="0"/>
          </a:p>
        </p:txBody>
      </p:sp>
      <p:sp>
        <p:nvSpPr>
          <p:cNvPr id="93" name="Shape 58"/>
          <p:cNvSpPr/>
          <p:nvPr/>
        </p:nvSpPr>
        <p:spPr>
          <a:xfrm>
            <a:off x="6231636" y="4434840"/>
            <a:ext cx="2567178" cy="2011680"/>
          </a:xfrm>
          <a:prstGeom prst="roundRect">
            <a:avLst>
              <a:gd name="adj" fmla="val 7273"/>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94" name="Shape 59"/>
          <p:cNvSpPr/>
          <p:nvPr/>
        </p:nvSpPr>
        <p:spPr>
          <a:xfrm>
            <a:off x="6414516" y="4617720"/>
            <a:ext cx="420624" cy="420624"/>
          </a:xfrm>
          <a:prstGeom prst="ellipse">
            <a:avLst/>
          </a:prstGeom>
          <a:solidFill>
            <a:srgbClr val="F54900"/>
          </a:solidFill>
          <a:ln w="12700">
            <a:solidFill>
              <a:srgbClr val="F54900"/>
            </a:solidFill>
            <a:prstDash val="solid"/>
          </a:ln>
        </p:spPr>
      </p:sp>
      <p:pic>
        <p:nvPicPr>
          <p:cNvPr id="95" name="Image 33" descr="preencoded.png">    </p:cNvPr>
          <p:cNvPicPr>
            <a:picLocks noChangeAspect="1"/>
          </p:cNvPicPr>
          <p:nvPr/>
        </p:nvPicPr>
        <p:blipFill>
          <a:blip r:embed="rId34"/>
          <a:stretch>
            <a:fillRect/>
          </a:stretch>
        </p:blipFill>
        <p:spPr>
          <a:xfrm>
            <a:off x="6519672" y="4722876"/>
            <a:ext cx="210312" cy="210312"/>
          </a:xfrm>
          <a:prstGeom prst="rect">
            <a:avLst/>
          </a:prstGeom>
        </p:spPr>
      </p:pic>
      <p:sp>
        <p:nvSpPr>
          <p:cNvPr id="96" name="Text 60"/>
          <p:cNvSpPr txBox="1"/>
          <p:nvPr/>
        </p:nvSpPr>
        <p:spPr>
          <a:xfrm>
            <a:off x="6963156" y="4617720"/>
            <a:ext cx="1698498" cy="420624"/>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CloudFront</a:t>
            </a:r>
            <a:endParaRPr lang="en-US" sz="1400" dirty="0"/>
          </a:p>
        </p:txBody>
      </p:sp>
      <p:sp>
        <p:nvSpPr>
          <p:cNvPr id="97" name="Text 61"/>
          <p:cNvSpPr txBox="1"/>
          <p:nvPr/>
        </p:nvSpPr>
        <p:spPr>
          <a:xfrm>
            <a:off x="6414516" y="5184648"/>
            <a:ext cx="2201418" cy="1170432"/>
          </a:xfrm>
          <a:prstGeom prst="rect">
            <a:avLst/>
          </a:prstGeom>
          <a:noFill/>
          <a:ln/>
        </p:spPr>
        <p:txBody>
          <a:bodyPr wrap="square" lIns="0" tIns="0" rIns="0" bIns="0" rtlCol="0" anchor="t"/>
          <a:lstStyle/>
          <a:p>
            <a:pPr indent="0" marL="0">
              <a:buNone/>
            </a:pPr>
            <a:r>
              <a:rPr lang="en-US" sz="1200" dirty="0">
                <a:solidFill>
                  <a:srgbClr val="62748E"/>
                </a:solidFill>
                <a:latin typeface="DM Sans" pitchFamily="34" charset="0"/>
                <a:ea typeface="DM Sans" pitchFamily="34" charset="-122"/>
                <a:cs typeface="DM Sans" pitchFamily="34" charset="-120"/>
              </a:rPr>
              <a:t>Serves the dashboard from edge locations and caches it, so more users barely add load on S3.</a:t>
            </a:r>
            <a:endParaRPr lang="en-US" sz="1200" dirty="0"/>
          </a:p>
        </p:txBody>
      </p:sp>
      <p:sp>
        <p:nvSpPr>
          <p:cNvPr id="98" name="Shape 62"/>
          <p:cNvSpPr/>
          <p:nvPr/>
        </p:nvSpPr>
        <p:spPr>
          <a:xfrm>
            <a:off x="9073134" y="4434840"/>
            <a:ext cx="2567178" cy="2011680"/>
          </a:xfrm>
          <a:prstGeom prst="roundRect">
            <a:avLst>
              <a:gd name="adj" fmla="val 7273"/>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99" name="Shape 63"/>
          <p:cNvSpPr/>
          <p:nvPr/>
        </p:nvSpPr>
        <p:spPr>
          <a:xfrm>
            <a:off x="9256014" y="4617720"/>
            <a:ext cx="420624" cy="420624"/>
          </a:xfrm>
          <a:prstGeom prst="ellipse">
            <a:avLst/>
          </a:prstGeom>
          <a:solidFill>
            <a:srgbClr val="43C07A"/>
          </a:solidFill>
          <a:ln w="12700">
            <a:solidFill>
              <a:srgbClr val="43C07A"/>
            </a:solidFill>
            <a:prstDash val="solid"/>
          </a:ln>
        </p:spPr>
      </p:sp>
      <p:pic>
        <p:nvPicPr>
          <p:cNvPr id="100" name="Image 34" descr="preencoded.png">    </p:cNvPr>
          <p:cNvPicPr>
            <a:picLocks noChangeAspect="1"/>
          </p:cNvPicPr>
          <p:nvPr/>
        </p:nvPicPr>
        <p:blipFill>
          <a:blip r:embed="rId35"/>
          <a:stretch>
            <a:fillRect/>
          </a:stretch>
        </p:blipFill>
        <p:spPr>
          <a:xfrm>
            <a:off x="9361170" y="4722876"/>
            <a:ext cx="210312" cy="210312"/>
          </a:xfrm>
          <a:prstGeom prst="rect">
            <a:avLst/>
          </a:prstGeom>
        </p:spPr>
      </p:pic>
      <p:sp>
        <p:nvSpPr>
          <p:cNvPr id="101" name="Text 64"/>
          <p:cNvSpPr txBox="1"/>
          <p:nvPr/>
        </p:nvSpPr>
        <p:spPr>
          <a:xfrm>
            <a:off x="9804654" y="4617720"/>
            <a:ext cx="1698498" cy="420624"/>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Cognito</a:t>
            </a:r>
            <a:endParaRPr lang="en-US" sz="1400" dirty="0"/>
          </a:p>
        </p:txBody>
      </p:sp>
      <p:sp>
        <p:nvSpPr>
          <p:cNvPr id="102" name="Text 65"/>
          <p:cNvSpPr txBox="1"/>
          <p:nvPr/>
        </p:nvSpPr>
        <p:spPr>
          <a:xfrm>
            <a:off x="9256014" y="5184648"/>
            <a:ext cx="2201418" cy="1170432"/>
          </a:xfrm>
          <a:prstGeom prst="rect">
            <a:avLst/>
          </a:prstGeom>
          <a:noFill/>
          <a:ln/>
        </p:spPr>
        <p:txBody>
          <a:bodyPr wrap="square" lIns="0" tIns="0" rIns="0" bIns="0" rtlCol="0" anchor="t"/>
          <a:lstStyle/>
          <a:p>
            <a:pPr indent="0" marL="0">
              <a:buNone/>
            </a:pPr>
            <a:r>
              <a:rPr lang="en-US" sz="1200" dirty="0">
                <a:solidFill>
                  <a:srgbClr val="62748E"/>
                </a:solidFill>
                <a:latin typeface="DM Sans" pitchFamily="34" charset="0"/>
                <a:ea typeface="DM Sans" pitchFamily="34" charset="-122"/>
                <a:cs typeface="DM Sans" pitchFamily="34" charset="-120"/>
              </a:rPr>
              <a:t>Managed sign-in that scales on its own, free up to 10,000 monthly users.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scaling</dc:title>
  <dc:subject>PptxGenJS Presentation</dc:subject>
  <dc:creator>PptxGenJS</dc:creator>
  <cp:lastModifiedBy>PptxGenJS</cp:lastModifiedBy>
  <cp:revision>1</cp:revision>
  <dcterms:created xsi:type="dcterms:W3CDTF">2026-09-19T10:09:47Z</dcterms:created>
  <dcterms:modified xsi:type="dcterms:W3CDTF">2026-09-19T10:09:47Z</dcterms:modified>
</cp:coreProperties>
</file>