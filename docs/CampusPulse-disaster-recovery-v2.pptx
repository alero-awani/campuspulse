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Alero: multi-AZ is high availability; this slide is recovery. Events table is not replicated on purpose (busiest, regenerable, expires after 30 days). CloudFront failover covers the website files only. The S3 console shows both buckets, dashboard and Terraform state, each with a copy in Paris (eu-west-3).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slideLayout" Target="../slideLayouts/slideLayout1.xml"/><Relationship Id="rId11"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400" b="1" dirty="0">
                <a:solidFill>
                  <a:srgbClr val="020618"/>
                </a:solidFill>
                <a:latin typeface="Space Grotesk" pitchFamily="34" charset="0"/>
                <a:ea typeface="Space Grotesk" pitchFamily="34" charset="-122"/>
                <a:cs typeface="Space Grotesk" pitchFamily="34" charset="-120"/>
              </a:rPr>
              <a:t>Disaster recovery</a:t>
            </a:r>
            <a:endParaRPr lang="en-US" sz="34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400" dirty="0">
                <a:solidFill>
                  <a:srgbClr val="62748E"/>
                </a:solidFill>
                <a:latin typeface="DM Sans" pitchFamily="34" charset="0"/>
                <a:ea typeface="DM Sans" pitchFamily="34" charset="-122"/>
                <a:cs typeface="DM Sans" pitchFamily="34" charset="-120"/>
              </a:rPr>
              <a:t>Data is continuously copied to Paris; everything else can be rebuilt from Terraform.</a:t>
            </a:r>
            <a:endParaRPr lang="en-US" sz="1400" dirty="0"/>
          </a:p>
        </p:txBody>
      </p:sp>
      <p:sp>
        <p:nvSpPr>
          <p:cNvPr id="4" name="Shape 2"/>
          <p:cNvSpPr/>
          <p:nvPr/>
        </p:nvSpPr>
        <p:spPr>
          <a:xfrm>
            <a:off x="548640" y="1508760"/>
            <a:ext cx="3514344" cy="822960"/>
          </a:xfrm>
          <a:prstGeom prst="roundRect">
            <a:avLst>
              <a:gd name="adj" fmla="val 17778"/>
            </a:avLst>
          </a:prstGeom>
          <a:solidFill>
            <a:srgbClr val="F1F5F9"/>
          </a:solidFill>
          <a:ln w="12700">
            <a:solidFill>
              <a:srgbClr val="F1F5F9"/>
            </a:solidFill>
            <a:prstDash val="solid"/>
          </a:ln>
        </p:spPr>
      </p:sp>
      <p:sp>
        <p:nvSpPr>
          <p:cNvPr id="5" name="Shape 3"/>
          <p:cNvSpPr/>
          <p:nvPr/>
        </p:nvSpPr>
        <p:spPr>
          <a:xfrm>
            <a:off x="777240" y="1847088"/>
            <a:ext cx="164592" cy="164592"/>
          </a:xfrm>
          <a:prstGeom prst="ellipse">
            <a:avLst/>
          </a:prstGeom>
          <a:solidFill>
            <a:srgbClr val="43C07A"/>
          </a:solidFill>
          <a:ln w="12700">
            <a:solidFill>
              <a:srgbClr val="43C07A"/>
            </a:solidFill>
            <a:prstDash val="solid"/>
          </a:ln>
        </p:spPr>
      </p:sp>
      <p:sp>
        <p:nvSpPr>
          <p:cNvPr id="6" name="Text 4"/>
          <p:cNvSpPr txBox="1"/>
          <p:nvPr/>
        </p:nvSpPr>
        <p:spPr>
          <a:xfrm>
            <a:off x="1051560" y="1508760"/>
            <a:ext cx="1508760" cy="822960"/>
          </a:xfrm>
          <a:prstGeom prst="rect">
            <a:avLst/>
          </a:prstGeom>
          <a:noFill/>
          <a:ln/>
        </p:spPr>
        <p:txBody>
          <a:bodyPr wrap="square" lIns="0" tIns="0" rIns="0" bIns="0" rtlCol="0" anchor="ctr"/>
          <a:lstStyle/>
          <a:p>
            <a:pPr indent="0" marL="0">
              <a:buNone/>
            </a:pPr>
            <a:r>
              <a:rPr lang="en-US" sz="2400" b="1" dirty="0">
                <a:solidFill>
                  <a:srgbClr val="020618"/>
                </a:solidFill>
                <a:latin typeface="Space Grotesk" pitchFamily="34" charset="0"/>
                <a:ea typeface="Space Grotesk" pitchFamily="34" charset="-122"/>
                <a:cs typeface="Space Grotesk" pitchFamily="34" charset="-120"/>
              </a:rPr>
              <a:t>Seconds</a:t>
            </a:r>
            <a:endParaRPr lang="en-US" sz="2400" dirty="0"/>
          </a:p>
        </p:txBody>
      </p:sp>
      <p:sp>
        <p:nvSpPr>
          <p:cNvPr id="7" name="Text 5"/>
          <p:cNvSpPr txBox="1"/>
          <p:nvPr/>
        </p:nvSpPr>
        <p:spPr>
          <a:xfrm>
            <a:off x="2606040" y="1508760"/>
            <a:ext cx="1319784" cy="822960"/>
          </a:xfrm>
          <a:prstGeom prst="rect">
            <a:avLst/>
          </a:prstGeom>
          <a:noFill/>
          <a:ln/>
        </p:spPr>
        <p:txBody>
          <a:bodyPr wrap="square" lIns="0" tIns="0" rIns="0" bIns="0" rtlCol="0" anchor="ctr"/>
          <a:lstStyle/>
          <a:p>
            <a:pPr indent="0" marL="0">
              <a:buNone/>
            </a:pPr>
            <a:r>
              <a:rPr lang="en-US" sz="1100" dirty="0">
                <a:solidFill>
                  <a:srgbClr val="62748E"/>
                </a:solidFill>
                <a:latin typeface="DM Sans" pitchFamily="34" charset="0"/>
                <a:ea typeface="DM Sans" pitchFamily="34" charset="-122"/>
                <a:cs typeface="DM Sans" pitchFamily="34" charset="-120"/>
              </a:rPr>
              <a:t>RPO: how much data we could lose</a:t>
            </a:r>
            <a:endParaRPr lang="en-US" sz="1100" dirty="0"/>
          </a:p>
        </p:txBody>
      </p:sp>
      <p:sp>
        <p:nvSpPr>
          <p:cNvPr id="8" name="Shape 6"/>
          <p:cNvSpPr/>
          <p:nvPr/>
        </p:nvSpPr>
        <p:spPr>
          <a:xfrm>
            <a:off x="4337304" y="1508760"/>
            <a:ext cx="3514344" cy="822960"/>
          </a:xfrm>
          <a:prstGeom prst="roundRect">
            <a:avLst>
              <a:gd name="adj" fmla="val 17778"/>
            </a:avLst>
          </a:prstGeom>
          <a:solidFill>
            <a:srgbClr val="F1F5F9"/>
          </a:solidFill>
          <a:ln w="12700">
            <a:solidFill>
              <a:srgbClr val="F1F5F9"/>
            </a:solidFill>
            <a:prstDash val="solid"/>
          </a:ln>
        </p:spPr>
      </p:sp>
      <p:sp>
        <p:nvSpPr>
          <p:cNvPr id="9" name="Shape 7"/>
          <p:cNvSpPr/>
          <p:nvPr/>
        </p:nvSpPr>
        <p:spPr>
          <a:xfrm>
            <a:off x="4565904" y="1847088"/>
            <a:ext cx="164592" cy="164592"/>
          </a:xfrm>
          <a:prstGeom prst="ellipse">
            <a:avLst/>
          </a:prstGeom>
          <a:solidFill>
            <a:srgbClr val="F9B73F"/>
          </a:solidFill>
          <a:ln w="12700">
            <a:solidFill>
              <a:srgbClr val="F9B73F"/>
            </a:solidFill>
            <a:prstDash val="solid"/>
          </a:ln>
        </p:spPr>
      </p:sp>
      <p:sp>
        <p:nvSpPr>
          <p:cNvPr id="10" name="Text 8"/>
          <p:cNvSpPr txBox="1"/>
          <p:nvPr/>
        </p:nvSpPr>
        <p:spPr>
          <a:xfrm>
            <a:off x="4840224" y="1508760"/>
            <a:ext cx="1508760" cy="822960"/>
          </a:xfrm>
          <a:prstGeom prst="rect">
            <a:avLst/>
          </a:prstGeom>
          <a:noFill/>
          <a:ln/>
        </p:spPr>
        <p:txBody>
          <a:bodyPr wrap="square" lIns="0" tIns="0" rIns="0" bIns="0" rtlCol="0" anchor="ctr"/>
          <a:lstStyle/>
          <a:p>
            <a:pPr indent="0" marL="0">
              <a:buNone/>
            </a:pPr>
            <a:r>
              <a:rPr lang="en-US" sz="2400" b="1" dirty="0">
                <a:solidFill>
                  <a:srgbClr val="020618"/>
                </a:solidFill>
                <a:latin typeface="Space Grotesk" pitchFamily="34" charset="0"/>
                <a:ea typeface="Space Grotesk" pitchFamily="34" charset="-122"/>
                <a:cs typeface="Space Grotesk" pitchFamily="34" charset="-120"/>
              </a:rPr>
              <a:t>&lt; 1 hour</a:t>
            </a:r>
            <a:endParaRPr lang="en-US" sz="2400" dirty="0"/>
          </a:p>
        </p:txBody>
      </p:sp>
      <p:sp>
        <p:nvSpPr>
          <p:cNvPr id="11" name="Text 9"/>
          <p:cNvSpPr txBox="1"/>
          <p:nvPr/>
        </p:nvSpPr>
        <p:spPr>
          <a:xfrm>
            <a:off x="6394704" y="1508760"/>
            <a:ext cx="1319784" cy="822960"/>
          </a:xfrm>
          <a:prstGeom prst="rect">
            <a:avLst/>
          </a:prstGeom>
          <a:noFill/>
          <a:ln/>
        </p:spPr>
        <p:txBody>
          <a:bodyPr wrap="square" lIns="0" tIns="0" rIns="0" bIns="0" rtlCol="0" anchor="ctr"/>
          <a:lstStyle/>
          <a:p>
            <a:pPr indent="0" marL="0">
              <a:buNone/>
            </a:pPr>
            <a:r>
              <a:rPr lang="en-US" sz="1100" dirty="0">
                <a:solidFill>
                  <a:srgbClr val="62748E"/>
                </a:solidFill>
                <a:latin typeface="DM Sans" pitchFamily="34" charset="0"/>
                <a:ea typeface="DM Sans" pitchFamily="34" charset="-122"/>
                <a:cs typeface="DM Sans" pitchFamily="34" charset="-120"/>
              </a:rPr>
              <a:t>RTO: time to be running again</a:t>
            </a:r>
            <a:endParaRPr lang="en-US" sz="1100" dirty="0"/>
          </a:p>
        </p:txBody>
      </p:sp>
      <p:sp>
        <p:nvSpPr>
          <p:cNvPr id="12" name="Shape 10"/>
          <p:cNvSpPr/>
          <p:nvPr/>
        </p:nvSpPr>
        <p:spPr>
          <a:xfrm>
            <a:off x="8125968" y="1508760"/>
            <a:ext cx="3514344" cy="822960"/>
          </a:xfrm>
          <a:prstGeom prst="roundRect">
            <a:avLst>
              <a:gd name="adj" fmla="val 17778"/>
            </a:avLst>
          </a:prstGeom>
          <a:solidFill>
            <a:srgbClr val="F1F5F9"/>
          </a:solidFill>
          <a:ln w="12700">
            <a:solidFill>
              <a:srgbClr val="F1F5F9"/>
            </a:solidFill>
            <a:prstDash val="solid"/>
          </a:ln>
        </p:spPr>
      </p:sp>
      <p:sp>
        <p:nvSpPr>
          <p:cNvPr id="13" name="Shape 11"/>
          <p:cNvSpPr/>
          <p:nvPr/>
        </p:nvSpPr>
        <p:spPr>
          <a:xfrm>
            <a:off x="8354568" y="1847088"/>
            <a:ext cx="164592" cy="164592"/>
          </a:xfrm>
          <a:prstGeom prst="ellipse">
            <a:avLst/>
          </a:prstGeom>
          <a:solidFill>
            <a:srgbClr val="0F172B"/>
          </a:solidFill>
          <a:ln w="12700">
            <a:solidFill>
              <a:srgbClr val="0F172B"/>
            </a:solidFill>
            <a:prstDash val="solid"/>
          </a:ln>
        </p:spPr>
      </p:sp>
      <p:sp>
        <p:nvSpPr>
          <p:cNvPr id="14" name="Text 12"/>
          <p:cNvSpPr txBox="1"/>
          <p:nvPr/>
        </p:nvSpPr>
        <p:spPr>
          <a:xfrm>
            <a:off x="8628888" y="1508760"/>
            <a:ext cx="1508760" cy="822960"/>
          </a:xfrm>
          <a:prstGeom prst="rect">
            <a:avLst/>
          </a:prstGeom>
          <a:noFill/>
          <a:ln/>
        </p:spPr>
        <p:txBody>
          <a:bodyPr wrap="square" lIns="0" tIns="0" rIns="0" bIns="0" rtlCol="0" anchor="ctr"/>
          <a:lstStyle/>
          <a:p>
            <a:pPr indent="0" marL="0">
              <a:buNone/>
            </a:pPr>
            <a:r>
              <a:rPr lang="en-US" sz="2400" b="1" dirty="0">
                <a:solidFill>
                  <a:srgbClr val="020618"/>
                </a:solidFill>
                <a:latin typeface="Space Grotesk" pitchFamily="34" charset="0"/>
                <a:ea typeface="Space Grotesk" pitchFamily="34" charset="-122"/>
                <a:cs typeface="Space Grotesk" pitchFamily="34" charset="-120"/>
              </a:rPr>
              <a:t>35 days</a:t>
            </a:r>
            <a:endParaRPr lang="en-US" sz="2400" dirty="0"/>
          </a:p>
        </p:txBody>
      </p:sp>
      <p:sp>
        <p:nvSpPr>
          <p:cNvPr id="15" name="Text 13"/>
          <p:cNvSpPr txBox="1"/>
          <p:nvPr/>
        </p:nvSpPr>
        <p:spPr>
          <a:xfrm>
            <a:off x="10183368" y="1508760"/>
            <a:ext cx="1319784" cy="822960"/>
          </a:xfrm>
          <a:prstGeom prst="rect">
            <a:avLst/>
          </a:prstGeom>
          <a:noFill/>
          <a:ln/>
        </p:spPr>
        <p:txBody>
          <a:bodyPr wrap="square" lIns="0" tIns="0" rIns="0" bIns="0" rtlCol="0" anchor="ctr"/>
          <a:lstStyle/>
          <a:p>
            <a:pPr indent="0" marL="0">
              <a:buNone/>
            </a:pPr>
            <a:r>
              <a:rPr lang="en-US" sz="1100" dirty="0">
                <a:solidFill>
                  <a:srgbClr val="62748E"/>
                </a:solidFill>
                <a:latin typeface="DM Sans" pitchFamily="34" charset="0"/>
                <a:ea typeface="DM Sans" pitchFamily="34" charset="-122"/>
                <a:cs typeface="DM Sans" pitchFamily="34" charset="-120"/>
              </a:rPr>
              <a:t>point-in-time recovery window</a:t>
            </a:r>
            <a:endParaRPr lang="en-US" sz="1100" dirty="0"/>
          </a:p>
        </p:txBody>
      </p:sp>
      <p:sp>
        <p:nvSpPr>
          <p:cNvPr id="16" name="Shape 14"/>
          <p:cNvSpPr/>
          <p:nvPr/>
        </p:nvSpPr>
        <p:spPr>
          <a:xfrm>
            <a:off x="548640" y="2606040"/>
            <a:ext cx="6309360" cy="512064"/>
          </a:xfrm>
          <a:prstGeom prst="roundRect">
            <a:avLst>
              <a:gd name="adj" fmla="val 28571"/>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17" name="Shape 15"/>
          <p:cNvSpPr/>
          <p:nvPr/>
        </p:nvSpPr>
        <p:spPr>
          <a:xfrm>
            <a:off x="685800" y="2679192"/>
            <a:ext cx="365760" cy="365760"/>
          </a:xfrm>
          <a:prstGeom prst="ellipse">
            <a:avLst/>
          </a:prstGeom>
          <a:solidFill>
            <a:srgbClr val="0F172B"/>
          </a:solidFill>
          <a:ln w="12700">
            <a:solidFill>
              <a:srgbClr val="0F172B"/>
            </a:solidFill>
            <a:prstDash val="solid"/>
          </a:ln>
        </p:spPr>
      </p:sp>
      <p:pic>
        <p:nvPicPr>
          <p:cNvPr id="18" name="Image 0" descr="preencoded.png">    </p:cNvPr>
          <p:cNvPicPr>
            <a:picLocks noChangeAspect="1"/>
          </p:cNvPicPr>
          <p:nvPr/>
        </p:nvPicPr>
        <p:blipFill>
          <a:blip r:embed="rId1"/>
          <a:stretch>
            <a:fillRect/>
          </a:stretch>
        </p:blipFill>
        <p:spPr>
          <a:xfrm>
            <a:off x="777240" y="2770632"/>
            <a:ext cx="182880" cy="182880"/>
          </a:xfrm>
          <a:prstGeom prst="rect">
            <a:avLst/>
          </a:prstGeom>
        </p:spPr>
      </p:pic>
      <p:sp>
        <p:nvSpPr>
          <p:cNvPr id="19" name="Text 16"/>
          <p:cNvSpPr txBox="1"/>
          <p:nvPr/>
        </p:nvSpPr>
        <p:spPr>
          <a:xfrm>
            <a:off x="1188720" y="2606040"/>
            <a:ext cx="1828800" cy="512064"/>
          </a:xfrm>
          <a:prstGeom prst="rect">
            <a:avLst/>
          </a:prstGeom>
          <a:noFill/>
          <a:ln/>
        </p:spPr>
        <p:txBody>
          <a:bodyPr wrap="square" lIns="0" tIns="0" rIns="0" bIns="0" rtlCol="0" anchor="ctr"/>
          <a:lstStyle/>
          <a:p>
            <a:pPr indent="0" marL="0">
              <a:buNone/>
            </a:pPr>
            <a:r>
              <a:rPr lang="en-US" sz="1250" b="1" dirty="0">
                <a:solidFill>
                  <a:srgbClr val="020618"/>
                </a:solidFill>
                <a:latin typeface="Space Grotesk" pitchFamily="34" charset="0"/>
                <a:ea typeface="Space Grotesk" pitchFamily="34" charset="-122"/>
                <a:cs typeface="Space Grotesk" pitchFamily="34" charset="-120"/>
              </a:rPr>
              <a:t>Database</a:t>
            </a:r>
            <a:endParaRPr lang="en-US" sz="1250" dirty="0"/>
          </a:p>
        </p:txBody>
      </p:sp>
      <p:sp>
        <p:nvSpPr>
          <p:cNvPr id="20" name="Text 17"/>
          <p:cNvSpPr txBox="1"/>
          <p:nvPr/>
        </p:nvSpPr>
        <p:spPr>
          <a:xfrm>
            <a:off x="3017520" y="2606040"/>
            <a:ext cx="3703320" cy="512064"/>
          </a:xfrm>
          <a:prstGeom prst="rect">
            <a:avLst/>
          </a:prstGeom>
          <a:noFill/>
          <a:ln/>
        </p:spPr>
        <p:txBody>
          <a:bodyPr wrap="square" lIns="0" tIns="0" rIns="0" bIns="0" rtlCol="0" anchor="ctr"/>
          <a:lstStyle/>
          <a:p>
            <a:pPr indent="0" marL="0">
              <a:buNone/>
            </a:pPr>
            <a:r>
              <a:rPr lang="en-US" sz="1050" dirty="0">
                <a:solidFill>
                  <a:srgbClr val="020618"/>
                </a:solidFill>
                <a:latin typeface="DM Sans" pitchFamily="34" charset="0"/>
                <a:ea typeface="DM Sans" pitchFamily="34" charset="-122"/>
                <a:cs typeface="DM Sans" pitchFamily="34" charset="-120"/>
              </a:rPr>
              <a:t>Point-in-time recovery (35 days) and live replicas of 5 tables in Paris</a:t>
            </a:r>
            <a:endParaRPr lang="en-US" sz="1050" dirty="0"/>
          </a:p>
        </p:txBody>
      </p:sp>
      <p:sp>
        <p:nvSpPr>
          <p:cNvPr id="21" name="Shape 18"/>
          <p:cNvSpPr/>
          <p:nvPr/>
        </p:nvSpPr>
        <p:spPr>
          <a:xfrm>
            <a:off x="548640" y="3191256"/>
            <a:ext cx="6309360" cy="512064"/>
          </a:xfrm>
          <a:prstGeom prst="roundRect">
            <a:avLst>
              <a:gd name="adj" fmla="val 28571"/>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22" name="Shape 19"/>
          <p:cNvSpPr/>
          <p:nvPr/>
        </p:nvSpPr>
        <p:spPr>
          <a:xfrm>
            <a:off x="685800" y="3264408"/>
            <a:ext cx="365760" cy="365760"/>
          </a:xfrm>
          <a:prstGeom prst="ellipse">
            <a:avLst/>
          </a:prstGeom>
          <a:solidFill>
            <a:srgbClr val="0F172B"/>
          </a:solidFill>
          <a:ln w="12700">
            <a:solidFill>
              <a:srgbClr val="0F172B"/>
            </a:solidFill>
            <a:prstDash val="solid"/>
          </a:ln>
        </p:spPr>
      </p:sp>
      <p:pic>
        <p:nvPicPr>
          <p:cNvPr id="23" name="Image 1" descr="preencoded.png">    </p:cNvPr>
          <p:cNvPicPr>
            <a:picLocks noChangeAspect="1"/>
          </p:cNvPicPr>
          <p:nvPr/>
        </p:nvPicPr>
        <p:blipFill>
          <a:blip r:embed="rId2"/>
          <a:stretch>
            <a:fillRect/>
          </a:stretch>
        </p:blipFill>
        <p:spPr>
          <a:xfrm>
            <a:off x="777240" y="3355848"/>
            <a:ext cx="182880" cy="182880"/>
          </a:xfrm>
          <a:prstGeom prst="rect">
            <a:avLst/>
          </a:prstGeom>
        </p:spPr>
      </p:pic>
      <p:sp>
        <p:nvSpPr>
          <p:cNvPr id="24" name="Text 20"/>
          <p:cNvSpPr txBox="1"/>
          <p:nvPr/>
        </p:nvSpPr>
        <p:spPr>
          <a:xfrm>
            <a:off x="1188720" y="3191256"/>
            <a:ext cx="1828800" cy="512064"/>
          </a:xfrm>
          <a:prstGeom prst="rect">
            <a:avLst/>
          </a:prstGeom>
          <a:noFill/>
          <a:ln/>
        </p:spPr>
        <p:txBody>
          <a:bodyPr wrap="square" lIns="0" tIns="0" rIns="0" bIns="0" rtlCol="0" anchor="ctr"/>
          <a:lstStyle/>
          <a:p>
            <a:pPr indent="0" marL="0">
              <a:buNone/>
            </a:pPr>
            <a:r>
              <a:rPr lang="en-US" sz="1250" b="1" dirty="0">
                <a:solidFill>
                  <a:srgbClr val="020618"/>
                </a:solidFill>
                <a:latin typeface="Space Grotesk" pitchFamily="34" charset="0"/>
                <a:ea typeface="Space Grotesk" pitchFamily="34" charset="-122"/>
                <a:cs typeface="Space Grotesk" pitchFamily="34" charset="-120"/>
              </a:rPr>
              <a:t>Dashboard</a:t>
            </a:r>
            <a:endParaRPr lang="en-US" sz="1250" dirty="0"/>
          </a:p>
        </p:txBody>
      </p:sp>
      <p:sp>
        <p:nvSpPr>
          <p:cNvPr id="25" name="Text 21"/>
          <p:cNvSpPr txBox="1"/>
          <p:nvPr/>
        </p:nvSpPr>
        <p:spPr>
          <a:xfrm>
            <a:off x="3017520" y="3191256"/>
            <a:ext cx="3703320" cy="512064"/>
          </a:xfrm>
          <a:prstGeom prst="rect">
            <a:avLst/>
          </a:prstGeom>
          <a:noFill/>
          <a:ln/>
        </p:spPr>
        <p:txBody>
          <a:bodyPr wrap="square" lIns="0" tIns="0" rIns="0" bIns="0" rtlCol="0" anchor="ctr"/>
          <a:lstStyle/>
          <a:p>
            <a:pPr indent="0" marL="0">
              <a:buNone/>
            </a:pPr>
            <a:r>
              <a:rPr lang="en-US" sz="1050" dirty="0">
                <a:solidFill>
                  <a:srgbClr val="020618"/>
                </a:solidFill>
                <a:latin typeface="DM Sans" pitchFamily="34" charset="0"/>
                <a:ea typeface="DM Sans" pitchFamily="34" charset="-122"/>
                <a:cs typeface="DM Sans" pitchFamily="34" charset="-120"/>
              </a:rPr>
              <a:t>Versioned S3 bucket, with every file copied to a bucket in Paris</a:t>
            </a:r>
            <a:endParaRPr lang="en-US" sz="1050" dirty="0"/>
          </a:p>
        </p:txBody>
      </p:sp>
      <p:sp>
        <p:nvSpPr>
          <p:cNvPr id="26" name="Shape 22"/>
          <p:cNvSpPr/>
          <p:nvPr/>
        </p:nvSpPr>
        <p:spPr>
          <a:xfrm>
            <a:off x="548640" y="3776472"/>
            <a:ext cx="6309360" cy="512064"/>
          </a:xfrm>
          <a:prstGeom prst="roundRect">
            <a:avLst>
              <a:gd name="adj" fmla="val 28571"/>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27" name="Shape 23"/>
          <p:cNvSpPr/>
          <p:nvPr/>
        </p:nvSpPr>
        <p:spPr>
          <a:xfrm>
            <a:off x="685800" y="3849624"/>
            <a:ext cx="365760" cy="365760"/>
          </a:xfrm>
          <a:prstGeom prst="ellipse">
            <a:avLst/>
          </a:prstGeom>
          <a:solidFill>
            <a:srgbClr val="0F172B"/>
          </a:solidFill>
          <a:ln w="12700">
            <a:solidFill>
              <a:srgbClr val="0F172B"/>
            </a:solidFill>
            <a:prstDash val="solid"/>
          </a:ln>
        </p:spPr>
      </p:sp>
      <p:pic>
        <p:nvPicPr>
          <p:cNvPr id="28" name="Image 2" descr="preencoded.png">    </p:cNvPr>
          <p:cNvPicPr>
            <a:picLocks noChangeAspect="1"/>
          </p:cNvPicPr>
          <p:nvPr/>
        </p:nvPicPr>
        <p:blipFill>
          <a:blip r:embed="rId3"/>
          <a:stretch>
            <a:fillRect/>
          </a:stretch>
        </p:blipFill>
        <p:spPr>
          <a:xfrm>
            <a:off x="777240" y="3941064"/>
            <a:ext cx="182880" cy="182880"/>
          </a:xfrm>
          <a:prstGeom prst="rect">
            <a:avLst/>
          </a:prstGeom>
        </p:spPr>
      </p:pic>
      <p:sp>
        <p:nvSpPr>
          <p:cNvPr id="29" name="Text 24"/>
          <p:cNvSpPr txBox="1"/>
          <p:nvPr/>
        </p:nvSpPr>
        <p:spPr>
          <a:xfrm>
            <a:off x="1188720" y="3776472"/>
            <a:ext cx="1828800" cy="512064"/>
          </a:xfrm>
          <a:prstGeom prst="rect">
            <a:avLst/>
          </a:prstGeom>
          <a:noFill/>
          <a:ln/>
        </p:spPr>
        <p:txBody>
          <a:bodyPr wrap="square" lIns="0" tIns="0" rIns="0" bIns="0" rtlCol="0" anchor="ctr"/>
          <a:lstStyle/>
          <a:p>
            <a:pPr indent="0" marL="0">
              <a:buNone/>
            </a:pPr>
            <a:r>
              <a:rPr lang="en-US" sz="1250" b="1" dirty="0">
                <a:solidFill>
                  <a:srgbClr val="020618"/>
                </a:solidFill>
                <a:latin typeface="Space Grotesk" pitchFamily="34" charset="0"/>
                <a:ea typeface="Space Grotesk" pitchFamily="34" charset="-122"/>
                <a:cs typeface="Space Grotesk" pitchFamily="34" charset="-120"/>
              </a:rPr>
              <a:t>CloudFront failover</a:t>
            </a:r>
            <a:endParaRPr lang="en-US" sz="1250" dirty="0"/>
          </a:p>
        </p:txBody>
      </p:sp>
      <p:sp>
        <p:nvSpPr>
          <p:cNvPr id="30" name="Text 25"/>
          <p:cNvSpPr txBox="1"/>
          <p:nvPr/>
        </p:nvSpPr>
        <p:spPr>
          <a:xfrm>
            <a:off x="3017520" y="3776472"/>
            <a:ext cx="3703320" cy="512064"/>
          </a:xfrm>
          <a:prstGeom prst="rect">
            <a:avLst/>
          </a:prstGeom>
          <a:noFill/>
          <a:ln/>
        </p:spPr>
        <p:txBody>
          <a:bodyPr wrap="square" lIns="0" tIns="0" rIns="0" bIns="0" rtlCol="0" anchor="ctr"/>
          <a:lstStyle/>
          <a:p>
            <a:pPr indent="0" marL="0">
              <a:buNone/>
            </a:pPr>
            <a:r>
              <a:rPr lang="en-US" sz="1050" dirty="0">
                <a:solidFill>
                  <a:srgbClr val="020618"/>
                </a:solidFill>
                <a:latin typeface="DM Sans" pitchFamily="34" charset="0"/>
                <a:ea typeface="DM Sans" pitchFamily="34" charset="-122"/>
                <a:cs typeface="DM Sans" pitchFamily="34" charset="-120"/>
              </a:rPr>
              <a:t>If the Virginia bucket returns 5xx errors, CloudFront serves the Paris copy</a:t>
            </a:r>
            <a:endParaRPr lang="en-US" sz="1050" dirty="0"/>
          </a:p>
        </p:txBody>
      </p:sp>
      <p:sp>
        <p:nvSpPr>
          <p:cNvPr id="31" name="Shape 26"/>
          <p:cNvSpPr/>
          <p:nvPr/>
        </p:nvSpPr>
        <p:spPr>
          <a:xfrm>
            <a:off x="548640" y="4361688"/>
            <a:ext cx="6309360" cy="512064"/>
          </a:xfrm>
          <a:prstGeom prst="roundRect">
            <a:avLst>
              <a:gd name="adj" fmla="val 28571"/>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32" name="Shape 27"/>
          <p:cNvSpPr/>
          <p:nvPr/>
        </p:nvSpPr>
        <p:spPr>
          <a:xfrm>
            <a:off x="685800" y="4434840"/>
            <a:ext cx="365760" cy="365760"/>
          </a:xfrm>
          <a:prstGeom prst="ellipse">
            <a:avLst/>
          </a:prstGeom>
          <a:solidFill>
            <a:srgbClr val="0F172B"/>
          </a:solidFill>
          <a:ln w="12700">
            <a:solidFill>
              <a:srgbClr val="0F172B"/>
            </a:solidFill>
            <a:prstDash val="solid"/>
          </a:ln>
        </p:spPr>
      </p:sp>
      <p:pic>
        <p:nvPicPr>
          <p:cNvPr id="33" name="Image 3" descr="preencoded.png">    </p:cNvPr>
          <p:cNvPicPr>
            <a:picLocks noChangeAspect="1"/>
          </p:cNvPicPr>
          <p:nvPr/>
        </p:nvPicPr>
        <p:blipFill>
          <a:blip r:embed="rId4"/>
          <a:stretch>
            <a:fillRect/>
          </a:stretch>
        </p:blipFill>
        <p:spPr>
          <a:xfrm>
            <a:off x="777240" y="4526280"/>
            <a:ext cx="182880" cy="182880"/>
          </a:xfrm>
          <a:prstGeom prst="rect">
            <a:avLst/>
          </a:prstGeom>
        </p:spPr>
      </p:pic>
      <p:sp>
        <p:nvSpPr>
          <p:cNvPr id="34" name="Text 28"/>
          <p:cNvSpPr txBox="1"/>
          <p:nvPr/>
        </p:nvSpPr>
        <p:spPr>
          <a:xfrm>
            <a:off x="1188720" y="4361688"/>
            <a:ext cx="1828800" cy="512064"/>
          </a:xfrm>
          <a:prstGeom prst="rect">
            <a:avLst/>
          </a:prstGeom>
          <a:noFill/>
          <a:ln/>
        </p:spPr>
        <p:txBody>
          <a:bodyPr wrap="square" lIns="0" tIns="0" rIns="0" bIns="0" rtlCol="0" anchor="ctr"/>
          <a:lstStyle/>
          <a:p>
            <a:pPr indent="0" marL="0">
              <a:buNone/>
            </a:pPr>
            <a:r>
              <a:rPr lang="en-US" sz="1250" b="1" dirty="0">
                <a:solidFill>
                  <a:srgbClr val="020618"/>
                </a:solidFill>
                <a:latin typeface="Space Grotesk" pitchFamily="34" charset="0"/>
                <a:ea typeface="Space Grotesk" pitchFamily="34" charset="-122"/>
                <a:cs typeface="Space Grotesk" pitchFamily="34" charset="-120"/>
              </a:rPr>
              <a:t>Terraform state</a:t>
            </a:r>
            <a:endParaRPr lang="en-US" sz="1250" dirty="0"/>
          </a:p>
        </p:txBody>
      </p:sp>
      <p:sp>
        <p:nvSpPr>
          <p:cNvPr id="35" name="Text 29"/>
          <p:cNvSpPr txBox="1"/>
          <p:nvPr/>
        </p:nvSpPr>
        <p:spPr>
          <a:xfrm>
            <a:off x="3017520" y="4361688"/>
            <a:ext cx="3703320" cy="512064"/>
          </a:xfrm>
          <a:prstGeom prst="rect">
            <a:avLst/>
          </a:prstGeom>
          <a:noFill/>
          <a:ln/>
        </p:spPr>
        <p:txBody>
          <a:bodyPr wrap="square" lIns="0" tIns="0" rIns="0" bIns="0" rtlCol="0" anchor="ctr"/>
          <a:lstStyle/>
          <a:p>
            <a:pPr indent="0" marL="0">
              <a:buNone/>
            </a:pPr>
            <a:r>
              <a:rPr lang="en-US" sz="1050" dirty="0">
                <a:solidFill>
                  <a:srgbClr val="020618"/>
                </a:solidFill>
                <a:latin typeface="DM Sans" pitchFamily="34" charset="0"/>
                <a:ea typeface="DM Sans" pitchFamily="34" charset="-122"/>
                <a:cs typeface="DM Sans" pitchFamily="34" charset="-120"/>
              </a:rPr>
              <a:t>Versioned, encrypted S3 bucket, replicated to Paris</a:t>
            </a:r>
            <a:endParaRPr lang="en-US" sz="1050" dirty="0"/>
          </a:p>
        </p:txBody>
      </p:sp>
      <p:sp>
        <p:nvSpPr>
          <p:cNvPr id="36" name="Shape 30"/>
          <p:cNvSpPr/>
          <p:nvPr/>
        </p:nvSpPr>
        <p:spPr>
          <a:xfrm>
            <a:off x="548640" y="4946904"/>
            <a:ext cx="6309360" cy="512064"/>
          </a:xfrm>
          <a:prstGeom prst="roundRect">
            <a:avLst>
              <a:gd name="adj" fmla="val 28571"/>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37" name="Shape 31"/>
          <p:cNvSpPr/>
          <p:nvPr/>
        </p:nvSpPr>
        <p:spPr>
          <a:xfrm>
            <a:off x="685800" y="5020056"/>
            <a:ext cx="365760" cy="365760"/>
          </a:xfrm>
          <a:prstGeom prst="ellipse">
            <a:avLst/>
          </a:prstGeom>
          <a:solidFill>
            <a:srgbClr val="0F172B"/>
          </a:solidFill>
          <a:ln w="12700">
            <a:solidFill>
              <a:srgbClr val="0F172B"/>
            </a:solidFill>
            <a:prstDash val="solid"/>
          </a:ln>
        </p:spPr>
      </p:sp>
      <p:pic>
        <p:nvPicPr>
          <p:cNvPr id="38" name="Image 4" descr="preencoded.png">    </p:cNvPr>
          <p:cNvPicPr>
            <a:picLocks noChangeAspect="1"/>
          </p:cNvPicPr>
          <p:nvPr/>
        </p:nvPicPr>
        <p:blipFill>
          <a:blip r:embed="rId5"/>
          <a:stretch>
            <a:fillRect/>
          </a:stretch>
        </p:blipFill>
        <p:spPr>
          <a:xfrm>
            <a:off x="777240" y="5111496"/>
            <a:ext cx="182880" cy="182880"/>
          </a:xfrm>
          <a:prstGeom prst="rect">
            <a:avLst/>
          </a:prstGeom>
        </p:spPr>
      </p:pic>
      <p:sp>
        <p:nvSpPr>
          <p:cNvPr id="39" name="Text 32"/>
          <p:cNvSpPr txBox="1"/>
          <p:nvPr/>
        </p:nvSpPr>
        <p:spPr>
          <a:xfrm>
            <a:off x="1188720" y="4946904"/>
            <a:ext cx="1828800" cy="512064"/>
          </a:xfrm>
          <a:prstGeom prst="rect">
            <a:avLst/>
          </a:prstGeom>
          <a:noFill/>
          <a:ln/>
        </p:spPr>
        <p:txBody>
          <a:bodyPr wrap="square" lIns="0" tIns="0" rIns="0" bIns="0" rtlCol="0" anchor="ctr"/>
          <a:lstStyle/>
          <a:p>
            <a:pPr indent="0" marL="0">
              <a:buNone/>
            </a:pPr>
            <a:r>
              <a:rPr lang="en-US" sz="1250" b="1" dirty="0">
                <a:solidFill>
                  <a:srgbClr val="020618"/>
                </a:solidFill>
                <a:latin typeface="Space Grotesk" pitchFamily="34" charset="0"/>
                <a:ea typeface="Space Grotesk" pitchFamily="34" charset="-122"/>
                <a:cs typeface="Space Grotesk" pitchFamily="34" charset="-120"/>
              </a:rPr>
              <a:t>Infrastructure</a:t>
            </a:r>
            <a:endParaRPr lang="en-US" sz="1250" dirty="0"/>
          </a:p>
        </p:txBody>
      </p:sp>
      <p:sp>
        <p:nvSpPr>
          <p:cNvPr id="40" name="Text 33"/>
          <p:cNvSpPr txBox="1"/>
          <p:nvPr/>
        </p:nvSpPr>
        <p:spPr>
          <a:xfrm>
            <a:off x="3017520" y="4946904"/>
            <a:ext cx="3703320" cy="512064"/>
          </a:xfrm>
          <a:prstGeom prst="rect">
            <a:avLst/>
          </a:prstGeom>
          <a:noFill/>
          <a:ln/>
        </p:spPr>
        <p:txBody>
          <a:bodyPr wrap="square" lIns="0" tIns="0" rIns="0" bIns="0" rtlCol="0" anchor="ctr"/>
          <a:lstStyle/>
          <a:p>
            <a:pPr indent="0" marL="0">
              <a:buNone/>
            </a:pPr>
            <a:r>
              <a:rPr lang="en-US" sz="1050" dirty="0">
                <a:solidFill>
                  <a:srgbClr val="020618"/>
                </a:solidFill>
                <a:latin typeface="DM Sans" pitchFamily="34" charset="0"/>
                <a:ea typeface="DM Sans" pitchFamily="34" charset="-122"/>
                <a:cs typeface="DM Sans" pitchFamily="34" charset="-120"/>
              </a:rPr>
              <a:t>Defined in Terraform: rebuilt in Paris with one terraform apply</a:t>
            </a:r>
            <a:endParaRPr lang="en-US" sz="1050" dirty="0"/>
          </a:p>
        </p:txBody>
      </p:sp>
      <p:sp>
        <p:nvSpPr>
          <p:cNvPr id="41" name="Shape 34"/>
          <p:cNvSpPr/>
          <p:nvPr/>
        </p:nvSpPr>
        <p:spPr>
          <a:xfrm>
            <a:off x="548640" y="5532120"/>
            <a:ext cx="6309360" cy="512064"/>
          </a:xfrm>
          <a:prstGeom prst="roundRect">
            <a:avLst>
              <a:gd name="adj" fmla="val 28571"/>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42" name="Shape 35"/>
          <p:cNvSpPr/>
          <p:nvPr/>
        </p:nvSpPr>
        <p:spPr>
          <a:xfrm>
            <a:off x="685800" y="5605272"/>
            <a:ext cx="365760" cy="365760"/>
          </a:xfrm>
          <a:prstGeom prst="ellipse">
            <a:avLst/>
          </a:prstGeom>
          <a:solidFill>
            <a:srgbClr val="0F172B"/>
          </a:solidFill>
          <a:ln w="12700">
            <a:solidFill>
              <a:srgbClr val="0F172B"/>
            </a:solidFill>
            <a:prstDash val="solid"/>
          </a:ln>
        </p:spPr>
      </p:sp>
      <p:pic>
        <p:nvPicPr>
          <p:cNvPr id="43" name="Image 5" descr="preencoded.png">    </p:cNvPr>
          <p:cNvPicPr>
            <a:picLocks noChangeAspect="1"/>
          </p:cNvPicPr>
          <p:nvPr/>
        </p:nvPicPr>
        <p:blipFill>
          <a:blip r:embed="rId6"/>
          <a:stretch>
            <a:fillRect/>
          </a:stretch>
        </p:blipFill>
        <p:spPr>
          <a:xfrm>
            <a:off x="777240" y="5696712"/>
            <a:ext cx="182880" cy="182880"/>
          </a:xfrm>
          <a:prstGeom prst="rect">
            <a:avLst/>
          </a:prstGeom>
        </p:spPr>
      </p:pic>
      <p:sp>
        <p:nvSpPr>
          <p:cNvPr id="44" name="Text 36"/>
          <p:cNvSpPr txBox="1"/>
          <p:nvPr/>
        </p:nvSpPr>
        <p:spPr>
          <a:xfrm>
            <a:off x="1188720" y="5532120"/>
            <a:ext cx="1828800" cy="512064"/>
          </a:xfrm>
          <a:prstGeom prst="rect">
            <a:avLst/>
          </a:prstGeom>
          <a:noFill/>
          <a:ln/>
        </p:spPr>
        <p:txBody>
          <a:bodyPr wrap="square" lIns="0" tIns="0" rIns="0" bIns="0" rtlCol="0" anchor="ctr"/>
          <a:lstStyle/>
          <a:p>
            <a:pPr indent="0" marL="0">
              <a:buNone/>
            </a:pPr>
            <a:r>
              <a:rPr lang="en-US" sz="1250" b="1" dirty="0">
                <a:solidFill>
                  <a:srgbClr val="020618"/>
                </a:solidFill>
                <a:latin typeface="Space Grotesk" pitchFamily="34" charset="0"/>
                <a:ea typeface="Space Grotesk" pitchFamily="34" charset="-122"/>
                <a:cs typeface="Space Grotesk" pitchFamily="34" charset="-120"/>
              </a:rPr>
              <a:t>Code</a:t>
            </a:r>
            <a:endParaRPr lang="en-US" sz="1250" dirty="0"/>
          </a:p>
        </p:txBody>
      </p:sp>
      <p:sp>
        <p:nvSpPr>
          <p:cNvPr id="45" name="Text 37"/>
          <p:cNvSpPr txBox="1"/>
          <p:nvPr/>
        </p:nvSpPr>
        <p:spPr>
          <a:xfrm>
            <a:off x="3017520" y="5532120"/>
            <a:ext cx="3703320" cy="512064"/>
          </a:xfrm>
          <a:prstGeom prst="rect">
            <a:avLst/>
          </a:prstGeom>
          <a:noFill/>
          <a:ln/>
        </p:spPr>
        <p:txBody>
          <a:bodyPr wrap="square" lIns="0" tIns="0" rIns="0" bIns="0" rtlCol="0" anchor="ctr"/>
          <a:lstStyle/>
          <a:p>
            <a:pPr indent="0" marL="0">
              <a:buNone/>
            </a:pPr>
            <a:r>
              <a:rPr lang="en-US" sz="1050" dirty="0">
                <a:solidFill>
                  <a:srgbClr val="020618"/>
                </a:solidFill>
                <a:latin typeface="DM Sans" pitchFamily="34" charset="0"/>
                <a:ea typeface="DM Sans" pitchFamily="34" charset="-122"/>
                <a:cs typeface="DM Sans" pitchFamily="34" charset="-120"/>
              </a:rPr>
              <a:t>In GitHub; deployed by the CI/CD pipeline</a:t>
            </a:r>
            <a:endParaRPr lang="en-US" sz="1050" dirty="0"/>
          </a:p>
        </p:txBody>
      </p:sp>
      <p:sp>
        <p:nvSpPr>
          <p:cNvPr id="46" name="Text 38"/>
          <p:cNvSpPr txBox="1"/>
          <p:nvPr/>
        </p:nvSpPr>
        <p:spPr>
          <a:xfrm>
            <a:off x="548640" y="6135624"/>
            <a:ext cx="6309360" cy="356616"/>
          </a:xfrm>
          <a:prstGeom prst="rect">
            <a:avLst/>
          </a:prstGeom>
          <a:noFill/>
          <a:ln/>
        </p:spPr>
        <p:txBody>
          <a:bodyPr wrap="square" lIns="0" tIns="0" rIns="0" bIns="0" rtlCol="0" anchor="t"/>
          <a:lstStyle/>
          <a:p>
            <a:pPr indent="0" marL="0">
              <a:buNone/>
            </a:pPr>
            <a:r>
              <a:rPr lang="en-US" sz="1000" i="1" dirty="0">
                <a:solidFill>
                  <a:srgbClr val="62748E"/>
                </a:solidFill>
                <a:latin typeface="DM Sans" pitchFamily="34" charset="0"/>
                <a:ea typeface="DM Sans" pitchFamily="34" charset="-122"/>
                <a:cs typeface="DM Sans" pitchFamily="34" charset="-120"/>
              </a:rPr>
              <a:t>Limit: the API and Cognito run only in us-east-1, so a full region outage means redeploying with Terraform in Paris, where the data is already waiting.</a:t>
            </a:r>
            <a:endParaRPr lang="en-US" sz="1000" dirty="0"/>
          </a:p>
        </p:txBody>
      </p:sp>
      <p:sp>
        <p:nvSpPr>
          <p:cNvPr id="47" name="Shape 39"/>
          <p:cNvSpPr/>
          <p:nvPr/>
        </p:nvSpPr>
        <p:spPr>
          <a:xfrm>
            <a:off x="7132320" y="2606040"/>
            <a:ext cx="4507992" cy="3886200"/>
          </a:xfrm>
          <a:prstGeom prst="roundRect">
            <a:avLst>
              <a:gd name="adj" fmla="val 3765"/>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48" name="Text 40"/>
          <p:cNvSpPr txBox="1"/>
          <p:nvPr/>
        </p:nvSpPr>
        <p:spPr>
          <a:xfrm>
            <a:off x="7315200" y="2743200"/>
            <a:ext cx="4142232" cy="274320"/>
          </a:xfrm>
          <a:prstGeom prst="rect">
            <a:avLst/>
          </a:prstGeom>
          <a:noFill/>
          <a:ln/>
        </p:spPr>
        <p:txBody>
          <a:bodyPr wrap="square" lIns="0" tIns="0" rIns="0" bIns="0" rtlCol="0" anchor="ctr"/>
          <a:lstStyle/>
          <a:p>
            <a:pPr indent="0" marL="0">
              <a:buNone/>
            </a:pPr>
            <a:r>
              <a:rPr lang="en-US" sz="1050" b="1" dirty="0">
                <a:solidFill>
                  <a:srgbClr val="62748E"/>
                </a:solidFill>
                <a:latin typeface="DM Sans" pitchFamily="34" charset="0"/>
                <a:ea typeface="DM Sans" pitchFamily="34" charset="-122"/>
                <a:cs typeface="DM Sans" pitchFamily="34" charset="-120"/>
              </a:rPr>
              <a:t>S3 console: each bucket has a copy in Paris</a:t>
            </a:r>
            <a:endParaRPr lang="en-US" sz="1050" dirty="0"/>
          </a:p>
        </p:txBody>
      </p:sp>
      <p:pic>
        <p:nvPicPr>
          <p:cNvPr id="49" name="Image 6" descr="buckets.png">    </p:cNvPr>
          <p:cNvPicPr>
            <a:picLocks noChangeAspect="1"/>
          </p:cNvPicPr>
          <p:nvPr/>
        </p:nvPicPr>
        <p:blipFill>
          <a:blip r:embed="rId7"/>
          <a:stretch>
            <a:fillRect/>
          </a:stretch>
        </p:blipFill>
        <p:spPr>
          <a:xfrm>
            <a:off x="7315200" y="3108960"/>
            <a:ext cx="4142232" cy="1344003"/>
          </a:xfrm>
          <a:prstGeom prst="rect">
            <a:avLst/>
          </a:prstGeom>
        </p:spPr>
      </p:pic>
      <p:sp>
        <p:nvSpPr>
          <p:cNvPr id="50" name="Shape 41"/>
          <p:cNvSpPr/>
          <p:nvPr/>
        </p:nvSpPr>
        <p:spPr>
          <a:xfrm>
            <a:off x="7315200" y="4727283"/>
            <a:ext cx="4142232" cy="438912"/>
          </a:xfrm>
          <a:prstGeom prst="roundRect">
            <a:avLst>
              <a:gd name="adj" fmla="val 20833"/>
            </a:avLst>
          </a:prstGeom>
          <a:solidFill>
            <a:srgbClr val="F1F5F9"/>
          </a:solidFill>
          <a:ln w="12700">
            <a:solidFill>
              <a:srgbClr val="F1F5F9"/>
            </a:solidFill>
            <a:prstDash val="solid"/>
          </a:ln>
        </p:spPr>
      </p:sp>
      <p:sp>
        <p:nvSpPr>
          <p:cNvPr id="51" name="Shape 42"/>
          <p:cNvSpPr/>
          <p:nvPr/>
        </p:nvSpPr>
        <p:spPr>
          <a:xfrm>
            <a:off x="7406640" y="4791291"/>
            <a:ext cx="310896" cy="310896"/>
          </a:xfrm>
          <a:prstGeom prst="ellipse">
            <a:avLst/>
          </a:prstGeom>
          <a:solidFill>
            <a:srgbClr val="009689"/>
          </a:solidFill>
          <a:ln w="12700">
            <a:solidFill>
              <a:srgbClr val="009689"/>
            </a:solidFill>
            <a:prstDash val="solid"/>
          </a:ln>
        </p:spPr>
      </p:sp>
      <p:pic>
        <p:nvPicPr>
          <p:cNvPr id="52" name="Image 7" descr="preencoded.png">    </p:cNvPr>
          <p:cNvPicPr>
            <a:picLocks noChangeAspect="1"/>
          </p:cNvPicPr>
          <p:nvPr/>
        </p:nvPicPr>
        <p:blipFill>
          <a:blip r:embed="rId8"/>
          <a:stretch>
            <a:fillRect/>
          </a:stretch>
        </p:blipFill>
        <p:spPr>
          <a:xfrm>
            <a:off x="7484364" y="4869015"/>
            <a:ext cx="155448" cy="155448"/>
          </a:xfrm>
          <a:prstGeom prst="rect">
            <a:avLst/>
          </a:prstGeom>
        </p:spPr>
      </p:pic>
      <p:sp>
        <p:nvSpPr>
          <p:cNvPr id="53" name="Text 43"/>
          <p:cNvSpPr txBox="1"/>
          <p:nvPr/>
        </p:nvSpPr>
        <p:spPr>
          <a:xfrm>
            <a:off x="7818120" y="4727283"/>
            <a:ext cx="2011680" cy="438912"/>
          </a:xfrm>
          <a:prstGeom prst="rect">
            <a:avLst/>
          </a:prstGeom>
          <a:noFill/>
          <a:ln/>
        </p:spPr>
        <p:txBody>
          <a:bodyPr wrap="square" lIns="0" tIns="0" rIns="0" bIns="0" rtlCol="0" anchor="ctr"/>
          <a:lstStyle/>
          <a:p>
            <a:pPr indent="0" marL="0">
              <a:buNone/>
            </a:pPr>
            <a:r>
              <a:rPr lang="en-US" sz="1150" b="1" dirty="0">
                <a:solidFill>
                  <a:srgbClr val="020618"/>
                </a:solidFill>
                <a:latin typeface="DM Sans" pitchFamily="34" charset="0"/>
                <a:ea typeface="DM Sans" pitchFamily="34" charset="-122"/>
                <a:cs typeface="DM Sans" pitchFamily="34" charset="-120"/>
              </a:rPr>
              <a:t>Dashboard bucket</a:t>
            </a:r>
            <a:endParaRPr lang="en-US" sz="1150" dirty="0"/>
          </a:p>
        </p:txBody>
      </p:sp>
      <p:sp>
        <p:nvSpPr>
          <p:cNvPr id="54" name="Text 44"/>
          <p:cNvSpPr txBox="1"/>
          <p:nvPr/>
        </p:nvSpPr>
        <p:spPr>
          <a:xfrm>
            <a:off x="9646920" y="4727283"/>
            <a:ext cx="1673352" cy="438912"/>
          </a:xfrm>
          <a:prstGeom prst="rect">
            <a:avLst/>
          </a:prstGeom>
          <a:noFill/>
          <a:ln/>
        </p:spPr>
        <p:txBody>
          <a:bodyPr wrap="square" lIns="0" tIns="0" rIns="0" bIns="0" rtlCol="0" anchor="ctr"/>
          <a:lstStyle/>
          <a:p>
            <a:pPr algn="r" indent="0" marL="0">
              <a:buNone/>
            </a:pPr>
            <a:r>
              <a:rPr lang="en-US" sz="1100" dirty="0">
                <a:solidFill>
                  <a:srgbClr val="62748E"/>
                </a:solidFill>
                <a:latin typeface="DM Sans" pitchFamily="34" charset="0"/>
                <a:ea typeface="DM Sans" pitchFamily="34" charset="-122"/>
                <a:cs typeface="DM Sans" pitchFamily="34" charset="-120"/>
              </a:rPr>
              <a:t>Virginia  →  Paris</a:t>
            </a:r>
            <a:endParaRPr lang="en-US" sz="1100" dirty="0"/>
          </a:p>
        </p:txBody>
      </p:sp>
      <p:sp>
        <p:nvSpPr>
          <p:cNvPr id="55" name="Shape 45"/>
          <p:cNvSpPr/>
          <p:nvPr/>
        </p:nvSpPr>
        <p:spPr>
          <a:xfrm>
            <a:off x="7315200" y="5275923"/>
            <a:ext cx="4142232" cy="438912"/>
          </a:xfrm>
          <a:prstGeom prst="roundRect">
            <a:avLst>
              <a:gd name="adj" fmla="val 20833"/>
            </a:avLst>
          </a:prstGeom>
          <a:solidFill>
            <a:srgbClr val="F1F5F9"/>
          </a:solidFill>
          <a:ln w="12700">
            <a:solidFill>
              <a:srgbClr val="F1F5F9"/>
            </a:solidFill>
            <a:prstDash val="solid"/>
          </a:ln>
        </p:spPr>
      </p:sp>
      <p:sp>
        <p:nvSpPr>
          <p:cNvPr id="56" name="Shape 46"/>
          <p:cNvSpPr/>
          <p:nvPr/>
        </p:nvSpPr>
        <p:spPr>
          <a:xfrm>
            <a:off x="7406640" y="5339931"/>
            <a:ext cx="310896" cy="310896"/>
          </a:xfrm>
          <a:prstGeom prst="ellipse">
            <a:avLst/>
          </a:prstGeom>
          <a:solidFill>
            <a:srgbClr val="0F172B"/>
          </a:solidFill>
          <a:ln w="12700">
            <a:solidFill>
              <a:srgbClr val="0F172B"/>
            </a:solidFill>
            <a:prstDash val="solid"/>
          </a:ln>
        </p:spPr>
      </p:sp>
      <p:pic>
        <p:nvPicPr>
          <p:cNvPr id="57" name="Image 8" descr="preencoded.png">    </p:cNvPr>
          <p:cNvPicPr>
            <a:picLocks noChangeAspect="1"/>
          </p:cNvPicPr>
          <p:nvPr/>
        </p:nvPicPr>
        <p:blipFill>
          <a:blip r:embed="rId9"/>
          <a:stretch>
            <a:fillRect/>
          </a:stretch>
        </p:blipFill>
        <p:spPr>
          <a:xfrm>
            <a:off x="7484364" y="5417655"/>
            <a:ext cx="155448" cy="155448"/>
          </a:xfrm>
          <a:prstGeom prst="rect">
            <a:avLst/>
          </a:prstGeom>
        </p:spPr>
      </p:pic>
      <p:sp>
        <p:nvSpPr>
          <p:cNvPr id="58" name="Text 47"/>
          <p:cNvSpPr txBox="1"/>
          <p:nvPr/>
        </p:nvSpPr>
        <p:spPr>
          <a:xfrm>
            <a:off x="7818120" y="5275923"/>
            <a:ext cx="2011680" cy="438912"/>
          </a:xfrm>
          <a:prstGeom prst="rect">
            <a:avLst/>
          </a:prstGeom>
          <a:noFill/>
          <a:ln/>
        </p:spPr>
        <p:txBody>
          <a:bodyPr wrap="square" lIns="0" tIns="0" rIns="0" bIns="0" rtlCol="0" anchor="ctr"/>
          <a:lstStyle/>
          <a:p>
            <a:pPr indent="0" marL="0">
              <a:buNone/>
            </a:pPr>
            <a:r>
              <a:rPr lang="en-US" sz="1150" b="1" dirty="0">
                <a:solidFill>
                  <a:srgbClr val="020618"/>
                </a:solidFill>
                <a:latin typeface="DM Sans" pitchFamily="34" charset="0"/>
                <a:ea typeface="DM Sans" pitchFamily="34" charset="-122"/>
                <a:cs typeface="DM Sans" pitchFamily="34" charset="-120"/>
              </a:rPr>
              <a:t>Terraform state bucket</a:t>
            </a:r>
            <a:endParaRPr lang="en-US" sz="1150" dirty="0"/>
          </a:p>
        </p:txBody>
      </p:sp>
      <p:sp>
        <p:nvSpPr>
          <p:cNvPr id="59" name="Text 48"/>
          <p:cNvSpPr txBox="1"/>
          <p:nvPr/>
        </p:nvSpPr>
        <p:spPr>
          <a:xfrm>
            <a:off x="9646920" y="5275923"/>
            <a:ext cx="1673352" cy="438912"/>
          </a:xfrm>
          <a:prstGeom prst="rect">
            <a:avLst/>
          </a:prstGeom>
          <a:noFill/>
          <a:ln/>
        </p:spPr>
        <p:txBody>
          <a:bodyPr wrap="square" lIns="0" tIns="0" rIns="0" bIns="0" rtlCol="0" anchor="ctr"/>
          <a:lstStyle/>
          <a:p>
            <a:pPr algn="r" indent="0" marL="0">
              <a:buNone/>
            </a:pPr>
            <a:r>
              <a:rPr lang="en-US" sz="1100" dirty="0">
                <a:solidFill>
                  <a:srgbClr val="62748E"/>
                </a:solidFill>
                <a:latin typeface="DM Sans" pitchFamily="34" charset="0"/>
                <a:ea typeface="DM Sans" pitchFamily="34" charset="-122"/>
                <a:cs typeface="DM Sans" pitchFamily="34" charset="-120"/>
              </a:rPr>
              <a:t>Virginia  →  Paris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CampusPulse disaster recovery</dc:title>
  <dc:subject>PptxGenJS Presentation</dc:subject>
  <dc:creator>PptxGenJS</dc:creator>
  <cp:lastModifiedBy>PptxGenJS</cp:lastModifiedBy>
  <cp:revision>1</cp:revision>
  <dcterms:created xsi:type="dcterms:W3CDTF">2026-09-19T10:08:01Z</dcterms:created>
  <dcterms:modified xsi:type="dcterms:W3CDTF">2026-09-19T10:08:01Z</dcterms:modified>
</cp:coreProperties>
</file>