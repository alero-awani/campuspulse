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CloudFront, a content delivery network, so we get edge locations that sit between users and our S3 bucket. CloudFront caches the files, which makes responses faster. For HTTPS we use the CloudFront default certificate. We set up origin failover with two origins: the dashboard bucket in Virginia (us-east-1) and its replicated copy in Paris (eu-west-3). And the bucket policies allow only CloudFront to read the files from the buckets.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CloudFront + S3</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How the dashboard reaches users: fast, over HTTPS, with a backup copy, and a bucket nobody else can read.</a:t>
            </a:r>
            <a:endParaRPr lang="en-US" sz="1400" dirty="0"/>
          </a:p>
        </p:txBody>
      </p:sp>
      <p:sp>
        <p:nvSpPr>
          <p:cNvPr id="4" name="Shape 2"/>
          <p:cNvSpPr/>
          <p:nvPr/>
        </p:nvSpPr>
        <p:spPr>
          <a:xfrm>
            <a:off x="548640" y="2194560"/>
            <a:ext cx="2103120" cy="1188720"/>
          </a:xfrm>
          <a:prstGeom prst="roundRect">
            <a:avLst>
              <a:gd name="adj" fmla="val 12308"/>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 name="Shape 3"/>
          <p:cNvSpPr/>
          <p:nvPr/>
        </p:nvSpPr>
        <p:spPr>
          <a:xfrm>
            <a:off x="749808" y="2395728"/>
            <a:ext cx="512064" cy="512064"/>
          </a:xfrm>
          <a:prstGeom prst="ellipse">
            <a:avLst/>
          </a:prstGeom>
          <a:solidFill>
            <a:srgbClr val="0F172B"/>
          </a:solidFill>
          <a:ln w="12700">
            <a:solidFill>
              <a:srgbClr val="0F172B"/>
            </a:solidFill>
            <a:prstDash val="solid"/>
          </a:ln>
        </p:spPr>
      </p:sp>
      <p:pic>
        <p:nvPicPr>
          <p:cNvPr id="6" name="Image 0" descr="preencoded.png">    </p:cNvPr>
          <p:cNvPicPr>
            <a:picLocks noChangeAspect="1"/>
          </p:cNvPicPr>
          <p:nvPr/>
        </p:nvPicPr>
        <p:blipFill>
          <a:blip r:embed="rId1"/>
          <a:stretch>
            <a:fillRect/>
          </a:stretch>
        </p:blipFill>
        <p:spPr>
          <a:xfrm>
            <a:off x="877824" y="2523744"/>
            <a:ext cx="256032" cy="256032"/>
          </a:xfrm>
          <a:prstGeom prst="rect">
            <a:avLst/>
          </a:prstGeom>
        </p:spPr>
      </p:pic>
      <p:sp>
        <p:nvSpPr>
          <p:cNvPr id="7" name="Text 4"/>
          <p:cNvSpPr txBox="1"/>
          <p:nvPr/>
        </p:nvSpPr>
        <p:spPr>
          <a:xfrm>
            <a:off x="1389888" y="2395728"/>
            <a:ext cx="1188720" cy="51206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Users</a:t>
            </a:r>
            <a:endParaRPr lang="en-US" sz="1600" dirty="0"/>
          </a:p>
        </p:txBody>
      </p:sp>
      <p:sp>
        <p:nvSpPr>
          <p:cNvPr id="8" name="Text 5"/>
          <p:cNvSpPr txBox="1"/>
          <p:nvPr/>
        </p:nvSpPr>
        <p:spPr>
          <a:xfrm>
            <a:off x="749808" y="2971800"/>
            <a:ext cx="1828800" cy="274320"/>
          </a:xfrm>
          <a:prstGeom prst="rect">
            <a:avLst/>
          </a:prstGeom>
          <a:noFill/>
          <a:ln/>
        </p:spPr>
        <p:txBody>
          <a:bodyPr wrap="square" lIns="0" tIns="0" rIns="0" bIns="0" rtlCol="0" anchor="ctr"/>
          <a:lstStyle/>
          <a:p>
            <a:pPr indent="0" marL="0">
              <a:buNone/>
            </a:pPr>
            <a:r>
              <a:rPr lang="en-US" sz="1100" dirty="0">
                <a:solidFill>
                  <a:srgbClr val="62748E"/>
                </a:solidFill>
                <a:latin typeface="DM Sans" pitchFamily="34" charset="0"/>
                <a:ea typeface="DM Sans" pitchFamily="34" charset="-122"/>
                <a:cs typeface="DM Sans" pitchFamily="34" charset="-120"/>
              </a:rPr>
              <a:t>Open the dashboard</a:t>
            </a:r>
            <a:endParaRPr lang="en-US" sz="1100" dirty="0"/>
          </a:p>
        </p:txBody>
      </p:sp>
      <p:sp>
        <p:nvSpPr>
          <p:cNvPr id="9" name="Shape 6"/>
          <p:cNvSpPr/>
          <p:nvPr/>
        </p:nvSpPr>
        <p:spPr>
          <a:xfrm>
            <a:off x="2724912" y="2788920"/>
            <a:ext cx="1042416" cy="0"/>
          </a:xfrm>
          <a:prstGeom prst="line">
            <a:avLst/>
          </a:prstGeom>
          <a:noFill/>
          <a:ln w="22225">
            <a:solidFill>
              <a:srgbClr val="62748E"/>
            </a:solidFill>
            <a:prstDash val="solid"/>
            <a:tailEnd type="triangle"/>
          </a:ln>
        </p:spPr>
      </p:sp>
      <p:sp>
        <p:nvSpPr>
          <p:cNvPr id="10" name="Text 7"/>
          <p:cNvSpPr txBox="1"/>
          <p:nvPr/>
        </p:nvSpPr>
        <p:spPr>
          <a:xfrm>
            <a:off x="2651760" y="2487168"/>
            <a:ext cx="1188720" cy="274320"/>
          </a:xfrm>
          <a:prstGeom prst="rect">
            <a:avLst/>
          </a:prstGeom>
          <a:noFill/>
          <a:ln/>
        </p:spPr>
        <p:txBody>
          <a:bodyPr wrap="square" lIns="0" tIns="0" rIns="0" bIns="0" rtlCol="0" anchor="b"/>
          <a:lstStyle/>
          <a:p>
            <a:pPr algn="ctr" indent="0" marL="0">
              <a:buNone/>
            </a:pPr>
            <a:r>
              <a:rPr lang="en-US" sz="1000" b="1" dirty="0">
                <a:solidFill>
                  <a:srgbClr val="62748E"/>
                </a:solidFill>
                <a:latin typeface="DM Sans" pitchFamily="34" charset="0"/>
                <a:ea typeface="DM Sans" pitchFamily="34" charset="-122"/>
                <a:cs typeface="DM Sans" pitchFamily="34" charset="-120"/>
              </a:rPr>
              <a:t>HTTPS</a:t>
            </a:r>
            <a:endParaRPr lang="en-US" sz="1000" dirty="0"/>
          </a:p>
        </p:txBody>
      </p:sp>
      <p:sp>
        <p:nvSpPr>
          <p:cNvPr id="11" name="Shape 8"/>
          <p:cNvSpPr/>
          <p:nvPr/>
        </p:nvSpPr>
        <p:spPr>
          <a:xfrm>
            <a:off x="3840480" y="1874520"/>
            <a:ext cx="3017520" cy="1828800"/>
          </a:xfrm>
          <a:prstGeom prst="roundRect">
            <a:avLst>
              <a:gd name="adj" fmla="val 80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2" name="Shape 9"/>
          <p:cNvSpPr/>
          <p:nvPr/>
        </p:nvSpPr>
        <p:spPr>
          <a:xfrm>
            <a:off x="4069080" y="2103120"/>
            <a:ext cx="548640" cy="548640"/>
          </a:xfrm>
          <a:prstGeom prst="ellipse">
            <a:avLst/>
          </a:prstGeom>
          <a:solidFill>
            <a:srgbClr val="F54900"/>
          </a:solidFill>
          <a:ln w="12700">
            <a:solidFill>
              <a:srgbClr val="F54900"/>
            </a:solidFill>
            <a:prstDash val="solid"/>
          </a:ln>
        </p:spPr>
      </p:sp>
      <p:pic>
        <p:nvPicPr>
          <p:cNvPr id="13" name="Image 1" descr="preencoded.png">    </p:cNvPr>
          <p:cNvPicPr>
            <a:picLocks noChangeAspect="1"/>
          </p:cNvPicPr>
          <p:nvPr/>
        </p:nvPicPr>
        <p:blipFill>
          <a:blip r:embed="rId2"/>
          <a:stretch>
            <a:fillRect/>
          </a:stretch>
        </p:blipFill>
        <p:spPr>
          <a:xfrm>
            <a:off x="4206240" y="2240280"/>
            <a:ext cx="274320" cy="274320"/>
          </a:xfrm>
          <a:prstGeom prst="rect">
            <a:avLst/>
          </a:prstGeom>
        </p:spPr>
      </p:pic>
      <p:sp>
        <p:nvSpPr>
          <p:cNvPr id="14" name="Text 10"/>
          <p:cNvSpPr txBox="1"/>
          <p:nvPr/>
        </p:nvSpPr>
        <p:spPr>
          <a:xfrm>
            <a:off x="4754880" y="2103120"/>
            <a:ext cx="2011680" cy="548640"/>
          </a:xfrm>
          <a:prstGeom prst="rect">
            <a:avLst/>
          </a:prstGeom>
          <a:noFill/>
          <a:ln/>
        </p:spPr>
        <p:txBody>
          <a:bodyPr wrap="square" lIns="0" tIns="0" rIns="0" bIns="0" rtlCol="0" anchor="ctr"/>
          <a:lstStyle/>
          <a:p>
            <a:pPr indent="0" marL="0">
              <a:buNone/>
            </a:pPr>
            <a:r>
              <a:rPr lang="en-US" sz="1700" b="1" dirty="0">
                <a:solidFill>
                  <a:srgbClr val="020618"/>
                </a:solidFill>
                <a:latin typeface="Space Grotesk" pitchFamily="34" charset="0"/>
                <a:ea typeface="Space Grotesk" pitchFamily="34" charset="-122"/>
                <a:cs typeface="Space Grotesk" pitchFamily="34" charset="-120"/>
              </a:rPr>
              <a:t>CloudFront</a:t>
            </a:r>
            <a:endParaRPr lang="en-US" sz="1700" dirty="0"/>
          </a:p>
        </p:txBody>
      </p:sp>
      <p:sp>
        <p:nvSpPr>
          <p:cNvPr id="15" name="Text 11"/>
          <p:cNvSpPr txBox="1"/>
          <p:nvPr/>
        </p:nvSpPr>
        <p:spPr>
          <a:xfrm>
            <a:off x="4069080" y="2816352"/>
            <a:ext cx="2651760" cy="731520"/>
          </a:xfrm>
          <a:prstGeom prst="rect">
            <a:avLst/>
          </a:prstGeom>
          <a:noFill/>
          <a:ln/>
        </p:spPr>
        <p:txBody>
          <a:bodyPr wrap="square" lIns="0" tIns="0" rIns="0" bIns="0" rtlCol="0" anchor="t"/>
          <a:lstStyle/>
          <a:p>
            <a:pPr indent="0" marL="0">
              <a:buNone/>
            </a:pPr>
            <a:r>
              <a:rPr lang="en-US" sz="1150" dirty="0">
                <a:solidFill>
                  <a:srgbClr val="020618"/>
                </a:solidFill>
                <a:latin typeface="DM Sans" pitchFamily="34" charset="0"/>
                <a:ea typeface="DM Sans" pitchFamily="34" charset="-122"/>
                <a:cs typeface="DM Sans" pitchFamily="34" charset="-120"/>
              </a:rPr>
              <a:t>Content delivery network: edge locations cache the files close to users</a:t>
            </a:r>
            <a:endParaRPr lang="en-US" sz="1150" dirty="0"/>
          </a:p>
        </p:txBody>
      </p:sp>
      <p:sp>
        <p:nvSpPr>
          <p:cNvPr id="16" name="Shape 12"/>
          <p:cNvSpPr/>
          <p:nvPr/>
        </p:nvSpPr>
        <p:spPr>
          <a:xfrm>
            <a:off x="8092440" y="1691640"/>
            <a:ext cx="3547872" cy="1051560"/>
          </a:xfrm>
          <a:prstGeom prst="roundRect">
            <a:avLst>
              <a:gd name="adj" fmla="val 13913"/>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7" name="Shape 13"/>
          <p:cNvSpPr/>
          <p:nvPr/>
        </p:nvSpPr>
        <p:spPr>
          <a:xfrm>
            <a:off x="8293608" y="1947672"/>
            <a:ext cx="530352" cy="530352"/>
          </a:xfrm>
          <a:prstGeom prst="ellipse">
            <a:avLst/>
          </a:prstGeom>
          <a:solidFill>
            <a:srgbClr val="009689"/>
          </a:solidFill>
          <a:ln w="12700">
            <a:solidFill>
              <a:srgbClr val="009689"/>
            </a:solidFill>
            <a:prstDash val="solid"/>
          </a:ln>
        </p:spPr>
      </p:sp>
      <p:pic>
        <p:nvPicPr>
          <p:cNvPr id="18" name="Image 2" descr="preencoded.png">    </p:cNvPr>
          <p:cNvPicPr>
            <a:picLocks noChangeAspect="1"/>
          </p:cNvPicPr>
          <p:nvPr/>
        </p:nvPicPr>
        <p:blipFill>
          <a:blip r:embed="rId3"/>
          <a:stretch>
            <a:fillRect/>
          </a:stretch>
        </p:blipFill>
        <p:spPr>
          <a:xfrm>
            <a:off x="8426196" y="2080260"/>
            <a:ext cx="265176" cy="265176"/>
          </a:xfrm>
          <a:prstGeom prst="rect">
            <a:avLst/>
          </a:prstGeom>
        </p:spPr>
      </p:pic>
      <p:sp>
        <p:nvSpPr>
          <p:cNvPr id="19" name="Text 14"/>
          <p:cNvSpPr txBox="1"/>
          <p:nvPr/>
        </p:nvSpPr>
        <p:spPr>
          <a:xfrm>
            <a:off x="8961120" y="1892808"/>
            <a:ext cx="2084832" cy="347472"/>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S3 · Virginia</a:t>
            </a:r>
            <a:endParaRPr lang="en-US" sz="1500" dirty="0"/>
          </a:p>
        </p:txBody>
      </p:sp>
      <p:sp>
        <p:nvSpPr>
          <p:cNvPr id="20" name="Text 15"/>
          <p:cNvSpPr txBox="1"/>
          <p:nvPr/>
        </p:nvSpPr>
        <p:spPr>
          <a:xfrm>
            <a:off x="8961120" y="2240280"/>
            <a:ext cx="2267712" cy="274320"/>
          </a:xfrm>
          <a:prstGeom prst="rect">
            <a:avLst/>
          </a:prstGeom>
          <a:noFill/>
          <a:ln/>
        </p:spPr>
        <p:txBody>
          <a:bodyPr wrap="square" lIns="0" tIns="0" rIns="0" bIns="0" rtlCol="0" anchor="ctr"/>
          <a:lstStyle/>
          <a:p>
            <a:pPr indent="0" marL="0">
              <a:buNone/>
            </a:pPr>
            <a:r>
              <a:rPr lang="en-US" sz="1100" dirty="0">
                <a:solidFill>
                  <a:srgbClr val="62748E"/>
                </a:solidFill>
                <a:latin typeface="DM Sans" pitchFamily="34" charset="0"/>
                <a:ea typeface="DM Sans" pitchFamily="34" charset="-122"/>
                <a:cs typeface="DM Sans" pitchFamily="34" charset="-120"/>
              </a:rPr>
              <a:t>us-east-1 · primary origin</a:t>
            </a:r>
            <a:endParaRPr lang="en-US" sz="1100" dirty="0"/>
          </a:p>
        </p:txBody>
      </p:sp>
      <p:pic>
        <p:nvPicPr>
          <p:cNvPr id="21" name="Image 3" descr="preencoded.png">    </p:cNvPr>
          <p:cNvPicPr>
            <a:picLocks noChangeAspect="1"/>
          </p:cNvPicPr>
          <p:nvPr/>
        </p:nvPicPr>
        <p:blipFill>
          <a:blip r:embed="rId4"/>
          <a:stretch>
            <a:fillRect/>
          </a:stretch>
        </p:blipFill>
        <p:spPr>
          <a:xfrm>
            <a:off x="11183112" y="1911096"/>
            <a:ext cx="256032" cy="256032"/>
          </a:xfrm>
          <a:prstGeom prst="rect">
            <a:avLst/>
          </a:prstGeom>
        </p:spPr>
      </p:pic>
      <p:sp>
        <p:nvSpPr>
          <p:cNvPr id="22" name="Shape 16"/>
          <p:cNvSpPr/>
          <p:nvPr/>
        </p:nvSpPr>
        <p:spPr>
          <a:xfrm>
            <a:off x="8092440" y="3108960"/>
            <a:ext cx="3547872" cy="1051560"/>
          </a:xfrm>
          <a:prstGeom prst="roundRect">
            <a:avLst>
              <a:gd name="adj" fmla="val 13913"/>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3" name="Shape 17"/>
          <p:cNvSpPr/>
          <p:nvPr/>
        </p:nvSpPr>
        <p:spPr>
          <a:xfrm>
            <a:off x="8293608" y="3364992"/>
            <a:ext cx="530352" cy="530352"/>
          </a:xfrm>
          <a:prstGeom prst="ellipse">
            <a:avLst/>
          </a:prstGeom>
          <a:solidFill>
            <a:srgbClr val="0F172B"/>
          </a:solidFill>
          <a:ln w="12700">
            <a:solidFill>
              <a:srgbClr val="0F172B"/>
            </a:solidFill>
            <a:prstDash val="solid"/>
          </a:ln>
        </p:spPr>
      </p:sp>
      <p:pic>
        <p:nvPicPr>
          <p:cNvPr id="24" name="Image 4" descr="preencoded.png">    </p:cNvPr>
          <p:cNvPicPr>
            <a:picLocks noChangeAspect="1"/>
          </p:cNvPicPr>
          <p:nvPr/>
        </p:nvPicPr>
        <p:blipFill>
          <a:blip r:embed="rId5"/>
          <a:stretch>
            <a:fillRect/>
          </a:stretch>
        </p:blipFill>
        <p:spPr>
          <a:xfrm>
            <a:off x="8426196" y="3497580"/>
            <a:ext cx="265176" cy="265176"/>
          </a:xfrm>
          <a:prstGeom prst="rect">
            <a:avLst/>
          </a:prstGeom>
        </p:spPr>
      </p:pic>
      <p:sp>
        <p:nvSpPr>
          <p:cNvPr id="25" name="Text 18"/>
          <p:cNvSpPr txBox="1"/>
          <p:nvPr/>
        </p:nvSpPr>
        <p:spPr>
          <a:xfrm>
            <a:off x="8961120" y="3310128"/>
            <a:ext cx="2084832" cy="347472"/>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S3 · Paris</a:t>
            </a:r>
            <a:endParaRPr lang="en-US" sz="1500" dirty="0"/>
          </a:p>
        </p:txBody>
      </p:sp>
      <p:sp>
        <p:nvSpPr>
          <p:cNvPr id="26" name="Text 19"/>
          <p:cNvSpPr txBox="1"/>
          <p:nvPr/>
        </p:nvSpPr>
        <p:spPr>
          <a:xfrm>
            <a:off x="8961120" y="3657600"/>
            <a:ext cx="2267712" cy="274320"/>
          </a:xfrm>
          <a:prstGeom prst="rect">
            <a:avLst/>
          </a:prstGeom>
          <a:noFill/>
          <a:ln/>
        </p:spPr>
        <p:txBody>
          <a:bodyPr wrap="square" lIns="0" tIns="0" rIns="0" bIns="0" rtlCol="0" anchor="ctr"/>
          <a:lstStyle/>
          <a:p>
            <a:pPr indent="0" marL="0">
              <a:buNone/>
            </a:pPr>
            <a:r>
              <a:rPr lang="en-US" sz="1100" dirty="0">
                <a:solidFill>
                  <a:srgbClr val="62748E"/>
                </a:solidFill>
                <a:latin typeface="DM Sans" pitchFamily="34" charset="0"/>
                <a:ea typeface="DM Sans" pitchFamily="34" charset="-122"/>
                <a:cs typeface="DM Sans" pitchFamily="34" charset="-120"/>
              </a:rPr>
              <a:t>eu-west-3 · replicated copy</a:t>
            </a:r>
            <a:endParaRPr lang="en-US" sz="1100" dirty="0"/>
          </a:p>
        </p:txBody>
      </p:sp>
      <p:pic>
        <p:nvPicPr>
          <p:cNvPr id="27" name="Image 5" descr="preencoded.png">    </p:cNvPr>
          <p:cNvPicPr>
            <a:picLocks noChangeAspect="1"/>
          </p:cNvPicPr>
          <p:nvPr/>
        </p:nvPicPr>
        <p:blipFill>
          <a:blip r:embed="rId6"/>
          <a:stretch>
            <a:fillRect/>
          </a:stretch>
        </p:blipFill>
        <p:spPr>
          <a:xfrm>
            <a:off x="11183112" y="3328416"/>
            <a:ext cx="256032" cy="256032"/>
          </a:xfrm>
          <a:prstGeom prst="rect">
            <a:avLst/>
          </a:prstGeom>
        </p:spPr>
      </p:pic>
      <p:sp>
        <p:nvSpPr>
          <p:cNvPr id="28" name="Shape 20"/>
          <p:cNvSpPr/>
          <p:nvPr/>
        </p:nvSpPr>
        <p:spPr>
          <a:xfrm>
            <a:off x="6931152" y="2212848"/>
            <a:ext cx="1097280" cy="0"/>
          </a:xfrm>
          <a:prstGeom prst="line">
            <a:avLst/>
          </a:prstGeom>
          <a:noFill/>
          <a:ln w="22225">
            <a:solidFill>
              <a:srgbClr val="62748E"/>
            </a:solidFill>
            <a:prstDash val="solid"/>
            <a:tailEnd type="triangle"/>
          </a:ln>
        </p:spPr>
      </p:sp>
      <p:sp>
        <p:nvSpPr>
          <p:cNvPr id="29" name="Text 21"/>
          <p:cNvSpPr txBox="1"/>
          <p:nvPr/>
        </p:nvSpPr>
        <p:spPr>
          <a:xfrm>
            <a:off x="6858000" y="1920240"/>
            <a:ext cx="1234440" cy="274320"/>
          </a:xfrm>
          <a:prstGeom prst="rect">
            <a:avLst/>
          </a:prstGeom>
          <a:noFill/>
          <a:ln/>
        </p:spPr>
        <p:txBody>
          <a:bodyPr wrap="square" lIns="0" tIns="0" rIns="0" bIns="0" rtlCol="0" anchor="b"/>
          <a:lstStyle/>
          <a:p>
            <a:pPr algn="ctr" indent="0" marL="0">
              <a:buNone/>
            </a:pPr>
            <a:r>
              <a:rPr lang="en-US" sz="1000" b="1" dirty="0">
                <a:solidFill>
                  <a:srgbClr val="62748E"/>
                </a:solidFill>
                <a:latin typeface="DM Sans" pitchFamily="34" charset="0"/>
                <a:ea typeface="DM Sans" pitchFamily="34" charset="-122"/>
                <a:cs typeface="DM Sans" pitchFamily="34" charset="-120"/>
              </a:rPr>
              <a:t>primary</a:t>
            </a:r>
            <a:endParaRPr lang="en-US" sz="1000" dirty="0"/>
          </a:p>
        </p:txBody>
      </p:sp>
      <p:sp>
        <p:nvSpPr>
          <p:cNvPr id="30" name="Shape 22"/>
          <p:cNvSpPr/>
          <p:nvPr/>
        </p:nvSpPr>
        <p:spPr>
          <a:xfrm>
            <a:off x="6931152" y="3630168"/>
            <a:ext cx="1097280" cy="0"/>
          </a:xfrm>
          <a:prstGeom prst="line">
            <a:avLst/>
          </a:prstGeom>
          <a:noFill/>
          <a:ln w="22225">
            <a:solidFill>
              <a:srgbClr val="62748E"/>
            </a:solidFill>
            <a:prstDash val="dash"/>
            <a:tailEnd type="triangle"/>
          </a:ln>
        </p:spPr>
      </p:sp>
      <p:sp>
        <p:nvSpPr>
          <p:cNvPr id="31" name="Text 23"/>
          <p:cNvSpPr txBox="1"/>
          <p:nvPr/>
        </p:nvSpPr>
        <p:spPr>
          <a:xfrm>
            <a:off x="6858000" y="3337560"/>
            <a:ext cx="1234440" cy="274320"/>
          </a:xfrm>
          <a:prstGeom prst="rect">
            <a:avLst/>
          </a:prstGeom>
          <a:noFill/>
          <a:ln/>
        </p:spPr>
        <p:txBody>
          <a:bodyPr wrap="square" lIns="0" tIns="0" rIns="0" bIns="0" rtlCol="0" anchor="b"/>
          <a:lstStyle/>
          <a:p>
            <a:pPr algn="ctr" indent="0" marL="0">
              <a:buNone/>
            </a:pPr>
            <a:r>
              <a:rPr lang="en-US" sz="1000" b="1" dirty="0">
                <a:solidFill>
                  <a:srgbClr val="62748E"/>
                </a:solidFill>
                <a:latin typeface="DM Sans" pitchFamily="34" charset="0"/>
                <a:ea typeface="DM Sans" pitchFamily="34" charset="-122"/>
                <a:cs typeface="DM Sans" pitchFamily="34" charset="-120"/>
              </a:rPr>
              <a:t>if 5xx errors</a:t>
            </a:r>
            <a:endParaRPr lang="en-US" sz="1000" dirty="0"/>
          </a:p>
        </p:txBody>
      </p:sp>
      <p:sp>
        <p:nvSpPr>
          <p:cNvPr id="32" name="Shape 24"/>
          <p:cNvSpPr/>
          <p:nvPr/>
        </p:nvSpPr>
        <p:spPr>
          <a:xfrm>
            <a:off x="9866376" y="2761488"/>
            <a:ext cx="0" cy="329184"/>
          </a:xfrm>
          <a:prstGeom prst="line">
            <a:avLst/>
          </a:prstGeom>
          <a:noFill/>
          <a:ln w="19050">
            <a:solidFill>
              <a:srgbClr val="009689"/>
            </a:solidFill>
            <a:prstDash val="dash"/>
            <a:tailEnd type="triangle"/>
          </a:ln>
        </p:spPr>
      </p:sp>
      <p:sp>
        <p:nvSpPr>
          <p:cNvPr id="33" name="Text 25"/>
          <p:cNvSpPr txBox="1"/>
          <p:nvPr/>
        </p:nvSpPr>
        <p:spPr>
          <a:xfrm>
            <a:off x="9939528" y="2761488"/>
            <a:ext cx="731520" cy="329184"/>
          </a:xfrm>
          <a:prstGeom prst="rect">
            <a:avLst/>
          </a:prstGeom>
          <a:noFill/>
          <a:ln/>
        </p:spPr>
        <p:txBody>
          <a:bodyPr wrap="square" lIns="0" tIns="0" rIns="0" bIns="0" rtlCol="0" anchor="ctr"/>
          <a:lstStyle/>
          <a:p>
            <a:pPr algn="l" indent="0" marL="0">
              <a:buNone/>
            </a:pPr>
            <a:r>
              <a:rPr lang="en-US" sz="1000" b="1" dirty="0">
                <a:solidFill>
                  <a:srgbClr val="009689"/>
                </a:solidFill>
                <a:latin typeface="DM Sans" pitchFamily="34" charset="0"/>
                <a:ea typeface="DM Sans" pitchFamily="34" charset="-122"/>
                <a:cs typeface="DM Sans" pitchFamily="34" charset="-120"/>
              </a:rPr>
              <a:t>copied</a:t>
            </a:r>
            <a:endParaRPr lang="en-US" sz="1000" dirty="0"/>
          </a:p>
        </p:txBody>
      </p:sp>
      <p:sp>
        <p:nvSpPr>
          <p:cNvPr id="34" name="Shape 26"/>
          <p:cNvSpPr/>
          <p:nvPr/>
        </p:nvSpPr>
        <p:spPr>
          <a:xfrm>
            <a:off x="548640" y="4480560"/>
            <a:ext cx="2567178" cy="1965960"/>
          </a:xfrm>
          <a:prstGeom prst="roundRect">
            <a:avLst>
              <a:gd name="adj" fmla="val 7442"/>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5" name="Shape 27"/>
          <p:cNvSpPr/>
          <p:nvPr/>
        </p:nvSpPr>
        <p:spPr>
          <a:xfrm>
            <a:off x="749808" y="4681728"/>
            <a:ext cx="457200" cy="457200"/>
          </a:xfrm>
          <a:prstGeom prst="ellipse">
            <a:avLst/>
          </a:prstGeom>
          <a:solidFill>
            <a:srgbClr val="F54900"/>
          </a:solidFill>
          <a:ln w="12700">
            <a:solidFill>
              <a:srgbClr val="F54900"/>
            </a:solidFill>
            <a:prstDash val="solid"/>
          </a:ln>
        </p:spPr>
      </p:sp>
      <p:pic>
        <p:nvPicPr>
          <p:cNvPr id="36" name="Image 6" descr="preencoded.png">    </p:cNvPr>
          <p:cNvPicPr>
            <a:picLocks noChangeAspect="1"/>
          </p:cNvPicPr>
          <p:nvPr/>
        </p:nvPicPr>
        <p:blipFill>
          <a:blip r:embed="rId7"/>
          <a:stretch>
            <a:fillRect/>
          </a:stretch>
        </p:blipFill>
        <p:spPr>
          <a:xfrm>
            <a:off x="864108" y="4796028"/>
            <a:ext cx="228600" cy="228600"/>
          </a:xfrm>
          <a:prstGeom prst="rect">
            <a:avLst/>
          </a:prstGeom>
        </p:spPr>
      </p:pic>
      <p:sp>
        <p:nvSpPr>
          <p:cNvPr id="37" name="Text 28"/>
          <p:cNvSpPr txBox="1"/>
          <p:nvPr/>
        </p:nvSpPr>
        <p:spPr>
          <a:xfrm>
            <a:off x="2658618" y="468172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1</a:t>
            </a:r>
            <a:endParaRPr lang="en-US" sz="1300" dirty="0"/>
          </a:p>
        </p:txBody>
      </p:sp>
      <p:sp>
        <p:nvSpPr>
          <p:cNvPr id="38" name="Text 29"/>
          <p:cNvSpPr txBox="1"/>
          <p:nvPr/>
        </p:nvSpPr>
        <p:spPr>
          <a:xfrm>
            <a:off x="749808" y="5212080"/>
            <a:ext cx="2201418" cy="320040"/>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CDN and caching</a:t>
            </a:r>
            <a:endParaRPr lang="en-US" sz="1500" dirty="0"/>
          </a:p>
        </p:txBody>
      </p:sp>
      <p:sp>
        <p:nvSpPr>
          <p:cNvPr id="39" name="Text 30"/>
          <p:cNvSpPr txBox="1"/>
          <p:nvPr/>
        </p:nvSpPr>
        <p:spPr>
          <a:xfrm>
            <a:off x="749808" y="5532120"/>
            <a:ext cx="2201418" cy="822960"/>
          </a:xfrm>
          <a:prstGeom prst="rect">
            <a:avLst/>
          </a:prstGeom>
          <a:noFill/>
          <a:ln/>
        </p:spPr>
        <p:txBody>
          <a:bodyPr wrap="square" lIns="0" tIns="0" rIns="0" bIns="0" rtlCol="0" anchor="t"/>
          <a:lstStyle/>
          <a:p>
            <a:pPr indent="0" marL="0">
              <a:buNone/>
            </a:pPr>
            <a:r>
              <a:rPr lang="en-US" sz="1100" dirty="0">
                <a:solidFill>
                  <a:srgbClr val="62748E"/>
                </a:solidFill>
                <a:latin typeface="DM Sans" pitchFamily="34" charset="0"/>
                <a:ea typeface="DM Sans" pitchFamily="34" charset="-122"/>
                <a:cs typeface="DM Sans" pitchFamily="34" charset="-120"/>
              </a:rPr>
              <a:t>CloudFront sits between users and our S3 bucket. Edge locations cache the files, so pages load faster.</a:t>
            </a:r>
            <a:endParaRPr lang="en-US" sz="1100" dirty="0"/>
          </a:p>
        </p:txBody>
      </p:sp>
      <p:sp>
        <p:nvSpPr>
          <p:cNvPr id="40" name="Shape 31"/>
          <p:cNvSpPr/>
          <p:nvPr/>
        </p:nvSpPr>
        <p:spPr>
          <a:xfrm>
            <a:off x="3390138" y="4480560"/>
            <a:ext cx="2567178" cy="1965960"/>
          </a:xfrm>
          <a:prstGeom prst="roundRect">
            <a:avLst>
              <a:gd name="adj" fmla="val 7442"/>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1" name="Shape 32"/>
          <p:cNvSpPr/>
          <p:nvPr/>
        </p:nvSpPr>
        <p:spPr>
          <a:xfrm>
            <a:off x="3591306" y="4681728"/>
            <a:ext cx="457200" cy="457200"/>
          </a:xfrm>
          <a:prstGeom prst="ellipse">
            <a:avLst/>
          </a:prstGeom>
          <a:solidFill>
            <a:srgbClr val="43C07A"/>
          </a:solidFill>
          <a:ln w="12700">
            <a:solidFill>
              <a:srgbClr val="43C07A"/>
            </a:solidFill>
            <a:prstDash val="solid"/>
          </a:ln>
        </p:spPr>
      </p:sp>
      <p:pic>
        <p:nvPicPr>
          <p:cNvPr id="42" name="Image 7" descr="preencoded.png">    </p:cNvPr>
          <p:cNvPicPr>
            <a:picLocks noChangeAspect="1"/>
          </p:cNvPicPr>
          <p:nvPr/>
        </p:nvPicPr>
        <p:blipFill>
          <a:blip r:embed="rId8"/>
          <a:stretch>
            <a:fillRect/>
          </a:stretch>
        </p:blipFill>
        <p:spPr>
          <a:xfrm>
            <a:off x="3705606" y="4796028"/>
            <a:ext cx="228600" cy="228600"/>
          </a:xfrm>
          <a:prstGeom prst="rect">
            <a:avLst/>
          </a:prstGeom>
        </p:spPr>
      </p:pic>
      <p:sp>
        <p:nvSpPr>
          <p:cNvPr id="43" name="Text 33"/>
          <p:cNvSpPr txBox="1"/>
          <p:nvPr/>
        </p:nvSpPr>
        <p:spPr>
          <a:xfrm>
            <a:off x="5500116" y="468172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2</a:t>
            </a:r>
            <a:endParaRPr lang="en-US" sz="1300" dirty="0"/>
          </a:p>
        </p:txBody>
      </p:sp>
      <p:sp>
        <p:nvSpPr>
          <p:cNvPr id="44" name="Text 34"/>
          <p:cNvSpPr txBox="1"/>
          <p:nvPr/>
        </p:nvSpPr>
        <p:spPr>
          <a:xfrm>
            <a:off x="3591306" y="5212080"/>
            <a:ext cx="2201418" cy="320040"/>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HTTPS</a:t>
            </a:r>
            <a:endParaRPr lang="en-US" sz="1500" dirty="0"/>
          </a:p>
        </p:txBody>
      </p:sp>
      <p:sp>
        <p:nvSpPr>
          <p:cNvPr id="45" name="Text 35"/>
          <p:cNvSpPr txBox="1"/>
          <p:nvPr/>
        </p:nvSpPr>
        <p:spPr>
          <a:xfrm>
            <a:off x="3591306" y="5532120"/>
            <a:ext cx="2201418" cy="822960"/>
          </a:xfrm>
          <a:prstGeom prst="rect">
            <a:avLst/>
          </a:prstGeom>
          <a:noFill/>
          <a:ln/>
        </p:spPr>
        <p:txBody>
          <a:bodyPr wrap="square" lIns="0" tIns="0" rIns="0" bIns="0" rtlCol="0" anchor="t"/>
          <a:lstStyle/>
          <a:p>
            <a:pPr indent="0" marL="0">
              <a:buNone/>
            </a:pPr>
            <a:r>
              <a:rPr lang="en-US" sz="1100" dirty="0">
                <a:solidFill>
                  <a:srgbClr val="62748E"/>
                </a:solidFill>
                <a:latin typeface="DM Sans" pitchFamily="34" charset="0"/>
                <a:ea typeface="DM Sans" pitchFamily="34" charset="-122"/>
                <a:cs typeface="DM Sans" pitchFamily="34" charset="-120"/>
              </a:rPr>
              <a:t>We use the CloudFront default certificate, and plain HTTP is redirected to HTTPS.</a:t>
            </a:r>
            <a:endParaRPr lang="en-US" sz="1100" dirty="0"/>
          </a:p>
        </p:txBody>
      </p:sp>
      <p:sp>
        <p:nvSpPr>
          <p:cNvPr id="46" name="Shape 36"/>
          <p:cNvSpPr/>
          <p:nvPr/>
        </p:nvSpPr>
        <p:spPr>
          <a:xfrm>
            <a:off x="6231636" y="4480560"/>
            <a:ext cx="2567178" cy="1965960"/>
          </a:xfrm>
          <a:prstGeom prst="roundRect">
            <a:avLst>
              <a:gd name="adj" fmla="val 7442"/>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7" name="Shape 37"/>
          <p:cNvSpPr/>
          <p:nvPr/>
        </p:nvSpPr>
        <p:spPr>
          <a:xfrm>
            <a:off x="6432804" y="4681728"/>
            <a:ext cx="457200" cy="457200"/>
          </a:xfrm>
          <a:prstGeom prst="ellipse">
            <a:avLst/>
          </a:prstGeom>
          <a:solidFill>
            <a:srgbClr val="F9B73F"/>
          </a:solidFill>
          <a:ln w="12700">
            <a:solidFill>
              <a:srgbClr val="F9B73F"/>
            </a:solidFill>
            <a:prstDash val="solid"/>
          </a:ln>
        </p:spPr>
      </p:sp>
      <p:pic>
        <p:nvPicPr>
          <p:cNvPr id="48" name="Image 8" descr="preencoded.png">    </p:cNvPr>
          <p:cNvPicPr>
            <a:picLocks noChangeAspect="1"/>
          </p:cNvPicPr>
          <p:nvPr/>
        </p:nvPicPr>
        <p:blipFill>
          <a:blip r:embed="rId9"/>
          <a:stretch>
            <a:fillRect/>
          </a:stretch>
        </p:blipFill>
        <p:spPr>
          <a:xfrm>
            <a:off x="6547104" y="4796028"/>
            <a:ext cx="228600" cy="228600"/>
          </a:xfrm>
          <a:prstGeom prst="rect">
            <a:avLst/>
          </a:prstGeom>
        </p:spPr>
      </p:pic>
      <p:sp>
        <p:nvSpPr>
          <p:cNvPr id="49" name="Text 38"/>
          <p:cNvSpPr txBox="1"/>
          <p:nvPr/>
        </p:nvSpPr>
        <p:spPr>
          <a:xfrm>
            <a:off x="8341614" y="468172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3</a:t>
            </a:r>
            <a:endParaRPr lang="en-US" sz="1300" dirty="0"/>
          </a:p>
        </p:txBody>
      </p:sp>
      <p:sp>
        <p:nvSpPr>
          <p:cNvPr id="50" name="Text 39"/>
          <p:cNvSpPr txBox="1"/>
          <p:nvPr/>
        </p:nvSpPr>
        <p:spPr>
          <a:xfrm>
            <a:off x="6432804" y="5212080"/>
            <a:ext cx="2201418" cy="320040"/>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Origin failover</a:t>
            </a:r>
            <a:endParaRPr lang="en-US" sz="1500" dirty="0"/>
          </a:p>
        </p:txBody>
      </p:sp>
      <p:sp>
        <p:nvSpPr>
          <p:cNvPr id="51" name="Text 40"/>
          <p:cNvSpPr txBox="1"/>
          <p:nvPr/>
        </p:nvSpPr>
        <p:spPr>
          <a:xfrm>
            <a:off x="6432804" y="5532120"/>
            <a:ext cx="2201418" cy="822960"/>
          </a:xfrm>
          <a:prstGeom prst="rect">
            <a:avLst/>
          </a:prstGeom>
          <a:noFill/>
          <a:ln/>
        </p:spPr>
        <p:txBody>
          <a:bodyPr wrap="square" lIns="0" tIns="0" rIns="0" bIns="0" rtlCol="0" anchor="t"/>
          <a:lstStyle/>
          <a:p>
            <a:pPr indent="0" marL="0">
              <a:buNone/>
            </a:pPr>
            <a:r>
              <a:rPr lang="en-US" sz="1100" dirty="0">
                <a:solidFill>
                  <a:srgbClr val="62748E"/>
                </a:solidFill>
                <a:latin typeface="DM Sans" pitchFamily="34" charset="0"/>
                <a:ea typeface="DM Sans" pitchFamily="34" charset="-122"/>
                <a:cs typeface="DM Sans" pitchFamily="34" charset="-120"/>
              </a:rPr>
              <a:t>Two origins: the Virginia bucket and its Paris copy. If Virginia fails, CloudFront serves from Paris.</a:t>
            </a:r>
            <a:endParaRPr lang="en-US" sz="1100" dirty="0"/>
          </a:p>
        </p:txBody>
      </p:sp>
      <p:sp>
        <p:nvSpPr>
          <p:cNvPr id="52" name="Shape 41"/>
          <p:cNvSpPr/>
          <p:nvPr/>
        </p:nvSpPr>
        <p:spPr>
          <a:xfrm>
            <a:off x="9073134" y="4480560"/>
            <a:ext cx="2567178" cy="1965960"/>
          </a:xfrm>
          <a:prstGeom prst="roundRect">
            <a:avLst>
              <a:gd name="adj" fmla="val 7442"/>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3" name="Shape 42"/>
          <p:cNvSpPr/>
          <p:nvPr/>
        </p:nvSpPr>
        <p:spPr>
          <a:xfrm>
            <a:off x="9274302" y="4681728"/>
            <a:ext cx="457200" cy="457200"/>
          </a:xfrm>
          <a:prstGeom prst="ellipse">
            <a:avLst/>
          </a:prstGeom>
          <a:solidFill>
            <a:srgbClr val="0F172B"/>
          </a:solidFill>
          <a:ln w="12700">
            <a:solidFill>
              <a:srgbClr val="0F172B"/>
            </a:solidFill>
            <a:prstDash val="solid"/>
          </a:ln>
        </p:spPr>
      </p:sp>
      <p:pic>
        <p:nvPicPr>
          <p:cNvPr id="54" name="Image 9" descr="preencoded.png">    </p:cNvPr>
          <p:cNvPicPr>
            <a:picLocks noChangeAspect="1"/>
          </p:cNvPicPr>
          <p:nvPr/>
        </p:nvPicPr>
        <p:blipFill>
          <a:blip r:embed="rId10"/>
          <a:stretch>
            <a:fillRect/>
          </a:stretch>
        </p:blipFill>
        <p:spPr>
          <a:xfrm>
            <a:off x="9388602" y="4796028"/>
            <a:ext cx="228600" cy="228600"/>
          </a:xfrm>
          <a:prstGeom prst="rect">
            <a:avLst/>
          </a:prstGeom>
        </p:spPr>
      </p:pic>
      <p:sp>
        <p:nvSpPr>
          <p:cNvPr id="55" name="Text 43"/>
          <p:cNvSpPr txBox="1"/>
          <p:nvPr/>
        </p:nvSpPr>
        <p:spPr>
          <a:xfrm>
            <a:off x="11183112" y="468172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4</a:t>
            </a:r>
            <a:endParaRPr lang="en-US" sz="1300" dirty="0"/>
          </a:p>
        </p:txBody>
      </p:sp>
      <p:sp>
        <p:nvSpPr>
          <p:cNvPr id="56" name="Text 44"/>
          <p:cNvSpPr txBox="1"/>
          <p:nvPr/>
        </p:nvSpPr>
        <p:spPr>
          <a:xfrm>
            <a:off x="9274302" y="5212080"/>
            <a:ext cx="2201418" cy="320040"/>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Bucket policy</a:t>
            </a:r>
            <a:endParaRPr lang="en-US" sz="1500" dirty="0"/>
          </a:p>
        </p:txBody>
      </p:sp>
      <p:sp>
        <p:nvSpPr>
          <p:cNvPr id="57" name="Text 45"/>
          <p:cNvSpPr txBox="1"/>
          <p:nvPr/>
        </p:nvSpPr>
        <p:spPr>
          <a:xfrm>
            <a:off x="9274302" y="5532120"/>
            <a:ext cx="2201418" cy="822960"/>
          </a:xfrm>
          <a:prstGeom prst="rect">
            <a:avLst/>
          </a:prstGeom>
          <a:noFill/>
          <a:ln/>
        </p:spPr>
        <p:txBody>
          <a:bodyPr wrap="square" lIns="0" tIns="0" rIns="0" bIns="0" rtlCol="0" anchor="t"/>
          <a:lstStyle/>
          <a:p>
            <a:pPr indent="0" marL="0">
              <a:buNone/>
            </a:pPr>
            <a:r>
              <a:rPr lang="en-US" sz="1100" dirty="0">
                <a:solidFill>
                  <a:srgbClr val="62748E"/>
                </a:solidFill>
                <a:latin typeface="DM Sans" pitchFamily="34" charset="0"/>
                <a:ea typeface="DM Sans" pitchFamily="34" charset="-122"/>
                <a:cs typeface="DM Sans" pitchFamily="34" charset="-120"/>
              </a:rPr>
              <a:t>The buckets are private. Their policies let only our CloudFront distribution read the files.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CloudFront</dc:title>
  <dc:subject>PptxGenJS Presentation</dc:subject>
  <dc:creator>PptxGenJS</dc:creator>
  <cp:lastModifiedBy>PptxGenJS</cp:lastModifiedBy>
  <cp:revision>1</cp:revision>
  <dcterms:created xsi:type="dcterms:W3CDTF">2026-09-19T09:52:11Z</dcterms:created>
  <dcterms:modified xsi:type="dcterms:W3CDTF">2026-09-19T09:52:11Z</dcterms:modified>
</cp:coreProperties>
</file>