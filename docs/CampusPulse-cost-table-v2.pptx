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NAT Gateway saves about $33/month: the free DynamoDB gateway endpoint replaces it. Other savings: arm64 Lambda, 7-day log retention, raw events expire after 30 days, events table not replicated, API throttling caps runaway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optimization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service is pay-per-use or inside the AWS free tier.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44752"/>
            <a:ext cx="10945368" cy="329184"/>
          </a:xfrm>
          <a:prstGeom prst="roundRect">
            <a:avLst>
              <a:gd name="adj" fmla="val 33333"/>
            </a:avLst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447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4447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What's in it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14447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/ month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14447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1828800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888236"/>
            <a:ext cx="155448" cy="1554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34440" y="177393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17739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Lambda (arm64)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32320" y="1833372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1833372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17739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1M requests free, always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" y="2157984"/>
            <a:ext cx="1094536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2212848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272284"/>
            <a:ext cx="155448" cy="15544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34440" y="21579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and sign-in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246120" y="21579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Gateway, Cognito (4 users)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132320" y="2217420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132320" y="2217420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8641080" y="21579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1M calls free; 10,000 users free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77240" y="2596896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2656332"/>
            <a:ext cx="155448" cy="15544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234440" y="25420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3246120" y="25420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DynamoDB tables + 5 Paris replicas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7132320" y="2601468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132320" y="2601468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624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&lt; $0.20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8641080" y="25420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 per request; we use thousands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21792" y="2926080"/>
            <a:ext cx="1094536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77240" y="2980944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3040380"/>
            <a:ext cx="155448" cy="15544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234440" y="2926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Website and storage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3246120" y="2926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CloudFront, 4 S3 buckets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7132320" y="2985516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7132320" y="2985516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624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&lt; $0.01</a:t>
            </a:r>
            <a:endParaRPr lang="en-US" sz="1150" dirty="0"/>
          </a:p>
        </p:txBody>
      </p:sp>
      <p:sp>
        <p:nvSpPr>
          <p:cNvPr id="39" name="Text 33"/>
          <p:cNvSpPr txBox="1"/>
          <p:nvPr/>
        </p:nvSpPr>
        <p:spPr>
          <a:xfrm>
            <a:off x="8641080" y="2926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TB free; under 10 MB stored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777240" y="3364992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3424428"/>
            <a:ext cx="155448" cy="155448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234440" y="33101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43" name="Text 36"/>
          <p:cNvSpPr txBox="1"/>
          <p:nvPr/>
        </p:nvSpPr>
        <p:spPr>
          <a:xfrm>
            <a:off x="3246120" y="3310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Logs, 7 metrics, 7 alarms, dashboard, SNS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7132320" y="3369564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7132320" y="3369564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150" dirty="0"/>
          </a:p>
        </p:txBody>
      </p:sp>
      <p:sp>
        <p:nvSpPr>
          <p:cNvPr id="46" name="Text 39"/>
          <p:cNvSpPr txBox="1"/>
          <p:nvPr/>
        </p:nvSpPr>
        <p:spPr>
          <a:xfrm>
            <a:off x="8641080" y="3310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under the free limits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621792" y="3694176"/>
            <a:ext cx="1094536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777240" y="3749040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" y="3808476"/>
            <a:ext cx="155448" cy="155448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1234440" y="36941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</a:t>
            </a:r>
            <a:endParaRPr lang="en-US" sz="1300" dirty="0"/>
          </a:p>
        </p:txBody>
      </p:sp>
      <p:sp>
        <p:nvSpPr>
          <p:cNvPr id="51" name="Text 43"/>
          <p:cNvSpPr txBox="1"/>
          <p:nvPr/>
        </p:nvSpPr>
        <p:spPr>
          <a:xfrm>
            <a:off x="3246120" y="36941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VPC, 2 subnets, gateway endpoint</a:t>
            </a:r>
            <a:endParaRPr lang="en-US" sz="1300" dirty="0"/>
          </a:p>
        </p:txBody>
      </p:sp>
      <p:sp>
        <p:nvSpPr>
          <p:cNvPr id="52" name="Shape 44"/>
          <p:cNvSpPr/>
          <p:nvPr/>
        </p:nvSpPr>
        <p:spPr>
          <a:xfrm>
            <a:off x="7132320" y="3753612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7132320" y="3753612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150" dirty="0"/>
          </a:p>
        </p:txBody>
      </p:sp>
      <p:sp>
        <p:nvSpPr>
          <p:cNvPr id="54" name="Text 46"/>
          <p:cNvSpPr txBox="1"/>
          <p:nvPr/>
        </p:nvSpPr>
        <p:spPr>
          <a:xfrm>
            <a:off x="8641080" y="36941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VPCs and gateway endpoints are free</a:t>
            </a:r>
            <a:endParaRPr lang="en-US" sz="1200" dirty="0"/>
          </a:p>
        </p:txBody>
      </p:sp>
      <p:sp>
        <p:nvSpPr>
          <p:cNvPr id="55" name="Shape 47"/>
          <p:cNvSpPr/>
          <p:nvPr/>
        </p:nvSpPr>
        <p:spPr>
          <a:xfrm>
            <a:off x="777240" y="4133088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" y="4192524"/>
            <a:ext cx="155448" cy="155448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1234440" y="4078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and control</a:t>
            </a:r>
            <a:endParaRPr lang="en-US" sz="1300" dirty="0"/>
          </a:p>
        </p:txBody>
      </p:sp>
      <p:sp>
        <p:nvSpPr>
          <p:cNvPr id="58" name="Text 49"/>
          <p:cNvSpPr txBox="1"/>
          <p:nvPr/>
        </p:nvSpPr>
        <p:spPr>
          <a:xfrm>
            <a:off x="3246120" y="40782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IAM roles, OIDC, $5 budget</a:t>
            </a:r>
            <a:endParaRPr lang="en-US" sz="1300" dirty="0"/>
          </a:p>
        </p:txBody>
      </p:sp>
      <p:sp>
        <p:nvSpPr>
          <p:cNvPr id="59" name="Shape 50"/>
          <p:cNvSpPr/>
          <p:nvPr/>
        </p:nvSpPr>
        <p:spPr>
          <a:xfrm>
            <a:off x="7132320" y="4137660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7132320" y="4137660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150" dirty="0"/>
          </a:p>
        </p:txBody>
      </p:sp>
      <p:sp>
        <p:nvSpPr>
          <p:cNvPr id="61" name="Text 52"/>
          <p:cNvSpPr txBox="1"/>
          <p:nvPr/>
        </p:nvSpPr>
        <p:spPr>
          <a:xfrm>
            <a:off x="8641080" y="40782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free</a:t>
            </a:r>
            <a:endParaRPr lang="en-US" sz="1200" dirty="0"/>
          </a:p>
        </p:txBody>
      </p:sp>
      <p:sp>
        <p:nvSpPr>
          <p:cNvPr id="62" name="Shape 53"/>
          <p:cNvSpPr/>
          <p:nvPr/>
        </p:nvSpPr>
        <p:spPr>
          <a:xfrm>
            <a:off x="621792" y="4535424"/>
            <a:ext cx="10945368" cy="420624"/>
          </a:xfrm>
          <a:prstGeom prst="roundRect">
            <a:avLst>
              <a:gd name="adj" fmla="val 2608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777240" y="4608576"/>
            <a:ext cx="274320" cy="274320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" y="4668012"/>
            <a:ext cx="155448" cy="155448"/>
          </a:xfrm>
          <a:prstGeom prst="rect">
            <a:avLst/>
          </a:prstGeom>
        </p:spPr>
      </p:pic>
      <p:sp>
        <p:nvSpPr>
          <p:cNvPr id="65" name="Text 55"/>
          <p:cNvSpPr txBox="1"/>
          <p:nvPr/>
        </p:nvSpPr>
        <p:spPr>
          <a:xfrm>
            <a:off x="1234440" y="45354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</a:t>
            </a:r>
            <a:endParaRPr lang="en-US" sz="1500" dirty="0"/>
          </a:p>
        </p:txBody>
      </p:sp>
      <p:sp>
        <p:nvSpPr>
          <p:cNvPr id="66" name="Text 56"/>
          <p:cNvSpPr txBox="1"/>
          <p:nvPr/>
        </p:nvSpPr>
        <p:spPr>
          <a:xfrm>
            <a:off x="7132320" y="45354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$1 / month</a:t>
            </a:r>
            <a:endParaRPr lang="en-US" sz="1500" dirty="0"/>
          </a:p>
        </p:txBody>
      </p:sp>
      <p:sp>
        <p:nvSpPr>
          <p:cNvPr id="67" name="Text 57"/>
          <p:cNvSpPr txBox="1"/>
          <p:nvPr/>
        </p:nvSpPr>
        <p:spPr>
          <a:xfrm>
            <a:off x="8641080" y="453542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few cents, with a $5 budget alert</a:t>
            </a:r>
            <a:endParaRPr lang="en-US" sz="1200" dirty="0"/>
          </a:p>
        </p:txBody>
      </p:sp>
      <p:sp>
        <p:nvSpPr>
          <p:cNvPr id="68" name="Shape 58"/>
          <p:cNvSpPr/>
          <p:nvPr/>
        </p:nvSpPr>
        <p:spPr>
          <a:xfrm>
            <a:off x="548640" y="5193792"/>
            <a:ext cx="11091672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69" name="Text 59"/>
          <p:cNvSpPr txBox="1"/>
          <p:nvPr/>
        </p:nvSpPr>
        <p:spPr>
          <a:xfrm>
            <a:off x="777240" y="5330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AWS Budgets</a:t>
            </a:r>
            <a:endParaRPr lang="en-US" sz="1300" dirty="0"/>
          </a:p>
        </p:txBody>
      </p:sp>
      <p:sp>
        <p:nvSpPr>
          <p:cNvPr id="70" name="Text 60"/>
          <p:cNvSpPr txBox="1"/>
          <p:nvPr/>
        </p:nvSpPr>
        <p:spPr>
          <a:xfrm>
            <a:off x="777240" y="5605272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campuspulse-monthly: $0.00 spent so far; AWS forecasts $2.94 for the month, under our $5 limit</a:t>
            </a:r>
            <a:endParaRPr lang="en-US" sz="1000" dirty="0"/>
          </a:p>
        </p:txBody>
      </p:sp>
      <p:pic>
        <p:nvPicPr>
          <p:cNvPr id="71" name="Image 8" descr="budg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4491" y="5303520"/>
            <a:ext cx="8656093" cy="10789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cost</dc:title>
  <dc:subject>PptxGenJS Presentation</dc:subject>
  <dc:creator>PptxGenJS</dc:creator>
  <cp:lastModifiedBy>PptxGenJS</cp:lastModifiedBy>
  <cp:revision>1</cp:revision>
  <dcterms:created xsi:type="dcterms:W3CDTF">2026-09-19T10:16:18Z</dcterms:created>
  <dcterms:modified xsi:type="dcterms:W3CDTF">2026-09-19T10:16:18Z</dcterms:modified>
</cp:coreProperties>
</file>