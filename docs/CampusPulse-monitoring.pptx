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monitoring, we created a CloudWatch dashboard to track the health of the whole platform on one page: how many requests the API receives, how many fail, how fast it responds, how many sensor readings are stored or rejected, and how many campus alerts and service requests come in. To get the data there, our API simply prints a log line for every request, showing which route was called, by which role, and how long it took. Lambda automatically sends those lines to CloudWatch Logs, where they're kept for 7 days. For things AWS can't measure on its own, like EventsIngested or AlertsRaised, the API prints a specially formatted line that CloudWatch turns into a metric. Everything else, like Lambda errors or API response times, AWS measures for us. We then built the dashboard from those metrics with Terraform. We also set up 7 alarms, for example when the API returns server errors, responds too slowly, or fails to store sensor readings. When an alarm fires, it emails our team through SNS, and emails again when things are back to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Monitoring</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A CloudWatch dashboard tracks the health of the whole platform on one page, and 7 alarms email the team.</a:t>
            </a:r>
            <a:endParaRPr lang="en-US" sz="1400" dirty="0"/>
          </a:p>
        </p:txBody>
      </p:sp>
      <p:sp>
        <p:nvSpPr>
          <p:cNvPr id="4" name="Shape 2"/>
          <p:cNvSpPr/>
          <p:nvPr/>
        </p:nvSpPr>
        <p:spPr>
          <a:xfrm>
            <a:off x="548640" y="1508760"/>
            <a:ext cx="3703320" cy="841248"/>
          </a:xfrm>
          <a:prstGeom prst="roundRect">
            <a:avLst>
              <a:gd name="adj" fmla="val 1739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676656" y="1618488"/>
            <a:ext cx="347472" cy="347472"/>
          </a:xfrm>
          <a:prstGeom prst="ellipse">
            <a:avLst/>
          </a:prstGeom>
          <a:solidFill>
            <a:srgbClr val="0F172B"/>
          </a:solidFill>
          <a:ln w="12700">
            <a:solidFill>
              <a:srgbClr val="0F172B"/>
            </a:solidFill>
            <a:prstDash val="solid"/>
          </a:ln>
        </p:spPr>
      </p:sp>
      <p:pic>
        <p:nvPicPr>
          <p:cNvPr id="6" name="Image 0" descr="preencoded.png">    </p:cNvPr>
          <p:cNvPicPr>
            <a:picLocks noChangeAspect="1"/>
          </p:cNvPicPr>
          <p:nvPr/>
        </p:nvPicPr>
        <p:blipFill>
          <a:blip r:embed="rId1"/>
          <a:stretch>
            <a:fillRect/>
          </a:stretch>
        </p:blipFill>
        <p:spPr>
          <a:xfrm>
            <a:off x="763524" y="1705356"/>
            <a:ext cx="173736" cy="173736"/>
          </a:xfrm>
          <a:prstGeom prst="rect">
            <a:avLst/>
          </a:prstGeom>
        </p:spPr>
      </p:pic>
      <p:sp>
        <p:nvSpPr>
          <p:cNvPr id="7" name="Text 4"/>
          <p:cNvSpPr txBox="1"/>
          <p:nvPr/>
        </p:nvSpPr>
        <p:spPr>
          <a:xfrm>
            <a:off x="1097280" y="1618488"/>
            <a:ext cx="3063240" cy="347472"/>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A log line per request</a:t>
            </a:r>
            <a:endParaRPr lang="en-US" sz="1250" dirty="0"/>
          </a:p>
        </p:txBody>
      </p:sp>
      <p:sp>
        <p:nvSpPr>
          <p:cNvPr id="8" name="Text 5"/>
          <p:cNvSpPr txBox="1"/>
          <p:nvPr/>
        </p:nvSpPr>
        <p:spPr>
          <a:xfrm>
            <a:off x="676656" y="2002536"/>
            <a:ext cx="3465576" cy="292608"/>
          </a:xfrm>
          <a:prstGeom prst="rect">
            <a:avLst/>
          </a:prstGeom>
          <a:noFill/>
          <a:ln/>
        </p:spPr>
        <p:txBody>
          <a:bodyPr wrap="square" lIns="0" tIns="0" rIns="0" bIns="0" rtlCol="0" anchor="t"/>
          <a:lstStyle/>
          <a:p>
            <a:pPr indent="0" marL="0">
              <a:buNone/>
            </a:pPr>
            <a:r>
              <a:rPr lang="en-US" sz="950" dirty="0">
                <a:solidFill>
                  <a:srgbClr val="62748E"/>
                </a:solidFill>
                <a:latin typeface="DM Sans" pitchFamily="34" charset="0"/>
                <a:ea typeface="DM Sans" pitchFamily="34" charset="-122"/>
                <a:cs typeface="DM Sans" pitchFamily="34" charset="-120"/>
              </a:rPr>
              <a:t>The API prints the route, the role and how long it took</a:t>
            </a:r>
            <a:endParaRPr lang="en-US" sz="950" dirty="0"/>
          </a:p>
        </p:txBody>
      </p:sp>
      <p:sp>
        <p:nvSpPr>
          <p:cNvPr id="9" name="Shape 6"/>
          <p:cNvSpPr/>
          <p:nvPr/>
        </p:nvSpPr>
        <p:spPr>
          <a:xfrm>
            <a:off x="2400300" y="2377440"/>
            <a:ext cx="0" cy="182880"/>
          </a:xfrm>
          <a:prstGeom prst="line">
            <a:avLst/>
          </a:prstGeom>
          <a:noFill/>
          <a:ln w="19050">
            <a:solidFill>
              <a:srgbClr val="62748E"/>
            </a:solidFill>
            <a:prstDash val="solid"/>
            <a:tailEnd type="triangle"/>
          </a:ln>
        </p:spPr>
      </p:sp>
      <p:sp>
        <p:nvSpPr>
          <p:cNvPr id="10" name="Shape 7"/>
          <p:cNvSpPr/>
          <p:nvPr/>
        </p:nvSpPr>
        <p:spPr>
          <a:xfrm>
            <a:off x="548640" y="2532888"/>
            <a:ext cx="3703320" cy="841248"/>
          </a:xfrm>
          <a:prstGeom prst="roundRect">
            <a:avLst>
              <a:gd name="adj" fmla="val 1739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1" name="Shape 8"/>
          <p:cNvSpPr/>
          <p:nvPr/>
        </p:nvSpPr>
        <p:spPr>
          <a:xfrm>
            <a:off x="676656" y="2642616"/>
            <a:ext cx="347472" cy="347472"/>
          </a:xfrm>
          <a:prstGeom prst="ellipse">
            <a:avLst/>
          </a:prstGeom>
          <a:solidFill>
            <a:srgbClr val="0F172B"/>
          </a:solidFill>
          <a:ln w="12700">
            <a:solidFill>
              <a:srgbClr val="0F172B"/>
            </a:solidFill>
            <a:prstDash val="solid"/>
          </a:ln>
        </p:spPr>
      </p:sp>
      <p:pic>
        <p:nvPicPr>
          <p:cNvPr id="12" name="Image 1" descr="preencoded.png">    </p:cNvPr>
          <p:cNvPicPr>
            <a:picLocks noChangeAspect="1"/>
          </p:cNvPicPr>
          <p:nvPr/>
        </p:nvPicPr>
        <p:blipFill>
          <a:blip r:embed="rId2"/>
          <a:stretch>
            <a:fillRect/>
          </a:stretch>
        </p:blipFill>
        <p:spPr>
          <a:xfrm>
            <a:off x="763524" y="2729484"/>
            <a:ext cx="173736" cy="173736"/>
          </a:xfrm>
          <a:prstGeom prst="rect">
            <a:avLst/>
          </a:prstGeom>
        </p:spPr>
      </p:pic>
      <p:sp>
        <p:nvSpPr>
          <p:cNvPr id="13" name="Text 9"/>
          <p:cNvSpPr txBox="1"/>
          <p:nvPr/>
        </p:nvSpPr>
        <p:spPr>
          <a:xfrm>
            <a:off x="1097280" y="2642616"/>
            <a:ext cx="3063240" cy="347472"/>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CloudWatch Logs</a:t>
            </a:r>
            <a:endParaRPr lang="en-US" sz="1250" dirty="0"/>
          </a:p>
        </p:txBody>
      </p:sp>
      <p:sp>
        <p:nvSpPr>
          <p:cNvPr id="14" name="Text 10"/>
          <p:cNvSpPr txBox="1"/>
          <p:nvPr/>
        </p:nvSpPr>
        <p:spPr>
          <a:xfrm>
            <a:off x="676656" y="3026664"/>
            <a:ext cx="3465576" cy="292608"/>
          </a:xfrm>
          <a:prstGeom prst="rect">
            <a:avLst/>
          </a:prstGeom>
          <a:noFill/>
          <a:ln/>
        </p:spPr>
        <p:txBody>
          <a:bodyPr wrap="square" lIns="0" tIns="0" rIns="0" bIns="0" rtlCol="0" anchor="t"/>
          <a:lstStyle/>
          <a:p>
            <a:pPr indent="0" marL="0">
              <a:buNone/>
            </a:pPr>
            <a:r>
              <a:rPr lang="en-US" sz="950" dirty="0">
                <a:solidFill>
                  <a:srgbClr val="62748E"/>
                </a:solidFill>
                <a:latin typeface="DM Sans" pitchFamily="34" charset="0"/>
                <a:ea typeface="DM Sans" pitchFamily="34" charset="-122"/>
                <a:cs typeface="DM Sans" pitchFamily="34" charset="-120"/>
              </a:rPr>
              <a:t>Lambda sends the lines automatically; kept for 7 days</a:t>
            </a:r>
            <a:endParaRPr lang="en-US" sz="950" dirty="0"/>
          </a:p>
        </p:txBody>
      </p:sp>
      <p:sp>
        <p:nvSpPr>
          <p:cNvPr id="15" name="Shape 11"/>
          <p:cNvSpPr/>
          <p:nvPr/>
        </p:nvSpPr>
        <p:spPr>
          <a:xfrm>
            <a:off x="2400300" y="3401568"/>
            <a:ext cx="0" cy="182880"/>
          </a:xfrm>
          <a:prstGeom prst="line">
            <a:avLst/>
          </a:prstGeom>
          <a:noFill/>
          <a:ln w="19050">
            <a:solidFill>
              <a:srgbClr val="62748E"/>
            </a:solidFill>
            <a:prstDash val="solid"/>
            <a:tailEnd type="triangle"/>
          </a:ln>
        </p:spPr>
      </p:sp>
      <p:sp>
        <p:nvSpPr>
          <p:cNvPr id="16" name="Shape 12"/>
          <p:cNvSpPr/>
          <p:nvPr/>
        </p:nvSpPr>
        <p:spPr>
          <a:xfrm>
            <a:off x="548640" y="3557016"/>
            <a:ext cx="3703320" cy="841248"/>
          </a:xfrm>
          <a:prstGeom prst="roundRect">
            <a:avLst>
              <a:gd name="adj" fmla="val 1739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7" name="Shape 13"/>
          <p:cNvSpPr/>
          <p:nvPr/>
        </p:nvSpPr>
        <p:spPr>
          <a:xfrm>
            <a:off x="676656" y="3666744"/>
            <a:ext cx="347472" cy="347472"/>
          </a:xfrm>
          <a:prstGeom prst="ellipse">
            <a:avLst/>
          </a:prstGeom>
          <a:solidFill>
            <a:srgbClr val="009689"/>
          </a:solidFill>
          <a:ln w="12700">
            <a:solidFill>
              <a:srgbClr val="009689"/>
            </a:solidFill>
            <a:prstDash val="solid"/>
          </a:ln>
        </p:spPr>
      </p:sp>
      <p:pic>
        <p:nvPicPr>
          <p:cNvPr id="18" name="Image 2" descr="preencoded.png">    </p:cNvPr>
          <p:cNvPicPr>
            <a:picLocks noChangeAspect="1"/>
          </p:cNvPicPr>
          <p:nvPr/>
        </p:nvPicPr>
        <p:blipFill>
          <a:blip r:embed="rId3"/>
          <a:stretch>
            <a:fillRect/>
          </a:stretch>
        </p:blipFill>
        <p:spPr>
          <a:xfrm>
            <a:off x="763524" y="3753612"/>
            <a:ext cx="173736" cy="173736"/>
          </a:xfrm>
          <a:prstGeom prst="rect">
            <a:avLst/>
          </a:prstGeom>
        </p:spPr>
      </p:pic>
      <p:sp>
        <p:nvSpPr>
          <p:cNvPr id="19" name="Text 14"/>
          <p:cNvSpPr txBox="1"/>
          <p:nvPr/>
        </p:nvSpPr>
        <p:spPr>
          <a:xfrm>
            <a:off x="1097280" y="3666744"/>
            <a:ext cx="3063240" cy="347472"/>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Metrics</a:t>
            </a:r>
            <a:endParaRPr lang="en-US" sz="1250" dirty="0"/>
          </a:p>
        </p:txBody>
      </p:sp>
      <p:sp>
        <p:nvSpPr>
          <p:cNvPr id="20" name="Text 15"/>
          <p:cNvSpPr txBox="1"/>
          <p:nvPr/>
        </p:nvSpPr>
        <p:spPr>
          <a:xfrm>
            <a:off x="676656" y="4050792"/>
            <a:ext cx="3465576" cy="292608"/>
          </a:xfrm>
          <a:prstGeom prst="rect">
            <a:avLst/>
          </a:prstGeom>
          <a:noFill/>
          <a:ln/>
        </p:spPr>
        <p:txBody>
          <a:bodyPr wrap="square" lIns="0" tIns="0" rIns="0" bIns="0" rtlCol="0" anchor="t"/>
          <a:lstStyle/>
          <a:p>
            <a:pPr indent="0" marL="0">
              <a:buNone/>
            </a:pPr>
            <a:r>
              <a:rPr lang="en-US" sz="950" dirty="0">
                <a:solidFill>
                  <a:srgbClr val="62748E"/>
                </a:solidFill>
                <a:latin typeface="DM Sans" pitchFamily="34" charset="0"/>
                <a:ea typeface="DM Sans" pitchFamily="34" charset="-122"/>
                <a:cs typeface="DM Sans" pitchFamily="34" charset="-120"/>
              </a:rPr>
              <a:t>Custom ones from log lines, like AlertsRaised; AWS measures errors and latency</a:t>
            </a:r>
            <a:endParaRPr lang="en-US" sz="950" dirty="0"/>
          </a:p>
        </p:txBody>
      </p:sp>
      <p:sp>
        <p:nvSpPr>
          <p:cNvPr id="21" name="Shape 16"/>
          <p:cNvSpPr/>
          <p:nvPr/>
        </p:nvSpPr>
        <p:spPr>
          <a:xfrm>
            <a:off x="1428750" y="4425696"/>
            <a:ext cx="0" cy="182880"/>
          </a:xfrm>
          <a:prstGeom prst="line">
            <a:avLst/>
          </a:prstGeom>
          <a:noFill/>
          <a:ln w="19050">
            <a:solidFill>
              <a:srgbClr val="62748E"/>
            </a:solidFill>
            <a:prstDash val="solid"/>
            <a:tailEnd type="triangle"/>
          </a:ln>
        </p:spPr>
      </p:sp>
      <p:sp>
        <p:nvSpPr>
          <p:cNvPr id="22" name="Shape 17"/>
          <p:cNvSpPr/>
          <p:nvPr/>
        </p:nvSpPr>
        <p:spPr>
          <a:xfrm>
            <a:off x="3371850" y="4425696"/>
            <a:ext cx="0" cy="182880"/>
          </a:xfrm>
          <a:prstGeom prst="line">
            <a:avLst/>
          </a:prstGeom>
          <a:noFill/>
          <a:ln w="19050">
            <a:solidFill>
              <a:srgbClr val="62748E"/>
            </a:solidFill>
            <a:prstDash val="solid"/>
            <a:tailEnd type="triangle"/>
          </a:ln>
        </p:spPr>
      </p:sp>
      <p:sp>
        <p:nvSpPr>
          <p:cNvPr id="23" name="Shape 18"/>
          <p:cNvSpPr/>
          <p:nvPr/>
        </p:nvSpPr>
        <p:spPr>
          <a:xfrm>
            <a:off x="548640" y="4581144"/>
            <a:ext cx="1760220" cy="841248"/>
          </a:xfrm>
          <a:prstGeom prst="roundRect">
            <a:avLst>
              <a:gd name="adj" fmla="val 1739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4" name="Shape 19"/>
          <p:cNvSpPr/>
          <p:nvPr/>
        </p:nvSpPr>
        <p:spPr>
          <a:xfrm>
            <a:off x="676656" y="4690872"/>
            <a:ext cx="347472" cy="347472"/>
          </a:xfrm>
          <a:prstGeom prst="ellipse">
            <a:avLst/>
          </a:prstGeom>
          <a:solidFill>
            <a:srgbClr val="F54900"/>
          </a:solidFill>
          <a:ln w="12700">
            <a:solidFill>
              <a:srgbClr val="F54900"/>
            </a:solidFill>
            <a:prstDash val="solid"/>
          </a:ln>
        </p:spPr>
      </p:sp>
      <p:pic>
        <p:nvPicPr>
          <p:cNvPr id="25" name="Image 3" descr="preencoded.png">    </p:cNvPr>
          <p:cNvPicPr>
            <a:picLocks noChangeAspect="1"/>
          </p:cNvPicPr>
          <p:nvPr/>
        </p:nvPicPr>
        <p:blipFill>
          <a:blip r:embed="rId4"/>
          <a:stretch>
            <a:fillRect/>
          </a:stretch>
        </p:blipFill>
        <p:spPr>
          <a:xfrm>
            <a:off x="763524" y="4777740"/>
            <a:ext cx="173736" cy="173736"/>
          </a:xfrm>
          <a:prstGeom prst="rect">
            <a:avLst/>
          </a:prstGeom>
        </p:spPr>
      </p:pic>
      <p:sp>
        <p:nvSpPr>
          <p:cNvPr id="26" name="Text 20"/>
          <p:cNvSpPr txBox="1"/>
          <p:nvPr/>
        </p:nvSpPr>
        <p:spPr>
          <a:xfrm>
            <a:off x="1097280" y="4690872"/>
            <a:ext cx="1120140" cy="347472"/>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Dashboard</a:t>
            </a:r>
            <a:endParaRPr lang="en-US" sz="1250" dirty="0"/>
          </a:p>
        </p:txBody>
      </p:sp>
      <p:sp>
        <p:nvSpPr>
          <p:cNvPr id="27" name="Text 21"/>
          <p:cNvSpPr txBox="1"/>
          <p:nvPr/>
        </p:nvSpPr>
        <p:spPr>
          <a:xfrm>
            <a:off x="676656" y="5074920"/>
            <a:ext cx="1522476" cy="292608"/>
          </a:xfrm>
          <a:prstGeom prst="rect">
            <a:avLst/>
          </a:prstGeom>
          <a:noFill/>
          <a:ln/>
        </p:spPr>
        <p:txBody>
          <a:bodyPr wrap="square" lIns="0" tIns="0" rIns="0" bIns="0" rtlCol="0" anchor="t"/>
          <a:lstStyle/>
          <a:p>
            <a:pPr indent="0" marL="0">
              <a:buNone/>
            </a:pPr>
            <a:r>
              <a:rPr lang="en-US" sz="950" dirty="0">
                <a:solidFill>
                  <a:srgbClr val="62748E"/>
                </a:solidFill>
                <a:latin typeface="DM Sans" pitchFamily="34" charset="0"/>
                <a:ea typeface="DM Sans" pitchFamily="34" charset="-122"/>
                <a:cs typeface="DM Sans" pitchFamily="34" charset="-120"/>
              </a:rPr>
              <a:t>Built from the metrics with Terraform</a:t>
            </a:r>
            <a:endParaRPr lang="en-US" sz="950" dirty="0"/>
          </a:p>
        </p:txBody>
      </p:sp>
      <p:sp>
        <p:nvSpPr>
          <p:cNvPr id="28" name="Shape 22"/>
          <p:cNvSpPr/>
          <p:nvPr/>
        </p:nvSpPr>
        <p:spPr>
          <a:xfrm>
            <a:off x="2491740" y="4581144"/>
            <a:ext cx="1760220" cy="841248"/>
          </a:xfrm>
          <a:prstGeom prst="roundRect">
            <a:avLst>
              <a:gd name="adj" fmla="val 1739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9" name="Shape 23"/>
          <p:cNvSpPr/>
          <p:nvPr/>
        </p:nvSpPr>
        <p:spPr>
          <a:xfrm>
            <a:off x="2619756" y="4690872"/>
            <a:ext cx="347472" cy="347472"/>
          </a:xfrm>
          <a:prstGeom prst="ellipse">
            <a:avLst/>
          </a:prstGeom>
          <a:solidFill>
            <a:srgbClr val="F9B73F"/>
          </a:solidFill>
          <a:ln w="12700">
            <a:solidFill>
              <a:srgbClr val="F9B73F"/>
            </a:solidFill>
            <a:prstDash val="solid"/>
          </a:ln>
        </p:spPr>
      </p:sp>
      <p:pic>
        <p:nvPicPr>
          <p:cNvPr id="30" name="Image 4" descr="preencoded.png">    </p:cNvPr>
          <p:cNvPicPr>
            <a:picLocks noChangeAspect="1"/>
          </p:cNvPicPr>
          <p:nvPr/>
        </p:nvPicPr>
        <p:blipFill>
          <a:blip r:embed="rId5"/>
          <a:stretch>
            <a:fillRect/>
          </a:stretch>
        </p:blipFill>
        <p:spPr>
          <a:xfrm>
            <a:off x="2706624" y="4777740"/>
            <a:ext cx="173736" cy="173736"/>
          </a:xfrm>
          <a:prstGeom prst="rect">
            <a:avLst/>
          </a:prstGeom>
        </p:spPr>
      </p:pic>
      <p:sp>
        <p:nvSpPr>
          <p:cNvPr id="31" name="Text 24"/>
          <p:cNvSpPr txBox="1"/>
          <p:nvPr/>
        </p:nvSpPr>
        <p:spPr>
          <a:xfrm>
            <a:off x="3040380" y="4690872"/>
            <a:ext cx="1120140" cy="347472"/>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7 alarms</a:t>
            </a:r>
            <a:endParaRPr lang="en-US" sz="1250" dirty="0"/>
          </a:p>
        </p:txBody>
      </p:sp>
      <p:sp>
        <p:nvSpPr>
          <p:cNvPr id="32" name="Text 25"/>
          <p:cNvSpPr txBox="1"/>
          <p:nvPr/>
        </p:nvSpPr>
        <p:spPr>
          <a:xfrm>
            <a:off x="2619756" y="5074920"/>
            <a:ext cx="1522476" cy="292608"/>
          </a:xfrm>
          <a:prstGeom prst="rect">
            <a:avLst/>
          </a:prstGeom>
          <a:noFill/>
          <a:ln/>
        </p:spPr>
        <p:txBody>
          <a:bodyPr wrap="square" lIns="0" tIns="0" rIns="0" bIns="0" rtlCol="0" anchor="t"/>
          <a:lstStyle/>
          <a:p>
            <a:pPr indent="0" marL="0">
              <a:buNone/>
            </a:pPr>
            <a:r>
              <a:rPr lang="en-US" sz="950" dirty="0">
                <a:solidFill>
                  <a:srgbClr val="62748E"/>
                </a:solidFill>
                <a:latin typeface="DM Sans" pitchFamily="34" charset="0"/>
                <a:ea typeface="DM Sans" pitchFamily="34" charset="-122"/>
                <a:cs typeface="DM Sans" pitchFamily="34" charset="-120"/>
              </a:rPr>
              <a:t>Server errors, slow responses, failed readings</a:t>
            </a:r>
            <a:endParaRPr lang="en-US" sz="950" dirty="0"/>
          </a:p>
        </p:txBody>
      </p:sp>
      <p:sp>
        <p:nvSpPr>
          <p:cNvPr id="33" name="Shape 26"/>
          <p:cNvSpPr/>
          <p:nvPr/>
        </p:nvSpPr>
        <p:spPr>
          <a:xfrm>
            <a:off x="3371850" y="5449824"/>
            <a:ext cx="0" cy="182880"/>
          </a:xfrm>
          <a:prstGeom prst="line">
            <a:avLst/>
          </a:prstGeom>
          <a:noFill/>
          <a:ln w="19050">
            <a:solidFill>
              <a:srgbClr val="62748E"/>
            </a:solidFill>
            <a:prstDash val="solid"/>
            <a:tailEnd type="triangle"/>
          </a:ln>
        </p:spPr>
      </p:sp>
      <p:sp>
        <p:nvSpPr>
          <p:cNvPr id="34" name="Shape 27"/>
          <p:cNvSpPr/>
          <p:nvPr/>
        </p:nvSpPr>
        <p:spPr>
          <a:xfrm>
            <a:off x="548640" y="5605272"/>
            <a:ext cx="3703320" cy="841248"/>
          </a:xfrm>
          <a:prstGeom prst="roundRect">
            <a:avLst>
              <a:gd name="adj" fmla="val 1739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5" name="Shape 28"/>
          <p:cNvSpPr/>
          <p:nvPr/>
        </p:nvSpPr>
        <p:spPr>
          <a:xfrm>
            <a:off x="676656" y="5715000"/>
            <a:ext cx="347472" cy="347472"/>
          </a:xfrm>
          <a:prstGeom prst="ellipse">
            <a:avLst/>
          </a:prstGeom>
          <a:solidFill>
            <a:srgbClr val="43C07A"/>
          </a:solidFill>
          <a:ln w="12700">
            <a:solidFill>
              <a:srgbClr val="43C07A"/>
            </a:solidFill>
            <a:prstDash val="solid"/>
          </a:ln>
        </p:spPr>
      </p:sp>
      <p:pic>
        <p:nvPicPr>
          <p:cNvPr id="36" name="Image 5" descr="preencoded.png">    </p:cNvPr>
          <p:cNvPicPr>
            <a:picLocks noChangeAspect="1"/>
          </p:cNvPicPr>
          <p:nvPr/>
        </p:nvPicPr>
        <p:blipFill>
          <a:blip r:embed="rId6"/>
          <a:stretch>
            <a:fillRect/>
          </a:stretch>
        </p:blipFill>
        <p:spPr>
          <a:xfrm>
            <a:off x="763524" y="5801868"/>
            <a:ext cx="173736" cy="173736"/>
          </a:xfrm>
          <a:prstGeom prst="rect">
            <a:avLst/>
          </a:prstGeom>
        </p:spPr>
      </p:pic>
      <p:sp>
        <p:nvSpPr>
          <p:cNvPr id="37" name="Text 29"/>
          <p:cNvSpPr txBox="1"/>
          <p:nvPr/>
        </p:nvSpPr>
        <p:spPr>
          <a:xfrm>
            <a:off x="1097280" y="5715000"/>
            <a:ext cx="3063240" cy="347472"/>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Email through SNS</a:t>
            </a:r>
            <a:endParaRPr lang="en-US" sz="1250" dirty="0"/>
          </a:p>
        </p:txBody>
      </p:sp>
      <p:sp>
        <p:nvSpPr>
          <p:cNvPr id="38" name="Text 30"/>
          <p:cNvSpPr txBox="1"/>
          <p:nvPr/>
        </p:nvSpPr>
        <p:spPr>
          <a:xfrm>
            <a:off x="676656" y="6099048"/>
            <a:ext cx="3465576" cy="292608"/>
          </a:xfrm>
          <a:prstGeom prst="rect">
            <a:avLst/>
          </a:prstGeom>
          <a:noFill/>
          <a:ln/>
        </p:spPr>
        <p:txBody>
          <a:bodyPr wrap="square" lIns="0" tIns="0" rIns="0" bIns="0" rtlCol="0" anchor="t"/>
          <a:lstStyle/>
          <a:p>
            <a:pPr indent="0" marL="0">
              <a:buNone/>
            </a:pPr>
            <a:r>
              <a:rPr lang="en-US" sz="950" dirty="0">
                <a:solidFill>
                  <a:srgbClr val="62748E"/>
                </a:solidFill>
                <a:latin typeface="DM Sans" pitchFamily="34" charset="0"/>
                <a:ea typeface="DM Sans" pitchFamily="34" charset="-122"/>
                <a:cs typeface="DM Sans" pitchFamily="34" charset="-120"/>
              </a:rPr>
              <a:t>When an alarm fires, and again when it recovers</a:t>
            </a:r>
            <a:endParaRPr lang="en-US" sz="950" dirty="0"/>
          </a:p>
        </p:txBody>
      </p:sp>
      <p:sp>
        <p:nvSpPr>
          <p:cNvPr id="39" name="Shape 31"/>
          <p:cNvSpPr/>
          <p:nvPr/>
        </p:nvSpPr>
        <p:spPr>
          <a:xfrm>
            <a:off x="4526280" y="1508760"/>
            <a:ext cx="7114032" cy="1963481"/>
          </a:xfrm>
          <a:prstGeom prst="roundRect">
            <a:avLst>
              <a:gd name="adj" fmla="val 745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0" name="Text 32"/>
          <p:cNvSpPr txBox="1"/>
          <p:nvPr/>
        </p:nvSpPr>
        <p:spPr>
          <a:xfrm>
            <a:off x="4709160" y="1618488"/>
            <a:ext cx="6748272" cy="274320"/>
          </a:xfrm>
          <a:prstGeom prst="rect">
            <a:avLst/>
          </a:prstGeom>
          <a:noFill/>
          <a:ln/>
        </p:spPr>
        <p:txBody>
          <a:bodyPr wrap="square" lIns="0" tIns="0" rIns="0" bIns="0" rtlCol="0" anchor="ctr"/>
          <a:lstStyle/>
          <a:p>
            <a:pPr indent="0" marL="0">
              <a:buNone/>
            </a:pPr>
            <a:r>
              <a:rPr lang="en-US" sz="1050" b="1" dirty="0">
                <a:solidFill>
                  <a:srgbClr val="62748E"/>
                </a:solidFill>
                <a:latin typeface="DM Sans" pitchFamily="34" charset="0"/>
                <a:ea typeface="DM Sans" pitchFamily="34" charset="-122"/>
                <a:cs typeface="DM Sans" pitchFamily="34" charset="-120"/>
              </a:rPr>
              <a:t>CloudWatch dashboard: API requests and errors, and response time</a:t>
            </a:r>
            <a:endParaRPr lang="en-US" sz="1050" dirty="0"/>
          </a:p>
        </p:txBody>
      </p:sp>
      <p:pic>
        <p:nvPicPr>
          <p:cNvPr id="41" name="Image 6" descr="cw-dash.png">    </p:cNvPr>
          <p:cNvPicPr>
            <a:picLocks noChangeAspect="1"/>
          </p:cNvPicPr>
          <p:nvPr/>
        </p:nvPicPr>
        <p:blipFill>
          <a:blip r:embed="rId7"/>
          <a:stretch>
            <a:fillRect/>
          </a:stretch>
        </p:blipFill>
        <p:spPr>
          <a:xfrm>
            <a:off x="4709160" y="1920240"/>
            <a:ext cx="6748272" cy="1414841"/>
          </a:xfrm>
          <a:prstGeom prst="rect">
            <a:avLst/>
          </a:prstGeom>
        </p:spPr>
      </p:pic>
      <p:sp>
        <p:nvSpPr>
          <p:cNvPr id="42" name="Shape 33"/>
          <p:cNvSpPr/>
          <p:nvPr/>
        </p:nvSpPr>
        <p:spPr>
          <a:xfrm>
            <a:off x="4526280" y="3700841"/>
            <a:ext cx="7114032" cy="2554177"/>
          </a:xfrm>
          <a:prstGeom prst="roundRect">
            <a:avLst>
              <a:gd name="adj" fmla="val 5728"/>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3" name="Text 34"/>
          <p:cNvSpPr txBox="1"/>
          <p:nvPr/>
        </p:nvSpPr>
        <p:spPr>
          <a:xfrm>
            <a:off x="4709160" y="3810569"/>
            <a:ext cx="6748272" cy="274320"/>
          </a:xfrm>
          <a:prstGeom prst="rect">
            <a:avLst/>
          </a:prstGeom>
          <a:noFill/>
          <a:ln/>
        </p:spPr>
        <p:txBody>
          <a:bodyPr wrap="square" lIns="0" tIns="0" rIns="0" bIns="0" rtlCol="0" anchor="ctr"/>
          <a:lstStyle/>
          <a:p>
            <a:pPr indent="0" marL="0">
              <a:buNone/>
            </a:pPr>
            <a:r>
              <a:rPr lang="en-US" sz="1050" b="1" dirty="0">
                <a:solidFill>
                  <a:srgbClr val="62748E"/>
                </a:solidFill>
                <a:latin typeface="DM Sans" pitchFamily="34" charset="0"/>
                <a:ea typeface="DM Sans" pitchFamily="34" charset="-122"/>
                <a:cs typeface="DM Sans" pitchFamily="34" charset="-120"/>
              </a:rPr>
              <a:t>Recent alarms: both OK, with the 3-second latency threshold shown</a:t>
            </a:r>
            <a:endParaRPr lang="en-US" sz="1050" dirty="0"/>
          </a:p>
        </p:txBody>
      </p:sp>
      <p:pic>
        <p:nvPicPr>
          <p:cNvPr id="44" name="Image 7" descr="cw-alarms.png">    </p:cNvPr>
          <p:cNvPicPr>
            <a:picLocks noChangeAspect="1"/>
          </p:cNvPicPr>
          <p:nvPr/>
        </p:nvPicPr>
        <p:blipFill>
          <a:blip r:embed="rId8"/>
          <a:stretch>
            <a:fillRect/>
          </a:stretch>
        </p:blipFill>
        <p:spPr>
          <a:xfrm>
            <a:off x="4709160" y="4112321"/>
            <a:ext cx="6748272" cy="20055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monitoring</dc:title>
  <dc:subject>PptxGenJS Presentation</dc:subject>
  <dc:creator>PptxGenJS</dc:creator>
  <cp:lastModifiedBy>PptxGenJS</cp:lastModifiedBy>
  <cp:revision>1</cp:revision>
  <dcterms:created xsi:type="dcterms:W3CDTF">2026-09-19T10:13:01Z</dcterms:created>
  <dcterms:modified xsi:type="dcterms:W3CDTF">2026-09-19T10:13:01Z</dcterms:modified>
</cp:coreProperties>
</file>